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71" r:id="rId13"/>
    <p:sldId id="272" r:id="rId14"/>
    <p:sldId id="273" r:id="rId15"/>
    <p:sldId id="282" r:id="rId16"/>
    <p:sldId id="283" r:id="rId17"/>
    <p:sldId id="284" r:id="rId18"/>
    <p:sldId id="274" r:id="rId19"/>
    <p:sldId id="266" r:id="rId20"/>
    <p:sldId id="267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82E0"/>
    <a:srgbClr val="5ED1E3"/>
    <a:srgbClr val="4FBBC4"/>
    <a:srgbClr val="21B5B0"/>
    <a:srgbClr val="FF8080"/>
    <a:srgbClr val="67E8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71D5C-3CD1-852E-8B68-95C70930C3B6}" v="370" dt="2026-04-29T16:09:00.859"/>
    <p1510:client id="{34195D25-F5CF-C6C1-6D18-48D70F2CD3F4}" v="243" dt="2026-04-29T14:48:38.023"/>
    <p1510:client id="{495BFF3D-9287-4115-8C23-7157EAECA1D0}" v="1" dt="2026-04-29T23:49:04.503"/>
    <p1510:client id="{A569DC6E-A853-2FD2-B07C-8375381681F3}" v="3210" dt="2026-04-29T15:43:33.132"/>
    <p1510:client id="{F8CE84E4-CB01-1230-7C2D-98B7A92673B5}" v="58" dt="2026-04-29T15:02:35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DENEBULGAN Otgonbayar" userId="bec125cd-7ef1-4687-9ea2-2720d4118683" providerId="ADAL" clId="{AE7BCB0D-CAB0-4CB1-82D5-4EAD9B91E054}"/>
    <pc:docChg chg="modSld">
      <pc:chgData name="ERDENEBULGAN Otgonbayar" userId="bec125cd-7ef1-4687-9ea2-2720d4118683" providerId="ADAL" clId="{AE7BCB0D-CAB0-4CB1-82D5-4EAD9B91E054}" dt="2026-04-29T23:49:30.789" v="2" actId="1076"/>
      <pc:docMkLst>
        <pc:docMk/>
      </pc:docMkLst>
      <pc:sldChg chg="modSp mod">
        <pc:chgData name="ERDENEBULGAN Otgonbayar" userId="bec125cd-7ef1-4687-9ea2-2720d4118683" providerId="ADAL" clId="{AE7BCB0D-CAB0-4CB1-82D5-4EAD9B91E054}" dt="2026-04-29T23:49:30.789" v="2" actId="1076"/>
        <pc:sldMkLst>
          <pc:docMk/>
          <pc:sldMk cId="0" sldId="266"/>
        </pc:sldMkLst>
        <pc:spChg chg="mod">
          <ac:chgData name="ERDENEBULGAN Otgonbayar" userId="bec125cd-7ef1-4687-9ea2-2720d4118683" providerId="ADAL" clId="{AE7BCB0D-CAB0-4CB1-82D5-4EAD9B91E054}" dt="2026-04-29T23:49:30.789" v="2" actId="1076"/>
          <ac:spMkLst>
            <pc:docMk/>
            <pc:sldMk cId="0" sldId="266"/>
            <ac:spMk id="16" creationId="{9727537E-695D-CE93-877B-E8758D8BC6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5A0DE-5506-44C5-B6E0-9BF11DB207C7}" type="datetimeFigureOut">
              <a:t>4/30/2026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90F0D-23E4-4F71-B22C-FDECCF1470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99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0DA7-6380-6D73-B06F-50B74CFC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A80AA-8ED9-0805-6ACA-434C787B6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DBC25-3D1D-47DA-17B0-D25487E6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6ACD-3E7E-B8ED-3003-6A39EBA62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3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8134-4508-7BD8-57CF-67D280B5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55FD3-0B8C-222C-809C-552ACF723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059F3-B3FA-F726-62B4-BCF1A2FB0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B7384-3835-09BA-6327-7074C9E5D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0949A-5B86-7FF0-A0DF-5FD9A112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DAB7-54DF-8DAD-6AD1-E2012167F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8B770-E14D-2941-D2A1-D0CAAB31E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31366-EE4D-E21F-D9DE-018F7EA8D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18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272F-ABB7-0865-6A43-A7CB3AAF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664E-57BB-86DC-0AF2-78C72CCAB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EC893-4950-81E1-AB80-445F9EB84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CB884-FBE7-903D-AB56-3CB928B88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3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C641-5D9B-707D-B8CD-B840D9B3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8875D-AC85-94E3-E5E6-8DE026AD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B37F3-BA8C-A8A5-E077-46F834A19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F257E-F888-982F-47DC-5292EE0CB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6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A645-80A4-B790-6030-F0C4E5FF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49560-18AC-C4E8-8D1B-5C867C101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ACAE0-CE9E-CFE6-2C35-3B36FD2C9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656AE-4216-E267-0621-E85758267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1E60-453E-DEF1-E627-FB50361B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EFBD3-7FBC-A138-4197-62BD03E9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2C7E6-5236-901E-49BA-7238D0BD0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6D55-9A03-C81F-DE4C-78C70BD41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2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6906D-46BC-BC46-71BB-56DD7398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74FC6-F93F-784D-E3CF-DBC429D99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8022-0A95-8FDB-9479-F5A642961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6CE6C-A3F7-4448-48DE-24BA2965D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03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6DCE-4B74-1BAC-D2CC-86463DBA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EBB9C-3819-C7A6-42F0-FC46BF447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69FCE-14A4-25CE-325E-40336DE4F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8B16-5BEA-615F-06E0-3616280D3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8497-BB47-A46B-9B83-33590D9F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C980F-872D-41B8-EB7F-796CC4CF5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84AC5-14CA-521C-0A71-D3E5FDF91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A6462-33D7-1B03-1F94-3DBB0F12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228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3EA7-062D-6BFA-C7CF-F15CCE87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9A6A-A9AD-F325-99C0-EF2B4F8A9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613A4-8463-EFA8-6215-B83051E8B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3746-A79E-8083-ADC8-B91B7052B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71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188A-E5B6-8A10-806F-AB4BCCC9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F7DF7-C78C-E941-AB40-6BDAD7E74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910B9-4865-159B-89F0-1D9C40633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B8ECA-3FBD-1DAB-13E3-36E6063A7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68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9F87-A1DB-5B07-D6F6-29CBB39D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AEBC9-5143-EFC6-7193-F7BE93E4C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5C014-EF54-8932-C836-02745B33C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54972-9C47-839C-19C7-BD8BBEF0F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294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9802-7109-67CB-3118-48B6097F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83CC-6957-2781-0B0B-B20CF61C8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97AAD-3CDB-5D52-EA66-EBA59A48F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917D8-729B-ACA6-9EE8-ED76775DA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6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DDF9-AFC2-E0B8-4B73-E45C4474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C580C-3305-889C-F9C7-72BB47490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DED3C-7F24-EC73-00D0-3C20DB9F0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E1D69-C5A9-3921-E182-B88FA757F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4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C20D-3FC0-1760-1DB5-8EDEFA4B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7EC6C-A56F-8A64-FAFD-386D8DAD8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4FBFB-E6E9-59EB-F148-15197CFB0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4F4AF-57B3-6B96-A6F4-41214AF77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latin typeface="Calibri"/>
                <a:ea typeface="Calibri"/>
                <a:cs typeface="Calibri"/>
              </a:rPr>
              <a:t>Лабораторийн</a:t>
            </a:r>
            <a:r>
              <a:rPr lang="en-US" sz="1400" b="1"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latin typeface="Calibri"/>
                <a:ea typeface="Calibri"/>
                <a:cs typeface="Calibri"/>
              </a:rPr>
              <a:t>ажил</a:t>
            </a:r>
            <a:r>
              <a:rPr lang="en-US" sz="1400" b="1">
                <a:latin typeface="Calibri"/>
                <a:ea typeface="Calibri"/>
                <a:cs typeface="Calibri"/>
              </a:rPr>
              <a:t> №8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latin typeface="Calibri"/>
                <a:ea typeface="Calibri"/>
                <a:cs typeface="Calibri"/>
              </a:rPr>
              <a:t>C++ Static </a:t>
            </a:r>
            <a:r>
              <a:rPr lang="en-US" sz="4000" b="1" noProof="1">
                <a:latin typeface="Calibri"/>
                <a:ea typeface="Calibri"/>
                <a:cs typeface="Calibri"/>
              </a:rPr>
              <a:t>гишүүн өгөгдөл,</a:t>
            </a:r>
            <a:endParaRPr lang="en-US" sz="4000" noProof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err="1">
                <a:latin typeface="Calibri"/>
                <a:ea typeface="Calibri"/>
                <a:cs typeface="Calibri"/>
              </a:rPr>
              <a:t>Хийсвэр</a:t>
            </a:r>
            <a:r>
              <a:rPr lang="en-US" sz="4000" b="1">
                <a:latin typeface="Calibri"/>
                <a:ea typeface="Calibri"/>
                <a:cs typeface="Calibri"/>
              </a:rPr>
              <a:t> </a:t>
            </a:r>
            <a:r>
              <a:rPr lang="en-US" sz="4000" b="1" err="1">
                <a:latin typeface="Calibri"/>
                <a:ea typeface="Calibri"/>
                <a:cs typeface="Calibri"/>
              </a:rPr>
              <a:t>функц</a:t>
            </a:r>
            <a:endParaRPr lang="en-US" sz="40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37801"/>
            <a:ext cx="4114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2168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latin typeface="Calibri"/>
                <a:ea typeface="Calibri"/>
                <a:cs typeface="Calibri"/>
              </a:rPr>
              <a:t>Баг</a:t>
            </a:r>
            <a:r>
              <a:rPr lang="en-US" sz="1600">
                <a:latin typeface="Calibri"/>
                <a:ea typeface="Calibri"/>
                <a:cs typeface="Calibri"/>
              </a:rPr>
              <a:t>: IRIS</a:t>
            </a:r>
          </a:p>
        </p:txBody>
      </p:sp>
      <p:sp>
        <p:nvSpPr>
          <p:cNvPr id="10" name="Text 8"/>
          <p:cNvSpPr/>
          <p:nvPr/>
        </p:nvSpPr>
        <p:spPr>
          <a:xfrm>
            <a:off x="457199" y="327234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Calibri"/>
                <a:ea typeface="Calibri"/>
                <a:cs typeface="Calibri"/>
              </a:rPr>
              <a:t>• </a:t>
            </a:r>
            <a:r>
              <a:rPr lang="en-US" sz="1400" err="1">
                <a:latin typeface="Calibri"/>
                <a:ea typeface="Calibri"/>
                <a:cs typeface="Calibri"/>
              </a:rPr>
              <a:t>О.Эрдэнэбулган</a:t>
            </a:r>
            <a:r>
              <a:rPr lang="en-US" sz="1400">
                <a:latin typeface="Calibri"/>
                <a:ea typeface="Calibri"/>
                <a:cs typeface="Calibri"/>
              </a:rPr>
              <a:t> (</a:t>
            </a:r>
            <a:r>
              <a:rPr lang="en-US" sz="1400" err="1">
                <a:latin typeface="Calibri"/>
                <a:ea typeface="Calibri"/>
                <a:cs typeface="Calibri"/>
              </a:rPr>
              <a:t>Багийн</a:t>
            </a:r>
            <a:r>
              <a:rPr lang="en-US" sz="1400"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latin typeface="Calibri"/>
                <a:ea typeface="Calibri"/>
                <a:cs typeface="Calibri"/>
              </a:rPr>
              <a:t>ахлагч</a:t>
            </a:r>
            <a:r>
              <a:rPr lang="en-US" sz="1400">
                <a:latin typeface="Calibri"/>
                <a:ea typeface="Calibri"/>
                <a:cs typeface="Calibri"/>
              </a:rPr>
              <a:t>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400">
                <a:latin typeface="Calibri"/>
                <a:ea typeface="Calibri"/>
                <a:cs typeface="Calibri"/>
              </a:rPr>
              <a:t>• </a:t>
            </a:r>
            <a:r>
              <a:rPr lang="en-US" sz="1400" err="1">
                <a:latin typeface="Calibri"/>
                <a:ea typeface="Calibri"/>
                <a:cs typeface="Calibri"/>
              </a:rPr>
              <a:t>Д.Сундуйжав</a:t>
            </a:r>
            <a:r>
              <a:rPr lang="en-US" sz="1400">
                <a:latin typeface="Calibri"/>
                <a:ea typeface="Calibri"/>
                <a:cs typeface="Calibri"/>
              </a:rPr>
              <a:t> </a:t>
            </a:r>
          </a:p>
          <a:p>
            <a:pPr algn="just"/>
            <a:r>
              <a:rPr lang="en-US" sz="1400">
                <a:latin typeface="Calibri"/>
                <a:ea typeface="Calibri"/>
                <a:cs typeface="Calibri"/>
              </a:rPr>
              <a:t>•  </a:t>
            </a:r>
            <a:r>
              <a:rPr lang="en-US" sz="1400" err="1">
                <a:latin typeface="Calibri"/>
                <a:ea typeface="Calibri"/>
                <a:cs typeface="Calibri"/>
              </a:rPr>
              <a:t>Б.Тэмүүлэл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МУИС • МТЭС • МКУТ • 2026 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АГУУЛГА</a:t>
            </a:r>
          </a:p>
        </p:txBody>
      </p:sp>
      <p:sp>
        <p:nvSpPr>
          <p:cNvPr id="5" name="Shape 3"/>
          <p:cNvSpPr/>
          <p:nvPr/>
        </p:nvSpPr>
        <p:spPr>
          <a:xfrm>
            <a:off x="402771" y="76998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771" y="76998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088571" y="78827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Удиртгал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8571" y="104430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Багийн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мэдээлэл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зорилго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2771" y="136434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771" y="154722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771" y="15472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88571" y="15655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Онолын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судалгаа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8571" y="182154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This,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Полиморфизм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Static,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Хийсвэр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функц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2771" y="214158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771" y="232446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771" y="23244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088571" y="234275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Хэрэгжүүлэлт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8571" y="259878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Кодын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тайлбар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гаралт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2771" y="291882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2771" y="310170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771" y="31017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088571" y="311999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Дүгнэлт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2771" y="369606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2771" y="387894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771" y="387894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088571" y="38972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Ашигласан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материал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18DF74DD-D95B-9314-9A0A-666AB96A3B07}"/>
              </a:ext>
            </a:extLst>
          </p:cNvPr>
          <p:cNvSpPr/>
          <p:nvPr/>
        </p:nvSpPr>
        <p:spPr>
          <a:xfrm>
            <a:off x="402770" y="4467133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A10EE52D-E60E-A8B2-97F2-7D218EAB7E3C}"/>
              </a:ext>
            </a:extLst>
          </p:cNvPr>
          <p:cNvSpPr/>
          <p:nvPr/>
        </p:nvSpPr>
        <p:spPr>
          <a:xfrm>
            <a:off x="402770" y="4613727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7BF51867-0E6A-6B62-F161-04E098A35DF0}"/>
              </a:ext>
            </a:extLst>
          </p:cNvPr>
          <p:cNvSpPr/>
          <p:nvPr/>
        </p:nvSpPr>
        <p:spPr>
          <a:xfrm>
            <a:off x="402770" y="4613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10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41170B25-83CD-799E-4D71-FC4638DD9FA5}"/>
              </a:ext>
            </a:extLst>
          </p:cNvPr>
          <p:cNvSpPr/>
          <p:nvPr/>
        </p:nvSpPr>
        <p:spPr>
          <a:xfrm>
            <a:off x="1088570" y="4613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Хавсралт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0823" y="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УДИРТГАЛ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0281" y="1879601"/>
            <a:ext cx="4086132" cy="17373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2990" y="191625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latin typeface="Times New Roman"/>
                <a:ea typeface="Calibri"/>
                <a:cs typeface="Times New Roman"/>
              </a:rPr>
              <a:t>Багийн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зорилго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2652" y="2106165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noProof="1">
                <a:latin typeface="Times New Roman"/>
                <a:ea typeface="Calibri"/>
                <a:cs typeface="Times New Roman"/>
              </a:rPr>
              <a:t>• Static гишүүн өгөгдөл судлах
• Хийсвэр класс, функц ашиглах
• This хувьсагч эзэмших
• Полиморфизм хэрэгжүүлэх</a:t>
            </a:r>
            <a:endParaRPr lang="en-US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37063" y="1879061"/>
            <a:ext cx="4023360" cy="17373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4223" y="192478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latin typeface="Times New Roman"/>
                <a:ea typeface="Calibri"/>
                <a:cs typeface="Times New Roman"/>
              </a:rPr>
              <a:t>Багийн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гишүүд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48543" y="229968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latin typeface="Times New Roman"/>
                <a:ea typeface="Calibri"/>
                <a:cs typeface="Times New Roman"/>
              </a:rPr>
              <a:t>О.Эрдэнэбулган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24B1NUM1959 (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Ахлагч</a:t>
            </a:r>
            <a:r>
              <a:rPr lang="en-US" sz="1400">
                <a:latin typeface="Times New Roman"/>
                <a:ea typeface="Calibri"/>
                <a:cs typeface="Times New Roman"/>
              </a:rPr>
              <a:t>)</a:t>
            </a:r>
          </a:p>
        </p:txBody>
      </p:sp>
      <p:sp>
        <p:nvSpPr>
          <p:cNvPr id="12" name="Text 10"/>
          <p:cNvSpPr/>
          <p:nvPr/>
        </p:nvSpPr>
        <p:spPr>
          <a:xfrm>
            <a:off x="5048543" y="271116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latin typeface="Times New Roman"/>
                <a:ea typeface="Calibri"/>
                <a:cs typeface="Times New Roman"/>
              </a:rPr>
              <a:t>Д.Сундуйжав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24B1NUM2023</a:t>
            </a:r>
          </a:p>
        </p:txBody>
      </p:sp>
      <p:sp>
        <p:nvSpPr>
          <p:cNvPr id="14" name="Text 12"/>
          <p:cNvSpPr/>
          <p:nvPr/>
        </p:nvSpPr>
        <p:spPr>
          <a:xfrm>
            <a:off x="5048543" y="312264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latin typeface="Calibri"/>
                <a:ea typeface="Calibri"/>
                <a:cs typeface="Calibri"/>
              </a:rPr>
              <a:t>Б.Тэмүүлэл</a:t>
            </a:r>
            <a:r>
              <a:rPr lang="en-US" sz="1400">
                <a:latin typeface="Calibri"/>
                <a:ea typeface="Calibri"/>
                <a:cs typeface="Calibri"/>
              </a:rPr>
              <a:t> 23B1NUM0135</a:t>
            </a:r>
          </a:p>
        </p:txBody>
      </p:sp>
      <p:sp>
        <p:nvSpPr>
          <p:cNvPr id="15" name="Text 13"/>
          <p:cNvSpPr/>
          <p:nvPr/>
        </p:nvSpPr>
        <p:spPr>
          <a:xfrm>
            <a:off x="430824" y="3707750"/>
            <a:ext cx="8238392" cy="14129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01600" tIns="101600" rIns="101600" bIns="101600" rtlCol="0" anchor="ctr"/>
          <a:lstStyle/>
          <a:p>
            <a:r>
              <a:rPr lang="en-US" sz="1400" b="1" err="1">
                <a:latin typeface="Times New Roman"/>
                <a:ea typeface="+mn-lt"/>
                <a:cs typeface="Times New Roman"/>
              </a:rPr>
              <a:t>Бодлого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Circle, Square, Triangle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дүрсүүдийн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  -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талбай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  -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периметр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тооцох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Эцэг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класс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ашиглан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хийсвэр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функц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хэрэгжүүлэх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Үр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дүнг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эрэмбэлэх</a:t>
            </a:r>
            <a:endParaRPr lang="en-US" err="1">
              <a:latin typeface="Times New Roman"/>
              <a:cs typeface="Times New Roman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DEBD4FEC-DF89-3A07-43FB-511649E906DF}"/>
              </a:ext>
            </a:extLst>
          </p:cNvPr>
          <p:cNvSpPr/>
          <p:nvPr/>
        </p:nvSpPr>
        <p:spPr>
          <a:xfrm>
            <a:off x="431847" y="432251"/>
            <a:ext cx="8228573" cy="13791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FDDC3A-6BAD-5AB4-2628-017FA368B783}"/>
              </a:ext>
            </a:extLst>
          </p:cNvPr>
          <p:cNvSpPr txBox="1"/>
          <p:nvPr/>
        </p:nvSpPr>
        <p:spPr>
          <a:xfrm>
            <a:off x="1470415" y="523799"/>
            <a:ext cx="58429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Times New Roman"/>
                <a:cs typeface="Times New Roman"/>
              </a:rPr>
              <a:t>Энэхүү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тайлан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нь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ea typeface="+mn-lt"/>
                <a:cs typeface="Times New Roman"/>
              </a:rPr>
              <a:t>С++ </a:t>
            </a:r>
            <a:r>
              <a:rPr lang="en-US" err="1">
                <a:latin typeface="Times New Roman"/>
                <a:ea typeface="+mn-lt"/>
                <a:cs typeface="Times New Roman"/>
              </a:rPr>
              <a:t>програмчлалд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хийсвэр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класс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статик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гишүүн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функц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ашиглан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объект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загварчлах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аргачлалыг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судалсан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тайлан</a:t>
            </a:r>
            <a:endParaRPr lang="en-US" err="1">
              <a:latin typeface="Times New Roman"/>
              <a:cs typeface="Times New Roman"/>
            </a:endParaRPr>
          </a:p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AB2C5-296B-11A8-1164-25B729A985F8}"/>
              </a:ext>
            </a:extLst>
          </p:cNvPr>
          <p:cNvSpPr txBox="1"/>
          <p:nvPr/>
        </p:nvSpPr>
        <p:spPr>
          <a:xfrm>
            <a:off x="4835769" y="3125665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•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C406C0-457D-BE8E-611C-8B9E50731D43}"/>
              </a:ext>
            </a:extLst>
          </p:cNvPr>
          <p:cNvSpPr txBox="1"/>
          <p:nvPr/>
        </p:nvSpPr>
        <p:spPr>
          <a:xfrm>
            <a:off x="4835768" y="2756387"/>
            <a:ext cx="356967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•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99DFBD-C3ED-AC83-CADA-3FCC18AEA594}"/>
              </a:ext>
            </a:extLst>
          </p:cNvPr>
          <p:cNvSpPr txBox="1"/>
          <p:nvPr/>
        </p:nvSpPr>
        <p:spPr>
          <a:xfrm>
            <a:off x="4774223" y="2281604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Times New Roman"/>
                <a:cs typeface="Times New Roman"/>
              </a:rPr>
              <a:t>•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ea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ОНОЛ  —  this </a:t>
            </a:r>
            <a:r>
              <a:rPr lang="en-US" sz="2200" b="1" err="1">
                <a:latin typeface="Times New Roman"/>
                <a:ea typeface="Calibri"/>
                <a:cs typeface="Times New Roman"/>
              </a:rPr>
              <a:t>хувьсагч</a:t>
            </a:r>
            <a:endParaRPr lang="en-US" sz="22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5539" y="112218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this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хувьсагч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539" y="14956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дуудаж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буй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объектын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хаягийг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заадаг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тусгай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заагч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(pointer)</a:t>
            </a:r>
          </a:p>
        </p:txBody>
      </p:sp>
      <p:sp>
        <p:nvSpPr>
          <p:cNvPr id="9" name="Text 7"/>
          <p:cNvSpPr/>
          <p:nvPr/>
        </p:nvSpPr>
        <p:spPr>
          <a:xfrm>
            <a:off x="654069" y="25442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Хэзээ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вэ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?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4069" y="2926421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Параметр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өгөгдлийн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нэр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давхцах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үед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ялгахад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43542" y="2324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 </a:t>
            </a:r>
            <a:r>
              <a:rPr lang="en-US" sz="1400">
                <a:latin typeface="Times New Roman"/>
                <a:ea typeface="+mn-lt"/>
                <a:cs typeface="Times New Roman"/>
              </a:rPr>
              <a:t> Teacher(int id, char* name, int age) {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43542" y="2598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-&gt;id = id;</a:t>
            </a:r>
          </a:p>
        </p:txBody>
      </p:sp>
      <p:sp>
        <p:nvSpPr>
          <p:cNvPr id="14" name="Text 12"/>
          <p:cNvSpPr/>
          <p:nvPr/>
        </p:nvSpPr>
        <p:spPr>
          <a:xfrm>
            <a:off x="4743542" y="2854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-&gt;name = name;</a:t>
            </a:r>
          </a:p>
        </p:txBody>
      </p:sp>
      <p:sp>
        <p:nvSpPr>
          <p:cNvPr id="15" name="Text 13"/>
          <p:cNvSpPr/>
          <p:nvPr/>
        </p:nvSpPr>
        <p:spPr>
          <a:xfrm>
            <a:off x="4743542" y="3110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-&gt;age = age;</a:t>
            </a:r>
          </a:p>
        </p:txBody>
      </p:sp>
      <p:sp>
        <p:nvSpPr>
          <p:cNvPr id="16" name="Text 14"/>
          <p:cNvSpPr/>
          <p:nvPr/>
        </p:nvSpPr>
        <p:spPr>
          <a:xfrm>
            <a:off x="4778187" y="33702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alibri"/>
                <a:cs typeface="Times New Roman"/>
              </a:rPr>
              <a:t>  }</a:t>
            </a:r>
          </a:p>
        </p:txBody>
      </p:sp>
      <p:sp>
        <p:nvSpPr>
          <p:cNvPr id="17" name="Text 15"/>
          <p:cNvSpPr/>
          <p:nvPr/>
        </p:nvSpPr>
        <p:spPr>
          <a:xfrm>
            <a:off x="4762472" y="397920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noProof="1">
                <a:solidFill>
                  <a:schemeClr val="bg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Энд this -&gt; id нь объектын id гишүүн өгөгдлийг зааж байгаа юм. Ингэснээр классын гишүүн өгөгдөл болон функцийн параметрийг ялгаж өгч байгаа юм. </a:t>
            </a:r>
            <a:endParaRPr lang="en-US" sz="1100" noProof="1">
              <a:solidFill>
                <a:schemeClr val="bg1">
                  <a:lumMod val="49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968E205-28ED-F2BE-49D7-3B31964AF83A}"/>
              </a:ext>
            </a:extLst>
          </p:cNvPr>
          <p:cNvSpPr/>
          <p:nvPr/>
        </p:nvSpPr>
        <p:spPr>
          <a:xfrm>
            <a:off x="4708372" y="46465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class Teacher {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679E3D1E-0930-EEAE-FBF2-5F413D574B23}"/>
              </a:ext>
            </a:extLst>
          </p:cNvPr>
          <p:cNvSpPr/>
          <p:nvPr/>
        </p:nvSpPr>
        <p:spPr>
          <a:xfrm>
            <a:off x="4708372" y="73897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 private :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9609150-42FC-A4C7-ED7C-C9E211BDA535}"/>
              </a:ext>
            </a:extLst>
          </p:cNvPr>
          <p:cNvSpPr/>
          <p:nvPr/>
        </p:nvSpPr>
        <p:spPr>
          <a:xfrm>
            <a:off x="4708372" y="116205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  int id ;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  char *name ;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  int age ;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59C5048-0CC0-DF94-4056-0D9B8AA27E6C}"/>
              </a:ext>
            </a:extLst>
          </p:cNvPr>
          <p:cNvSpPr/>
          <p:nvPr/>
        </p:nvSpPr>
        <p:spPr>
          <a:xfrm>
            <a:off x="4734749" y="166427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 public :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B798DE7-B406-531C-F1B2-06BB1093D61B}"/>
              </a:ext>
            </a:extLst>
          </p:cNvPr>
          <p:cNvSpPr/>
          <p:nvPr/>
        </p:nvSpPr>
        <p:spPr>
          <a:xfrm>
            <a:off x="4734749" y="19203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  Teacher() { }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2BD7B87D-B4DA-E1EC-9483-80139B26636F}"/>
              </a:ext>
            </a:extLst>
          </p:cNvPr>
          <p:cNvSpPr/>
          <p:nvPr/>
        </p:nvSpPr>
        <p:spPr>
          <a:xfrm>
            <a:off x="4786978" y="356643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Times New Roman"/>
                <a:ea typeface="Calibri"/>
                <a:cs typeface="Times New Roman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ОНОЛ  —  </a:t>
            </a:r>
            <a:r>
              <a:rPr lang="en-US" sz="2200" b="1" err="1">
                <a:latin typeface="Times New Roman"/>
                <a:ea typeface="Calibri"/>
                <a:cs typeface="Times New Roman"/>
              </a:rPr>
              <a:t>Полиморфизм</a:t>
            </a:r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ea typeface="Calibri"/>
                <a:cs typeface="Times New Roman"/>
              </a:rPr>
              <a:t>Өөр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өөр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хэрэгжилттэй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функцуудыг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ижил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нэрээр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ашиглах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боломжийг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хэлнэ</a:t>
            </a:r>
            <a:r>
              <a:rPr lang="en-US" sz="1100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462475" y="101111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1.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Статик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(Compile-time)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475" y="1032105"/>
            <a:ext cx="3840480" cy="6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cs typeface="Times New Roman"/>
              </a:rPr>
              <a:t>Компайл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хийх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үед</a:t>
            </a:r>
            <a:r>
              <a:rPr lang="en-US" sz="1100">
                <a:latin typeface="Times New Roman"/>
                <a:cs typeface="Times New Roman"/>
              </a:rPr>
              <a:t> </a:t>
            </a:r>
            <a:r>
              <a:rPr lang="en-US" sz="1100" err="1">
                <a:latin typeface="Times New Roman"/>
                <a:cs typeface="Times New Roman"/>
              </a:rPr>
              <a:t>аль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функцыг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дуудах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нь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тодорхойлогдоно</a:t>
            </a:r>
            <a:endParaRPr lang="en-US" sz="11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10287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2.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Динамик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(Runtime)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1322251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ea typeface="Calibri"/>
                <a:cs typeface="Times New Roman"/>
              </a:rPr>
              <a:t>Аль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функцыг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дуудуах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ямар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классынх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байгаагаас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шалтгаалан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програм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шийднэ</a:t>
            </a:r>
            <a:endParaRPr lang="en-US" sz="11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1100">
                <a:latin typeface="Times New Roman"/>
                <a:ea typeface="Calibri"/>
                <a:cs typeface="Times New Roman"/>
              </a:rPr>
              <a:t>Virtual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+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удамшил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1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7DE65-DF02-6FE5-9C58-E83F94B50848}"/>
              </a:ext>
            </a:extLst>
          </p:cNvPr>
          <p:cNvSpPr txBox="1"/>
          <p:nvPr/>
        </p:nvSpPr>
        <p:spPr>
          <a:xfrm>
            <a:off x="460612" y="1496462"/>
            <a:ext cx="3838433" cy="3893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FF0000"/>
                </a:solidFill>
                <a:latin typeface="Times New Roman"/>
                <a:cs typeface="Times New Roman"/>
              </a:rPr>
              <a:t>class Math</a:t>
            </a:r>
            <a:r>
              <a:rPr lang="en-US" sz="1300">
                <a:latin typeface="Times New Roman"/>
                <a:cs typeface="Times New Roman"/>
              </a:rPr>
              <a:t> {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public: </a:t>
            </a:r>
            <a:endParaRPr lang="en-US" sz="1300">
              <a:solidFill>
                <a:srgbClr val="67E8F9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 // int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хувилбар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ea typeface="Calibri" panose="020F0502020204030204"/>
                <a:cs typeface="Times New Roman"/>
              </a:rPr>
              <a:t> </a:t>
            </a:r>
            <a:r>
              <a:rPr lang="en-US" sz="1300">
                <a:solidFill>
                  <a:srgbClr val="7030A0"/>
                </a:solidFill>
                <a:latin typeface="Times New Roman"/>
                <a:ea typeface="Calibri" panose="020F0502020204030204"/>
                <a:cs typeface="Times New Roman"/>
              </a:rPr>
              <a:t>int add(int a , int b) {</a:t>
            </a:r>
            <a:endParaRPr lang="en-US" sz="13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  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&lt;&lt; "Integer add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ajillaj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baina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\n";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  return a + b ;  }  </a:t>
            </a:r>
            <a:r>
              <a:rPr lang="en-US" sz="1300" dirty="0">
                <a:latin typeface="Times New Roman"/>
                <a:cs typeface="Times New Roman"/>
              </a:rPr>
              <a:t> 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// double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хувилбар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 </a:t>
            </a:r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double add(double a, double b) {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  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&lt;&lt; "Double add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ajillaj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baina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\n";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  return a + b ; }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} ;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endParaRPr lang="en-US" sz="1300" dirty="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int main() { </a:t>
            </a:r>
            <a:endParaRPr lang="en-US" sz="13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 Math m ;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 //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компайл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хийхээс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өмнө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шийдэгдэнэ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latin typeface="Times New Roman"/>
                <a:cs typeface="Times New Roman"/>
              </a:rPr>
              <a:t> </a:t>
            </a:r>
            <a:r>
              <a:rPr lang="en-US" sz="1300" dirty="0" err="1">
                <a:latin typeface="Times New Roman"/>
                <a:cs typeface="Times New Roman"/>
              </a:rPr>
              <a:t>cout</a:t>
            </a:r>
            <a:r>
              <a:rPr lang="en-US" sz="1300" dirty="0">
                <a:latin typeface="Times New Roman"/>
                <a:cs typeface="Times New Roman"/>
              </a:rPr>
              <a:t> &lt;&lt; </a:t>
            </a:r>
            <a:r>
              <a:rPr lang="en-US" sz="1300" dirty="0" err="1">
                <a:latin typeface="Times New Roman"/>
                <a:cs typeface="Times New Roman"/>
              </a:rPr>
              <a:t>m.add</a:t>
            </a:r>
            <a:r>
              <a:rPr lang="en-US" sz="1300" dirty="0">
                <a:latin typeface="Times New Roman"/>
                <a:cs typeface="Times New Roman"/>
              </a:rPr>
              <a:t>(2, 3) &lt;&lt; </a:t>
            </a:r>
            <a:r>
              <a:rPr lang="en-US" sz="1300" dirty="0" err="1">
                <a:latin typeface="Times New Roman"/>
                <a:cs typeface="Times New Roman"/>
              </a:rPr>
              <a:t>endl</a:t>
            </a:r>
            <a:r>
              <a:rPr lang="en-US" sz="1300" dirty="0">
                <a:latin typeface="Times New Roman"/>
                <a:cs typeface="Times New Roman"/>
              </a:rPr>
              <a:t> ;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latin typeface="Times New Roman"/>
                <a:cs typeface="Times New Roman"/>
              </a:rPr>
              <a:t> </a:t>
            </a:r>
            <a:r>
              <a:rPr lang="en-US" sz="1300" dirty="0" err="1">
                <a:latin typeface="Times New Roman"/>
                <a:cs typeface="Times New Roman"/>
              </a:rPr>
              <a:t>cout</a:t>
            </a:r>
            <a:r>
              <a:rPr lang="en-US" sz="1300" dirty="0">
                <a:latin typeface="Times New Roman"/>
                <a:cs typeface="Times New Roman"/>
              </a:rPr>
              <a:t> &lt;&lt; </a:t>
            </a:r>
            <a:r>
              <a:rPr lang="en-US" sz="1300" dirty="0" err="1">
                <a:latin typeface="Times New Roman"/>
                <a:cs typeface="Times New Roman"/>
              </a:rPr>
              <a:t>m.add</a:t>
            </a:r>
            <a:r>
              <a:rPr lang="en-US" sz="1300" dirty="0">
                <a:latin typeface="Times New Roman"/>
                <a:cs typeface="Times New Roman"/>
              </a:rPr>
              <a:t>(2.5, 3.5) &lt;&lt; </a:t>
            </a:r>
            <a:r>
              <a:rPr lang="en-US" sz="1300" dirty="0" err="1">
                <a:latin typeface="Times New Roman"/>
                <a:cs typeface="Times New Roman"/>
              </a:rPr>
              <a:t>endl</a:t>
            </a:r>
            <a:r>
              <a:rPr lang="en-US" sz="1300" dirty="0">
                <a:latin typeface="Times New Roman"/>
                <a:cs typeface="Times New Roman"/>
              </a:rPr>
              <a:t> ;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}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3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2923F-6F19-34BE-7E2B-6B625AEE2608}"/>
              </a:ext>
            </a:extLst>
          </p:cNvPr>
          <p:cNvSpPr txBox="1"/>
          <p:nvPr/>
        </p:nvSpPr>
        <p:spPr>
          <a:xfrm>
            <a:off x="4659923" y="1965081"/>
            <a:ext cx="278716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Times New Roman"/>
                <a:cs typeface="Times New Roman"/>
              </a:rPr>
              <a:t>class Animal</a:t>
            </a:r>
            <a:r>
              <a:rPr lang="en-US" sz="900" dirty="0">
                <a:latin typeface="Times New Roman"/>
                <a:cs typeface="Times New Roman"/>
              </a:rPr>
              <a:t>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 public :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 virtual void sound() = 0  ;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} 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solidFill>
                  <a:srgbClr val="FF0000"/>
                </a:solidFill>
                <a:latin typeface="Times New Roman"/>
                <a:cs typeface="Times New Roman"/>
              </a:rPr>
              <a:t>class Dog : public Animal</a:t>
            </a:r>
            <a:r>
              <a:rPr lang="en-US" sz="900" dirty="0">
                <a:latin typeface="Times New Roman"/>
                <a:cs typeface="Times New Roman"/>
              </a:rPr>
              <a:t>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 public :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>
                <a:latin typeface="Times New Roman"/>
                <a:cs typeface="Times New Roman"/>
              </a:rPr>
              <a:t>  </a:t>
            </a:r>
            <a:r>
              <a:rPr lang="en-US" sz="900">
                <a:solidFill>
                  <a:srgbClr val="7030A0"/>
                </a:solidFill>
                <a:latin typeface="Times New Roman"/>
                <a:cs typeface="Times New Roman"/>
              </a:rPr>
              <a:t>void sound() override { </a:t>
            </a:r>
            <a:endParaRPr lang="en-US" sz="9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   </a:t>
            </a:r>
            <a:r>
              <a:rPr lang="en-US" sz="9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 &lt;&lt; "Dog barks\n"&lt;&lt; </a:t>
            </a:r>
            <a:r>
              <a:rPr lang="en-US" sz="900" dirty="0" err="1">
                <a:solidFill>
                  <a:srgbClr val="7030A0"/>
                </a:solidFill>
                <a:latin typeface="Times New Roman"/>
                <a:cs typeface="Times New Roman"/>
              </a:rPr>
              <a:t>endl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 ;</a:t>
            </a:r>
            <a:b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</a:b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}</a:t>
            </a:r>
            <a:b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};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int main()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 Animal* a ; 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 Dog d 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 = &amp;d ;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 a-&gt;sound() ; </a:t>
            </a:r>
            <a:endParaRPr lang="en-US" sz="900" dirty="0"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latin typeface="Times New Roman"/>
                <a:ea typeface="Calibri"/>
                <a:cs typeface="Times New Roman"/>
              </a:rPr>
              <a:t>} </a:t>
            </a:r>
          </a:p>
          <a:p>
            <a:pPr algn="ctr"/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9466" y="97172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Consolas" pitchFamily="34" charset="-122"/>
                <a:cs typeface="Times New Roman"/>
              </a:rPr>
              <a:t>class Counter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 {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9466" y="1209465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 public: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9466" y="144720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  static int count; </a:t>
            </a:r>
            <a:endParaRPr lang="en-US" sz="1400">
              <a:solidFill>
                <a:srgbClr val="10B98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9466" y="168495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    Counter() { 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9466" y="192269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   //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байгуулагчаар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утгыг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нэмэгдүүлэх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solidFill>
                <a:srgbClr val="67E8F9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9466" y="216044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   count++;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9466" y="2398185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  }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9466" y="263592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};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9466" y="287367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a ;</a:t>
            </a:r>
            <a:r>
              <a:rPr lang="en-US" sz="1400">
                <a:solidFill>
                  <a:srgbClr val="94A3B8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9466" y="311141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b ;</a:t>
            </a:r>
            <a:r>
              <a:rPr lang="en-US" sz="1400">
                <a:solidFill>
                  <a:srgbClr val="F59E0B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9466" y="334916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c ; </a:t>
            </a:r>
          </a:p>
        </p:txBody>
      </p:sp>
      <p:sp>
        <p:nvSpPr>
          <p:cNvPr id="28" name="Text 26"/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7670281-1431-3996-0311-4795F1A3745F}"/>
              </a:ext>
            </a:extLst>
          </p:cNvPr>
          <p:cNvSpPr/>
          <p:nvPr/>
        </p:nvSpPr>
        <p:spPr>
          <a:xfrm>
            <a:off x="4939465" y="371255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latin typeface="Times New Roman"/>
                <a:ea typeface="+mn-lt"/>
                <a:cs typeface="Times New Roman"/>
              </a:rPr>
              <a:t>Энэ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үед</a:t>
            </a:r>
            <a:r>
              <a:rPr lang="en-US" sz="1400">
                <a:latin typeface="Times New Roman"/>
                <a:ea typeface="+mn-lt"/>
                <a:cs typeface="Times New Roman"/>
              </a:rPr>
              <a:t> count = 3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болно</a:t>
            </a:r>
            <a:r>
              <a:rPr lang="en-US" sz="1400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284D31-1342-7219-1AA0-A1252BE5F71F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C303C83D-D67B-D184-8DCA-139BBA29E823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9BE20D03-BD1C-0EFA-549E-06A49E48E7FD}"/>
              </a:ext>
            </a:extLst>
          </p:cNvPr>
          <p:cNvSpPr/>
          <p:nvPr/>
        </p:nvSpPr>
        <p:spPr>
          <a:xfrm>
            <a:off x="4549541" y="1065412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9C070-F8DA-ED3C-25F8-B9240426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DCFF3E5-B683-E889-64C1-F089494F9CA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957A67-AE58-E4F4-AF7B-7C8C6FB8983D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4C2EE6-2240-928A-E0A5-047248346AC0}"/>
              </a:ext>
            </a:extLst>
          </p:cNvPr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D84B2A-308B-9B5B-8D63-2FCDFA73BFDE}"/>
              </a:ext>
            </a:extLst>
          </p:cNvPr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5203FE-132D-4CDB-3C1E-5771401C5B2F}"/>
              </a:ext>
            </a:extLst>
          </p:cNvPr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E858F9-B1B5-EA4E-DE97-DB729DFB80FA}"/>
              </a:ext>
            </a:extLst>
          </p:cNvPr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E80647-B677-86BE-BF1E-B51F414C1484}"/>
              </a:ext>
            </a:extLst>
          </p:cNvPr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0F4D91-4071-571B-83A2-43E739DBE6E5}"/>
              </a:ext>
            </a:extLst>
          </p:cNvPr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CA1058-5705-EF91-E788-E66E077DE95C}"/>
              </a:ext>
            </a:extLst>
          </p:cNvPr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CB8397C-B331-BF61-B201-BA2A927E8AD2}"/>
              </a:ext>
            </a:extLst>
          </p:cNvPr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3044FB-F8C9-8DBE-C1D2-FBFA76E29630}"/>
              </a:ext>
            </a:extLst>
          </p:cNvPr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FAA118E-AC0A-4B4B-313E-C3A39DA19606}"/>
              </a:ext>
            </a:extLst>
          </p:cNvPr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BE86FE-0E1E-EDD3-535F-6817C474ECDE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7156CFE5-5D4B-5B66-8C81-0D9B389D1C08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54D9A-2920-B541-5A1A-AEAC4727AE23}"/>
              </a:ext>
            </a:extLst>
          </p:cNvPr>
          <p:cNvSpPr txBox="1"/>
          <p:nvPr/>
        </p:nvSpPr>
        <p:spPr>
          <a:xfrm>
            <a:off x="4716863" y="513382"/>
            <a:ext cx="4785246" cy="51552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Times New Roman"/>
                <a:ea typeface="Consolas"/>
                <a:cs typeface="Times New Roman"/>
              </a:rPr>
              <a:t>class Student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 private :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  string name ; 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 public :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static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гишүүн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өгөгдөл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static int count ;   </a:t>
            </a:r>
          </a:p>
          <a:p>
            <a:endParaRPr lang="en-US" sz="1100">
              <a:latin typeface="Times New Roman"/>
              <a:ea typeface="Consolas"/>
              <a:cs typeface="Times New Roman"/>
            </a:endParaRP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 Student(string name)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</a:t>
            </a:r>
            <a:r>
              <a:rPr lang="en-US" sz="1100">
                <a:solidFill>
                  <a:schemeClr val="accent6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100">
                <a:solidFill>
                  <a:schemeClr val="accent4"/>
                </a:solidFill>
                <a:latin typeface="Times New Roman"/>
                <a:ea typeface="Consolas"/>
                <a:cs typeface="Times New Roman"/>
              </a:rPr>
              <a:t>this-&gt;name = name;</a:t>
            </a:r>
            <a:r>
              <a:rPr lang="en-US" sz="1100">
                <a:solidFill>
                  <a:schemeClr val="accent6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  //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шинэ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объект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үүсэх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бүрт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нэмэгдэнэ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  count++; 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 }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 void show()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 err="1"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&lt;&lt; "Name: " &lt;&lt; name &lt;&lt; </a:t>
            </a:r>
            <a:r>
              <a:rPr lang="en-US" sz="1100" err="1"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;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}  };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static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хувьсагчийг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классын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гадна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зарлана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int Student::count = 0; </a:t>
            </a:r>
          </a:p>
          <a:p>
            <a:endParaRPr lang="en-US" sz="1100">
              <a:solidFill>
                <a:schemeClr val="accent2"/>
              </a:solidFill>
              <a:latin typeface="Times New Roman"/>
              <a:ea typeface="Consolas"/>
              <a:cs typeface="Times New Roman"/>
            </a:endParaRP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int main()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Student s1("Bat");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Student s2("Bold");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классаар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хандах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 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 &lt;&lt; "Total students (class): " &lt;&lt; Student::count &lt;&lt; 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;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объектоор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хандах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 &lt;&lt; "Total students (object): " &lt;&lt; s1.count &lt;&lt; </a:t>
            </a:r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; </a:t>
            </a:r>
          </a:p>
          <a:p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} </a:t>
            </a:r>
          </a:p>
          <a:p>
            <a:endParaRPr lang="en-US" sz="1600" b="0">
              <a:solidFill>
                <a:srgbClr val="BBBEBF"/>
              </a:solidFill>
              <a:latin typeface="Times New Roman"/>
              <a:ea typeface="Consolas"/>
              <a:cs typeface="Times New Roman"/>
            </a:endParaRPr>
          </a:p>
          <a:p>
            <a:pPr algn="ctr"/>
            <a:endParaRPr lang="en-GB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16F7412-EF6A-7AD7-9441-94F560A3C7E0}"/>
              </a:ext>
            </a:extLst>
          </p:cNvPr>
          <p:cNvSpPr/>
          <p:nvPr/>
        </p:nvSpPr>
        <p:spPr>
          <a:xfrm>
            <a:off x="4549541" y="3042983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368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7FF6D-60ED-6B12-6F28-5E3159BB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E0EC0F2-60B9-A5A6-4338-1F56E2FFD24C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92297A-8EAF-F11D-052F-C8960CF49395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FFAD99-41DD-49FB-6C56-33B60C9FB3DE}"/>
              </a:ext>
            </a:extLst>
          </p:cNvPr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D26F65-5127-2AA0-AC57-1EEA8567DB4C}"/>
              </a:ext>
            </a:extLst>
          </p:cNvPr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B3036B-E582-1EE4-E868-038488C0EE1B}"/>
              </a:ext>
            </a:extLst>
          </p:cNvPr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657BDE2-E16E-981C-E7FB-C8417E348A7F}"/>
              </a:ext>
            </a:extLst>
          </p:cNvPr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474BD4-3120-8BB2-DB38-9A196B102562}"/>
              </a:ext>
            </a:extLst>
          </p:cNvPr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07F93F0-885F-BBC3-CAD3-B53734ECF889}"/>
              </a:ext>
            </a:extLst>
          </p:cNvPr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490DAB-89DA-A5D9-C49B-F88846A0212F}"/>
              </a:ext>
            </a:extLst>
          </p:cNvPr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44425F-624B-F913-3B9A-5A2C28503896}"/>
              </a:ext>
            </a:extLst>
          </p:cNvPr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6BFAA9-A6E6-226E-0435-54A0037BAFA5}"/>
              </a:ext>
            </a:extLst>
          </p:cNvPr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8F8C445-391D-71B1-11B4-E059A36CABBE}"/>
              </a:ext>
            </a:extLst>
          </p:cNvPr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7BD8F4-546E-FF06-041A-5834A368A418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E693EAB-E6A9-0BBD-DE57-BEFD9E7431D4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C30F3242-248B-CF8B-7C0E-AB329E6FFD9A}"/>
              </a:ext>
            </a:extLst>
          </p:cNvPr>
          <p:cNvSpPr txBox="1"/>
          <p:nvPr/>
        </p:nvSpPr>
        <p:spPr>
          <a:xfrm>
            <a:off x="4726214" y="766265"/>
            <a:ext cx="4785246" cy="433965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>
                <a:solidFill>
                  <a:srgbClr val="FF0000"/>
                </a:solidFill>
                <a:latin typeface="Times New Roman"/>
                <a:ea typeface="Consolas"/>
                <a:cs typeface="Times New Roman"/>
              </a:rPr>
              <a:t>class Student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: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статик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гишүүн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өгөгдөл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 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static int count; </a:t>
            </a:r>
            <a:endParaRPr lang="en-US" sz="1200">
              <a:solidFill>
                <a:schemeClr val="accent2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  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байгуулагчаар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утгыг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нэмэгдүүлэх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()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count++;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  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статик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гишүүн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функц</a:t>
            </a:r>
            <a:r>
              <a:rPr lang="en-US" sz="1200">
                <a:solidFill>
                  <a:srgbClr val="5ED1E3"/>
                </a:solidFill>
                <a:latin typeface="Times New Roman"/>
                <a:cs typeface="Times New Roman"/>
              </a:rPr>
              <a:t> </a:t>
            </a:r>
            <a:endParaRPr lang="en-US" sz="1200">
              <a:solidFill>
                <a:srgbClr val="5ED1E3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 static 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void </a:t>
            </a:r>
            <a:r>
              <a:rPr lang="en-US" sz="12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showCount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()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   </a:t>
            </a:r>
            <a:r>
              <a:rPr lang="en-US" sz="1200" b="0" err="1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&lt;&lt; "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Total students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: " &lt;&lt; 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count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&lt;&lt; </a:t>
            </a:r>
            <a:r>
              <a:rPr lang="en-US" sz="1200" b="0" err="1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классын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гадна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зарлана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int Student::count = 0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int main() 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 s1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 s2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классаар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дуудах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Student::</a:t>
            </a:r>
            <a:r>
              <a:rPr lang="en-US" sz="12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showCount</a:t>
            </a:r>
            <a:r>
              <a:rPr lang="en-US" sz="12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()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6B661EAB-E231-C3C7-B665-7BEE20FE74B2}"/>
              </a:ext>
            </a:extLst>
          </p:cNvPr>
          <p:cNvSpPr/>
          <p:nvPr/>
        </p:nvSpPr>
        <p:spPr>
          <a:xfrm>
            <a:off x="4549541" y="3560055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41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latin typeface="Times New Roman"/>
                <a:ea typeface="Calibri"/>
                <a:cs typeface="Times New Roman"/>
              </a:rPr>
              <a:t>ОНОЛ  — 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Класс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Жинхэнэ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145" y="1610724"/>
            <a:ext cx="4330338" cy="96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зарлагддаг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override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хийгддэг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Өөрөө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үүсгэх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боломжгүй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Тухайн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классыг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болгодог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0795" y="255741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0000"/>
                </a:solidFill>
                <a:latin typeface="Times New Roman"/>
                <a:ea typeface="Consolas" pitchFamily="34" charset="-122"/>
                <a:cs typeface="Times New Roman"/>
              </a:rPr>
              <a:t>class Animal {  virtual void sound() = 0; };</a:t>
            </a:r>
            <a:r>
              <a:rPr lang="en-US" sz="12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 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хийсвэр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класс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0795" y="28318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Dog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9866" y="310634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"Hov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Hov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438" y="461452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}; 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// Dog, Cat, Lion —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бүгд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Animal-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аас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удамшиж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sound()-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ийг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тодорхойлно</a:t>
            </a:r>
            <a:endParaRPr lang="en-US" sz="1200">
              <a:solidFill>
                <a:srgbClr val="0070C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DB086-8B85-BCB4-9C09-2DD201B4A985}"/>
              </a:ext>
            </a:extLst>
          </p:cNvPr>
          <p:cNvSpPr txBox="1"/>
          <p:nvPr/>
        </p:nvSpPr>
        <p:spPr>
          <a:xfrm>
            <a:off x="698500" y="802821"/>
            <a:ext cx="4572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cs typeface="Times New Roman"/>
              </a:rPr>
              <a:t>Жинхэнэ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хийсвэр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функцийг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ашигласнаар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программыг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илүү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уян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хатан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болгож</a:t>
            </a:r>
            <a:r>
              <a:rPr lang="en-US" sz="1400">
                <a:latin typeface="Times New Roman"/>
                <a:cs typeface="Times New Roman"/>
              </a:rPr>
              <a:t>, </a:t>
            </a:r>
            <a:r>
              <a:rPr lang="en-US" sz="1400" err="1">
                <a:latin typeface="Times New Roman"/>
                <a:cs typeface="Times New Roman"/>
              </a:rPr>
              <a:t>кодыг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давтан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бичихээс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сэргийлнэ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Мөн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программыг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өргөтгөхөд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илүү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хялбар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болно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A5BAFCA1-6587-614A-F2B2-09232C85BA4F}"/>
              </a:ext>
            </a:extLst>
          </p:cNvPr>
          <p:cNvSpPr/>
          <p:nvPr/>
        </p:nvSpPr>
        <p:spPr>
          <a:xfrm>
            <a:off x="739866" y="338523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Cat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5AED9C9-8EF3-4309-88AE-A40B8E8B3213}"/>
              </a:ext>
            </a:extLst>
          </p:cNvPr>
          <p:cNvSpPr/>
          <p:nvPr/>
        </p:nvSpPr>
        <p:spPr>
          <a:xfrm>
            <a:off x="730795" y="3659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"Meow!";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44A7F6F-F455-4943-B165-9DD0111214B1}"/>
              </a:ext>
            </a:extLst>
          </p:cNvPr>
          <p:cNvSpPr/>
          <p:nvPr/>
        </p:nvSpPr>
        <p:spPr>
          <a:xfrm>
            <a:off x="703580" y="398395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Lion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9FAAFEE-ED34-18FE-CFA8-423383C85ADA}"/>
              </a:ext>
            </a:extLst>
          </p:cNvPr>
          <p:cNvSpPr/>
          <p:nvPr/>
        </p:nvSpPr>
        <p:spPr>
          <a:xfrm>
            <a:off x="694509" y="425841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"Arr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Arr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Arr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latin typeface="Times New Roman"/>
                <a:ea typeface="Calibri"/>
                <a:cs typeface="Times New Roman"/>
              </a:rPr>
              <a:t>ХЭРЭГЖҮҮЛЭЛТ  — ӨГӨГДСӨН БОДЛОГУУД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8492A-4745-2543-443F-DDED39C8AF4E}"/>
              </a:ext>
            </a:extLst>
          </p:cNvPr>
          <p:cNvSpPr txBox="1"/>
          <p:nvPr/>
        </p:nvSpPr>
        <p:spPr>
          <a:xfrm>
            <a:off x="1714499" y="1029607"/>
            <a:ext cx="5724071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0" i="0">
              <a:latin typeface="Times New Roman"/>
              <a:ea typeface="Calibri"/>
              <a:cs typeface="Times New Roman"/>
            </a:endParaRPr>
          </a:p>
          <a:p>
            <a:pPr algn="l"/>
            <a:endParaRPr lang="en-US" b="0" i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0" i="0">
                <a:latin typeface="Times New Roman"/>
                <a:ea typeface="+mn-lt"/>
                <a:cs typeface="Times New Roman"/>
              </a:rPr>
              <a:t>Shape </a:t>
            </a:r>
            <a:r>
              <a:rPr lang="en-US" err="1">
                <a:latin typeface="Times New Roman"/>
                <a:ea typeface="+mn-lt"/>
                <a:cs typeface="Times New Roman"/>
              </a:rPr>
              <a:t>класс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бүх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объектын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тоог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статик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хувьсагчаар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тоолно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Static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хувьсагчид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утга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оноох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,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авах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функц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бичнэ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Гишүүдэд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хандахдаа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this </a:t>
            </a:r>
            <a:r>
              <a:rPr lang="en-US" err="1">
                <a:latin typeface="Times New Roman"/>
                <a:ea typeface="+mn-lt"/>
                <a:cs typeface="Times New Roman"/>
              </a:rPr>
              <a:t>ашиглана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Дүрс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классд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талбай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хийсвэр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функцээр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зарлана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Дүрсүүдийг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талбай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периметрээр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нь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эрэмбэлнэ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algn="l"/>
            <a:endParaRPr lang="en-US" sz="1600" b="0" i="0">
              <a:latin typeface="Times New Roman"/>
              <a:ea typeface="-apple-system"/>
              <a:cs typeface="Times New Roman"/>
            </a:endParaRPr>
          </a:p>
          <a:p>
            <a:pPr algn="ctr"/>
            <a:endParaRPr lang="en-GB" sz="16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969477" y="-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1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DCA4F-E8D5-24BC-70DB-ED2CBEF4C4F3}"/>
              </a:ext>
            </a:extLst>
          </p:cNvPr>
          <p:cNvSpPr txBox="1"/>
          <p:nvPr/>
        </p:nvSpPr>
        <p:spPr>
          <a:xfrm>
            <a:off x="226850" y="303413"/>
            <a:ext cx="348511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>
                <a:latin typeface="Consolas"/>
                <a:ea typeface="Consolas"/>
                <a:cs typeface="Consolas"/>
              </a:rPr>
              <a:t>#include&lt;bits/stdc++.h&gt;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#include&lt;cmath&gt;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using namespace std;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struct Point{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x;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y;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lang="en-US" sz="1200" b="0"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lang="en-US" sz="12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protected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rgbClr val="B082E0"/>
                </a:solidFill>
                <a:latin typeface="Consolas"/>
                <a:ea typeface="Consolas"/>
                <a:cs typeface="Consolas"/>
              </a:rPr>
              <a:t> static int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public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counter++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 virtual ~Shape(){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counter--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static int </a:t>
            </a:r>
            <a:r>
              <a:rPr lang="en-US" sz="1200" b="0" err="1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getCounter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(){</a:t>
            </a:r>
          </a:p>
          <a:p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          return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static void </a:t>
            </a:r>
            <a:r>
              <a:rPr lang="en-US" sz="1200" b="0" err="1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setCounter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(int c){</a:t>
            </a:r>
          </a:p>
          <a:p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          counter = c ;</a:t>
            </a:r>
          </a:p>
          <a:p>
            <a:r>
              <a:rPr lang="en-US" sz="1200" b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int Shape::counter = 0 ;</a:t>
            </a: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76CF08BA-8E99-8301-FE34-30E37172D098}"/>
              </a:ext>
            </a:extLst>
          </p:cNvPr>
          <p:cNvSpPr/>
          <p:nvPr/>
        </p:nvSpPr>
        <p:spPr>
          <a:xfrm>
            <a:off x="4567932" y="91634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гадна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оноож</a:t>
            </a:r>
            <a:r>
              <a:rPr lang="en-US">
                <a:latin typeface="Times New Roman"/>
                <a:ea typeface="Calibri"/>
                <a:cs typeface="Times New Roman"/>
              </a:rPr>
              <a:t> 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solidFill>
                  <a:srgbClr val="4FBBC4"/>
                </a:solidFill>
                <a:latin typeface="Times New Roman"/>
                <a:ea typeface="Calibri"/>
                <a:cs typeface="Times New Roman"/>
              </a:rPr>
              <a:t> static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638437A5-C0B6-FD2A-021D-E03CD27BA45B}"/>
              </a:ext>
            </a:extLst>
          </p:cNvPr>
          <p:cNvSpPr/>
          <p:nvPr/>
        </p:nvSpPr>
        <p:spPr>
          <a:xfrm>
            <a:off x="4574629" y="2293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шинээр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үүсэх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үед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статик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өгөгдлийн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нэмэгдэх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бөгөөд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устах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үед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багасна</a:t>
            </a:r>
            <a:r>
              <a:rPr lang="en-US">
                <a:latin typeface="Times New Roman"/>
                <a:ea typeface="Calibri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5B6F4-0100-99BC-F967-F97FE5003249}"/>
              </a:ext>
            </a:extLst>
          </p:cNvPr>
          <p:cNvSpPr txBox="1"/>
          <p:nvPr/>
        </p:nvSpPr>
        <p:spPr>
          <a:xfrm>
            <a:off x="4264269" y="5143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54C46-9307-D400-06DC-12B52BCE51E6}"/>
              </a:ext>
            </a:extLst>
          </p:cNvPr>
          <p:cNvSpPr txBox="1"/>
          <p:nvPr/>
        </p:nvSpPr>
        <p:spPr>
          <a:xfrm>
            <a:off x="4264269" y="18859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67E23-9946-F8EE-8C5F-6A23D3F03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5D4E7-8CA2-82D6-41CC-5C6C7BCDEC31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691401-1304-5A31-C78E-0EA764C38079}"/>
              </a:ext>
            </a:extLst>
          </p:cNvPr>
          <p:cNvSpPr/>
          <p:nvPr/>
        </p:nvSpPr>
        <p:spPr>
          <a:xfrm>
            <a:off x="1591408" y="-9847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2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180B8-73D3-15BA-138D-FAD827373250}"/>
              </a:ext>
            </a:extLst>
          </p:cNvPr>
          <p:cNvSpPr txBox="1"/>
          <p:nvPr/>
        </p:nvSpPr>
        <p:spPr>
          <a:xfrm>
            <a:off x="173986" y="312098"/>
            <a:ext cx="4825998" cy="51436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Consolas"/>
              </a:rPr>
              <a:t>class Shape2D : public Shape</a:t>
            </a:r>
            <a:r>
              <a:rPr lang="en-US" sz="1100">
                <a:latin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name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Shape2D(string name) : Shape()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= name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</a:t>
            </a:r>
            <a:r>
              <a:rPr lang="en-US" sz="1100" err="1">
                <a:latin typeface="Consolas"/>
                <a:ea typeface="Consolas"/>
                <a:cs typeface="Consolas"/>
              </a:rPr>
              <a:t>getName</a:t>
            </a:r>
            <a:r>
              <a:rPr lang="en-US" sz="1100">
                <a:latin typeface="Consolas"/>
                <a:ea typeface="Consolas"/>
                <a:cs typeface="Consolas"/>
              </a:rPr>
              <a:t>(){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return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~Shape2D()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Circle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Circle(Point p1 , float radius 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p1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-&gt;radius =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3.14 * this-&gt;radius * this-&gt;radius ;}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2 * 3.14 * this-&gt;radius ;}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endParaRPr lang="en-US" sz="1200" b="0">
              <a:solidFill>
                <a:srgbClr val="A5D6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3989EE2A-6C05-47B5-DC43-078981A402B0}"/>
              </a:ext>
            </a:extLst>
          </p:cNvPr>
          <p:cNvSpPr/>
          <p:nvPr/>
        </p:nvSpPr>
        <p:spPr>
          <a:xfrm>
            <a:off x="5148224" y="11009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>
                <a:solidFill>
                  <a:schemeClr val="accent1"/>
                </a:solidFill>
                <a:latin typeface="Times New Roman"/>
                <a:ea typeface="Calibri"/>
                <a:cs typeface="Times New Roman"/>
              </a:rPr>
              <a:t>override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буюу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latin typeface="Times New Roman"/>
                <a:ea typeface="Calibri"/>
                <a:cs typeface="Times New Roman"/>
              </a:rPr>
              <a:t> 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1F4592B5-A491-4936-608A-2A099EE0B979}"/>
              </a:ext>
            </a:extLst>
          </p:cNvPr>
          <p:cNvSpPr/>
          <p:nvPr/>
        </p:nvSpPr>
        <p:spPr>
          <a:xfrm>
            <a:off x="5147866" y="2997193"/>
            <a:ext cx="3200400" cy="27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Параметртэй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байгуулагч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болон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удамшуулан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хэргжүүлэхдээ</a:t>
            </a:r>
            <a:r>
              <a:rPr lang="en-US">
                <a:latin typeface="Times New Roman"/>
                <a:ea typeface="Calibri"/>
                <a:cs typeface="Times New Roman"/>
              </a:rPr>
              <a:t> this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ашиглана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C6990-F1CF-41CF-D49E-549FF1DA801F}"/>
              </a:ext>
            </a:extLst>
          </p:cNvPr>
          <p:cNvSpPr txBox="1"/>
          <p:nvPr/>
        </p:nvSpPr>
        <p:spPr>
          <a:xfrm>
            <a:off x="4844562" y="4000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1B662-453C-41B0-FAAF-6165391627B0}"/>
              </a:ext>
            </a:extLst>
          </p:cNvPr>
          <p:cNvSpPr txBox="1"/>
          <p:nvPr/>
        </p:nvSpPr>
        <p:spPr>
          <a:xfrm>
            <a:off x="4844562" y="2413489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2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AB0A9-0E5B-8B8E-63C0-F95F5E28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1B48479-DAEA-79F7-02A9-61D7D7F37033}"/>
              </a:ext>
            </a:extLst>
          </p:cNvPr>
          <p:cNvSpPr/>
          <p:nvPr/>
        </p:nvSpPr>
        <p:spPr>
          <a:xfrm>
            <a:off x="1802423" y="-13364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3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6A42F-13D8-8727-7A49-45E76093A010}"/>
              </a:ext>
            </a:extLst>
          </p:cNvPr>
          <p:cNvSpPr txBox="1"/>
          <p:nvPr/>
        </p:nvSpPr>
        <p:spPr>
          <a:xfrm>
            <a:off x="-66710" y="288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~Circle()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Square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, p2 , p3 , p4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Square(Point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>
                <a:latin typeface="Consolas"/>
                <a:ea typeface="Consolas"/>
                <a:cs typeface="Consolas"/>
              </a:rPr>
              <a:t>, float length,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-&gt;p4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= length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4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  ~Square()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Triangle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protected: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Point p1, p2, p3;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float tal1, tal2, tal3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public:</a:t>
            </a:r>
            <a:endParaRPr lang="en-US"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2286B753-CBE1-5973-6748-94944AFC49DD}"/>
              </a:ext>
            </a:extLst>
          </p:cNvPr>
          <p:cNvSpPr/>
          <p:nvPr/>
        </p:nvSpPr>
        <p:spPr>
          <a:xfrm>
            <a:off x="5262524" y="1285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>
                <a:solidFill>
                  <a:schemeClr val="accent1"/>
                </a:solidFill>
                <a:latin typeface="Times New Roman"/>
                <a:ea typeface="Calibri"/>
                <a:cs typeface="Times New Roman"/>
              </a:rPr>
              <a:t>override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буюу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latin typeface="Times New Roman"/>
                <a:ea typeface="Calibri"/>
                <a:cs typeface="Times New Roman"/>
              </a:rPr>
              <a:t> 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9A007960-50E5-4124-6243-9638EF7EFDBC}"/>
              </a:ext>
            </a:extLst>
          </p:cNvPr>
          <p:cNvSpPr/>
          <p:nvPr/>
        </p:nvSpPr>
        <p:spPr>
          <a:xfrm>
            <a:off x="5260429" y="296202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Параметртэй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байгуулагч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болон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удамшуулан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хэргжүүлэхдээ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this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ашиглана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4F3A3-9162-B95A-BEB0-B50DF7A4672F}"/>
              </a:ext>
            </a:extLst>
          </p:cNvPr>
          <p:cNvSpPr txBox="1"/>
          <p:nvPr/>
        </p:nvSpPr>
        <p:spPr>
          <a:xfrm>
            <a:off x="4906108" y="698988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9D7F5-9261-3C6A-5950-C09A34BE03BD}"/>
              </a:ext>
            </a:extLst>
          </p:cNvPr>
          <p:cNvSpPr txBox="1"/>
          <p:nvPr/>
        </p:nvSpPr>
        <p:spPr>
          <a:xfrm>
            <a:off x="4906108" y="2492619"/>
            <a:ext cx="3780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A482A-5C24-6236-E4F1-44C05654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1D83E7-47C4-D610-B7FD-B5598A16CD6E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D41EB2-FCA1-68FF-B459-D9C0BFF3D87B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4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136A7-A86D-4CF0-579D-70090703DBE1}"/>
              </a:ext>
            </a:extLst>
          </p:cNvPr>
          <p:cNvSpPr txBox="1"/>
          <p:nvPr/>
        </p:nvSpPr>
        <p:spPr>
          <a:xfrm>
            <a:off x="378069" y="373673"/>
            <a:ext cx="457200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100" b="0" i="0" u="none" strike="noStrike" baseline="0">
                <a:solidFill>
                  <a:srgbClr val="C9D1D9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Triangle(Point top, float a, string name) :Shape2D(name)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-&gt;p1 = top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float height = sqrt(3)/2 * a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 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-&gt;p2 = {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top.x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a/2,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top.y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height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-&gt;p3 = {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top.x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+ a/2,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top.y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height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 ;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 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=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-&gt;tal2 =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-&gt;tal3 = a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float 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 override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return (sqrt(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3.0)/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4) *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*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float 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 override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return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+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-&gt;tal2 +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-&gt;tal3;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~Triangle() override {}</a:t>
            </a:r>
            <a:r>
              <a:rPr lang="en-US" sz="1100" b="0" i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b="0" i="0" u="none" strike="noStrike" baseline="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sortByTalbai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for(int j = 0; j &lt; n-i-1;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j++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if(shapes[j]-&gt;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&gt; shapes[j+1]-&gt;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Shape2D* temp = shapes[j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shapes[j] = shapes[j+1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 ;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shapes[j+1] = temp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pPr algn="ctr"/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CFDEB17-3817-8F98-8D09-005357BB220A}"/>
              </a:ext>
            </a:extLst>
          </p:cNvPr>
          <p:cNvSpPr/>
          <p:nvPr/>
        </p:nvSpPr>
        <p:spPr>
          <a:xfrm>
            <a:off x="5579047" y="154939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talbai</a:t>
            </a:r>
            <a:r>
              <a:rPr lang="en-US">
                <a:latin typeface="Times New Roman"/>
                <a:ea typeface="Calibri"/>
                <a:cs typeface="Times New Roman"/>
              </a:rPr>
              <a:t>() ,  </a:t>
            </a:r>
            <a:r>
              <a:rPr lang="en-US" err="1">
                <a:latin typeface="Times New Roman"/>
                <a:ea typeface="Calibri"/>
                <a:cs typeface="Times New Roman"/>
              </a:rPr>
              <a:t>perimetr</a:t>
            </a:r>
            <a:r>
              <a:rPr lang="en-US">
                <a:latin typeface="Times New Roman"/>
                <a:ea typeface="Calibri"/>
                <a:cs typeface="Times New Roman"/>
              </a:rPr>
              <a:t>()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хэрэгжүүлснээр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дүрс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бүрийн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хүрээний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уртыг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BEDE92-747F-CE72-2966-2ECAA48BFD13}"/>
              </a:ext>
            </a:extLst>
          </p:cNvPr>
          <p:cNvSpPr txBox="1"/>
          <p:nvPr/>
        </p:nvSpPr>
        <p:spPr>
          <a:xfrm>
            <a:off x="5328139" y="989134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00CBE5B-17B2-6011-4875-A00322EF6EC4}"/>
              </a:ext>
            </a:extLst>
          </p:cNvPr>
          <p:cNvSpPr/>
          <p:nvPr/>
        </p:nvSpPr>
        <p:spPr>
          <a:xfrm>
            <a:off x="5579046" y="304408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Дүрс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бүрийн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тэдгээрийг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sortByTalbai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тодорхойлно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5F7CEA-9A82-12BB-2A9B-B925F9C71189}"/>
              </a:ext>
            </a:extLst>
          </p:cNvPr>
          <p:cNvSpPr txBox="1"/>
          <p:nvPr/>
        </p:nvSpPr>
        <p:spPr>
          <a:xfrm>
            <a:off x="5328138" y="2642087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30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C074E-922F-338D-AC7C-732E855D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F20C0F-CF03-9AE0-56BF-553B379066E0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C9E9C-CB70-0E41-F546-88A249769DD2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5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15919-081B-DE11-421C-0853B42FC7B8}"/>
              </a:ext>
            </a:extLst>
          </p:cNvPr>
          <p:cNvSpPr txBox="1"/>
          <p:nvPr/>
        </p:nvSpPr>
        <p:spPr>
          <a:xfrm>
            <a:off x="378069" y="496765"/>
            <a:ext cx="457200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sortByPerimetr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 {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for(int j = 0; j &lt; n-i-1;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j++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if(shapes[j]-&gt;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&gt; shapes[j+1]-&gt;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Shape2D* temp = shapes[j];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shapes[j] = shapes[j+1];</a:t>
            </a:r>
          </a:p>
          <a:p>
            <a:r>
              <a:rPr lang="en-US" sz="1100">
                <a:latin typeface="Consolas"/>
                <a:ea typeface="Segoe UI"/>
                <a:cs typeface="Segoe UI"/>
              </a:rPr>
              <a:t>                shapes[j+1] = temp ;</a:t>
            </a:r>
            <a:endParaRPr lang="en-US" sz="110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err="1">
                <a:solidFill>
                  <a:srgbClr val="21B5B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i+1 &lt;&lt; ". "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getName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()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 : " &lt;&lt; fixed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setprecision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(2)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: " &lt;&lt; fixed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setprecision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(2)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"------------------"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pPr algn="l"/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6C4490EA-10B5-11F1-C11C-6EBFAE9045AB}"/>
              </a:ext>
            </a:extLst>
          </p:cNvPr>
          <p:cNvSpPr/>
          <p:nvPr/>
        </p:nvSpPr>
        <p:spPr>
          <a:xfrm>
            <a:off x="5543878" y="14790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классуудын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дүрсийн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олох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4FBBC4"/>
                </a:solidFill>
                <a:latin typeface="Times New Roman"/>
                <a:ea typeface="Calibri"/>
                <a:cs typeface="Times New Roman"/>
              </a:rPr>
              <a:t>printSahpes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тодорхойлно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01F95-C2A2-1F6E-891B-3AC97395C6E0}"/>
              </a:ext>
            </a:extLst>
          </p:cNvPr>
          <p:cNvSpPr txBox="1"/>
          <p:nvPr/>
        </p:nvSpPr>
        <p:spPr>
          <a:xfrm>
            <a:off x="5292970" y="1077057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3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581AD-34FF-728A-0F65-42445DED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F9256E-2314-008B-BC2B-DC9322632047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2601EA-D73E-D543-A0C6-FF053071A019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6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EA9DA-B94C-FEDB-721D-214CE5394B47}"/>
              </a:ext>
            </a:extLst>
          </p:cNvPr>
          <p:cNvSpPr txBox="1"/>
          <p:nvPr/>
        </p:nvSpPr>
        <p:spPr>
          <a:xfrm>
            <a:off x="378069" y="496765"/>
            <a:ext cx="4572000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int main()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"Object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uuseegui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uyd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: " &lt;&lt;</a:t>
            </a:r>
            <a:r>
              <a:rPr lang="en-US" sz="1100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"======================================\n"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endParaRPr lang="en-US" sz="110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int n = 6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Shape2D** shapes = new Shape2D*[n];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shapes[0] = new Circle({0,0}, 5, "Circle1");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shapes[1] = new Square({0,10}, 4, "Square1");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shapes[2] = new Triangle({0,10}, 6, "Triangle1");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shapes[3] = new Circle({1,1}, 3, "Circle2");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shapes[4] = new Square({2,8}, 2, "Square2");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shapes[5] = new Triangle({2,5}, 4, "Triangle2");</a:t>
            </a:r>
          </a:p>
          <a:p>
            <a:endParaRPr lang="en-US" sz="1100">
              <a:solidFill>
                <a:srgbClr val="000000"/>
              </a:solidFill>
              <a:latin typeface="Consolas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&lt;&lt; "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Uussen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niit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objectiin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too (static counter):" &lt;&lt; 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 &lt;&lt; "\n"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;</a:t>
            </a:r>
            <a:endParaRPr lang="en-US"/>
          </a:p>
          <a:p>
            <a:pPr algn="l"/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F7AD3417-45AA-0CB5-1723-87F5093059F6}"/>
              </a:ext>
            </a:extLst>
          </p:cNvPr>
          <p:cNvSpPr/>
          <p:nvPr/>
        </p:nvSpPr>
        <p:spPr>
          <a:xfrm>
            <a:off x="5543878" y="12944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5ED1E3"/>
                </a:solidFill>
                <a:latin typeface="Times New Roman"/>
                <a:ea typeface="Calibri"/>
                <a:cs typeface="Times New Roman"/>
              </a:rPr>
              <a:t>Static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үүсэхээс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өмнө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дараах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хэвлэнэ</a:t>
            </a:r>
            <a:r>
              <a:rPr lang="en-US">
                <a:latin typeface="Times New Roman"/>
                <a:ea typeface="Calibri"/>
                <a:cs typeface="Times New Roman"/>
              </a:rPr>
              <a:t>. </a:t>
            </a:r>
            <a:r>
              <a:rPr lang="en-US" err="1">
                <a:latin typeface="Times New Roman"/>
                <a:ea typeface="Calibri"/>
                <a:cs typeface="Times New Roman"/>
              </a:rPr>
              <a:t>Ингэхдээ</a:t>
            </a:r>
            <a:r>
              <a:rPr lang="en-US">
                <a:latin typeface="Times New Roman"/>
                <a:ea typeface="Calibri"/>
                <a:cs typeface="Times New Roman"/>
              </a:rPr>
              <a:t> 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дуудна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0962F-7ACD-BBBE-11E9-8E2BA61B8D3F}"/>
              </a:ext>
            </a:extLst>
          </p:cNvPr>
          <p:cNvSpPr txBox="1"/>
          <p:nvPr/>
        </p:nvSpPr>
        <p:spPr>
          <a:xfrm>
            <a:off x="5292970" y="892419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9148BECD-1E3B-B9CD-156A-0A625BCE3A27}"/>
              </a:ext>
            </a:extLst>
          </p:cNvPr>
          <p:cNvSpPr/>
          <p:nvPr/>
        </p:nvSpPr>
        <p:spPr>
          <a:xfrm>
            <a:off x="5543877" y="28242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Объектын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массив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үүсгэхдээ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нөөцлөн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,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массивийн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хаягийг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заах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заагчид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нөөцлөнө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 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3B428-AF98-C797-C61E-D8CECEA94813}"/>
              </a:ext>
            </a:extLst>
          </p:cNvPr>
          <p:cNvSpPr txBox="1"/>
          <p:nvPr/>
        </p:nvSpPr>
        <p:spPr>
          <a:xfrm>
            <a:off x="5292969" y="2422280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22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4DF216-1FB5-5F0A-1AC0-E973A06F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4A0DF0-2A11-40E3-5D27-24C2E0A9EBA4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FAA6C2-B45F-FD27-A8FA-AA14A0B74660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7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CF904-F104-14AD-01B8-AA008B2FAB5C}"/>
              </a:ext>
            </a:extLst>
          </p:cNvPr>
          <p:cNvSpPr txBox="1"/>
          <p:nvPr/>
        </p:nvSpPr>
        <p:spPr>
          <a:xfrm>
            <a:off x="378069" y="496765"/>
            <a:ext cx="4572000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// =====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Талбайгаар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эрэмбэлж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хэвлэх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sortByTalbai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endParaRPr lang="en-US"/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Talbaigaar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erembelsen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// =====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Периметрээр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эрэмбэлж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хэвлэх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"\n======================================"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Perimetreer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erembelsen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   // ===== Memory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цэвэрлэх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   for(int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= 0;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&lt; n;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++){</a:t>
            </a:r>
            <a:endParaRPr lang="en-US" sz="1100">
              <a:latin typeface="Consolas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delete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];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r>
              <a:rPr lang="en-US" sz="1100">
                <a:latin typeface="Consolas"/>
                <a:cs typeface="Segoe UI"/>
              </a:rPr>
              <a:t>delete[] shapes;</a:t>
            </a:r>
          </a:p>
          <a:p>
            <a:endParaRPr lang="en-US" sz="1100">
              <a:latin typeface="Consolas"/>
              <a:cs typeface="Segoe UI"/>
            </a:endParaRPr>
          </a:p>
          <a:p>
            <a:r>
              <a:rPr lang="en-US" sz="1100">
                <a:latin typeface="Consolas"/>
                <a:cs typeface="Segoe UI"/>
              </a:rPr>
              <a:t>    </a:t>
            </a:r>
            <a:r>
              <a:rPr lang="en-US" sz="1100" err="1">
                <a:latin typeface="Consolas"/>
                <a:cs typeface="Segoe UI"/>
              </a:rPr>
              <a:t>cout</a:t>
            </a:r>
            <a:r>
              <a:rPr lang="en-US" sz="1100">
                <a:latin typeface="Consolas"/>
                <a:cs typeface="Segoe UI"/>
              </a:rPr>
              <a:t> &lt;&lt; "\n Object </a:t>
            </a:r>
            <a:r>
              <a:rPr lang="en-US" sz="1100" err="1">
                <a:latin typeface="Consolas"/>
                <a:cs typeface="Segoe UI"/>
              </a:rPr>
              <a:t>ustgasnii</a:t>
            </a:r>
            <a:r>
              <a:rPr lang="en-US" sz="1100">
                <a:latin typeface="Consolas"/>
                <a:cs typeface="Segoe UI"/>
              </a:rPr>
              <a:t> </a:t>
            </a:r>
            <a:r>
              <a:rPr lang="en-US" sz="1100" err="1">
                <a:latin typeface="Consolas"/>
                <a:cs typeface="Segoe UI"/>
              </a:rPr>
              <a:t>daraah</a:t>
            </a:r>
            <a:r>
              <a:rPr lang="en-US" sz="1100">
                <a:latin typeface="Consolas"/>
                <a:cs typeface="Segoe UI"/>
              </a:rPr>
              <a:t> static </a:t>
            </a:r>
            <a:r>
              <a:rPr lang="en-US" sz="1100" err="1">
                <a:latin typeface="Consolas"/>
                <a:cs typeface="Segoe UI"/>
              </a:rPr>
              <a:t>huvisagch</a:t>
            </a:r>
            <a:r>
              <a:rPr lang="en-US" sz="1100">
                <a:latin typeface="Consolas"/>
                <a:cs typeface="Segoe UI"/>
              </a:rPr>
              <a:t>(static counter): " &lt;&lt; 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() </a:t>
            </a:r>
            <a:r>
              <a:rPr lang="en-US" sz="1100">
                <a:latin typeface="Consolas"/>
                <a:cs typeface="Segoe UI"/>
              </a:rPr>
              <a:t>&lt;&lt; </a:t>
            </a:r>
            <a:r>
              <a:rPr lang="en-US" sz="1100" err="1">
                <a:latin typeface="Consolas"/>
                <a:cs typeface="Segoe UI"/>
              </a:rPr>
              <a:t>endl</a:t>
            </a:r>
            <a:r>
              <a:rPr lang="en-US" sz="1100">
                <a:latin typeface="Consolas"/>
                <a:cs typeface="Segoe UI"/>
              </a:rPr>
              <a:t>;</a:t>
            </a:r>
          </a:p>
          <a:p>
            <a:r>
              <a:rPr lang="en-US" sz="1100">
                <a:latin typeface="Consolas"/>
                <a:cs typeface="Segoe UI"/>
              </a:rPr>
              <a:t>    return 0;</a:t>
            </a:r>
          </a:p>
          <a:p>
            <a:r>
              <a:rPr lang="en-US" sz="1100">
                <a:latin typeface="Consolas"/>
                <a:cs typeface="Segoe UI"/>
              </a:rPr>
              <a:t>}</a:t>
            </a:r>
          </a:p>
          <a:p>
            <a:endParaRPr lang="en-US" sz="1100">
              <a:latin typeface="Consolas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852F1D05-5919-9083-1315-DB9FEEC85B33}"/>
              </a:ext>
            </a:extLst>
          </p:cNvPr>
          <p:cNvSpPr/>
          <p:nvPr/>
        </p:nvSpPr>
        <p:spPr>
          <a:xfrm>
            <a:off x="5543878" y="12944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shapes </a:t>
            </a:r>
            <a:r>
              <a:rPr lang="en-US" err="1">
                <a:latin typeface="Times New Roman"/>
                <a:ea typeface="Calibri"/>
                <a:cs typeface="Times New Roman"/>
              </a:rPr>
              <a:t>массивийн</a:t>
            </a:r>
            <a:r>
              <a:rPr lang="en-US">
                <a:latin typeface="Times New Roman"/>
                <a:ea typeface="Calibri"/>
                <a:cs typeface="Times New Roman"/>
              </a:rPr>
              <a:t> n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элементийг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1EC1-2C29-A20A-2134-410C629EC495}"/>
              </a:ext>
            </a:extLst>
          </p:cNvPr>
          <p:cNvSpPr txBox="1"/>
          <p:nvPr/>
        </p:nvSpPr>
        <p:spPr>
          <a:xfrm>
            <a:off x="5292970" y="892419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55A6E608-7DAD-C89D-B624-E2FE5C3BDEB9}"/>
              </a:ext>
            </a:extLst>
          </p:cNvPr>
          <p:cNvSpPr/>
          <p:nvPr/>
        </p:nvSpPr>
        <p:spPr>
          <a:xfrm>
            <a:off x="5543877" y="271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эрэмбэлэлтийг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хамгийн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сүүлд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санах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чөлөөлнө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44EE9-4177-BE3A-03EC-85A3412FED9A}"/>
              </a:ext>
            </a:extLst>
          </p:cNvPr>
          <p:cNvSpPr txBox="1"/>
          <p:nvPr/>
        </p:nvSpPr>
        <p:spPr>
          <a:xfrm>
            <a:off x="5292969" y="2422280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80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1966B-1B44-FE0D-5747-E2208CB1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0F76DA-53E1-27B4-CEC8-AA634D23214F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A8A00-7756-392F-1EB8-1023F5EF150E}"/>
              </a:ext>
            </a:extLst>
          </p:cNvPr>
          <p:cNvSpPr/>
          <p:nvPr/>
        </p:nvSpPr>
        <p:spPr>
          <a:xfrm>
            <a:off x="1855177" y="-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8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48DF91-A8F3-DD39-9B40-17D1115BBC1C}"/>
              </a:ext>
            </a:extLst>
          </p:cNvPr>
          <p:cNvSpPr/>
          <p:nvPr/>
        </p:nvSpPr>
        <p:spPr>
          <a:xfrm>
            <a:off x="6396034" y="1281855"/>
            <a:ext cx="2665186" cy="356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Дүрсүүдийг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эрэмбэлсэн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дүн</a:t>
            </a:r>
            <a:endParaRPr lang="en-US" err="1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B77FDE-E304-A2D1-4A5B-0E4DC8ED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38" y="979715"/>
            <a:ext cx="2787337" cy="416378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F63B58-C029-F4C9-A664-C112BC5FC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904" y="979714"/>
            <a:ext cx="2686478" cy="4163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88B3B-6A12-93A8-1293-ED11E6FAD3C4}"/>
              </a:ext>
            </a:extLst>
          </p:cNvPr>
          <p:cNvSpPr txBox="1"/>
          <p:nvPr/>
        </p:nvSpPr>
        <p:spPr>
          <a:xfrm>
            <a:off x="6137031" y="1041888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45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latin typeface="Times New Roman"/>
                <a:ea typeface="Calibri"/>
                <a:cs typeface="Times New Roman"/>
              </a:rPr>
              <a:t>ДҮГНЭЛТ</a:t>
            </a:r>
            <a:endParaRPr lang="en-US" sz="2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7537E-695D-CE93-877B-E8758D8BC603}"/>
              </a:ext>
            </a:extLst>
          </p:cNvPr>
          <p:cNvSpPr txBox="1"/>
          <p:nvPr/>
        </p:nvSpPr>
        <p:spPr>
          <a:xfrm>
            <a:off x="1296538" y="1602254"/>
            <a:ext cx="65509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Энэхүү </a:t>
            </a:r>
            <a:r>
              <a:rPr lang="en-US" sz="2400" dirty="0" err="1">
                <a:latin typeface="Times New Roman"/>
                <a:cs typeface="Times New Roman"/>
              </a:rPr>
              <a:t>лабораторийн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ажлаар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Circle, Square, Triangle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классуудаар объект үүсгэж талбайгаар эрэмбэлсэн. Хийсвэр класс нь загвар болж, өөрөөсөө объект үүсэхгүй, функцуудыг удамшсан классууд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хийж хэрэгжүүлдэг.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АШИГЛАСАН МАТЕРИАЛ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938" y="9067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[1] 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хандлагат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технологийн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С++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програмчлал</a:t>
            </a:r>
            <a:r>
              <a:rPr lang="en-US" sz="1050">
                <a:latin typeface="Times New Roman"/>
                <a:ea typeface="Calibri"/>
                <a:cs typeface="Times New Roman"/>
              </a:rPr>
              <a:t>,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Ж.Пүрэв</a:t>
            </a:r>
            <a:r>
              <a:rPr lang="en-US" sz="1050">
                <a:latin typeface="Times New Roman"/>
                <a:ea typeface="Calibri"/>
                <a:cs typeface="Times New Roman"/>
              </a:rPr>
              <a:t>, 2008,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Улаанбаатар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938" y="1247865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[2]  'this' pointer in C++ —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GeeksforGeeks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938" y="1588951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[3]  Static Variables in C —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GeeksforGeeks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93222" y="2402115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err="1">
                <a:latin typeface="Times New Roman"/>
                <a:ea typeface="Calibri"/>
                <a:cs typeface="Times New Roman"/>
              </a:rPr>
              <a:t>Анхаарал</a:t>
            </a:r>
            <a:r>
              <a:rPr lang="en-US" sz="28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800" b="1" err="1">
                <a:latin typeface="Times New Roman"/>
                <a:ea typeface="Calibri"/>
                <a:cs typeface="Times New Roman"/>
              </a:rPr>
              <a:t>хандуулсан</a:t>
            </a:r>
            <a:r>
              <a:rPr lang="en-US" sz="28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800" b="1" err="1">
                <a:latin typeface="Times New Roman"/>
                <a:ea typeface="Calibri"/>
                <a:cs typeface="Times New Roman"/>
              </a:rPr>
              <a:t>явдалд</a:t>
            </a:r>
            <a:endParaRPr lang="en-US" sz="28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07522" y="281887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latin typeface="Times New Roman"/>
                <a:ea typeface="Calibri"/>
                <a:cs typeface="Times New Roman"/>
              </a:rPr>
              <a:t>БАЯРЛАЛАА!</a:t>
            </a:r>
            <a:endParaRPr lang="en-US" sz="3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63477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err="1">
                <a:latin typeface="Times New Roman"/>
                <a:ea typeface="Calibri"/>
                <a:cs typeface="Times New Roman"/>
              </a:rPr>
              <a:t>Баг</a:t>
            </a:r>
            <a:r>
              <a:rPr lang="en-US" sz="900">
                <a:latin typeface="Times New Roman"/>
                <a:ea typeface="Calibri"/>
                <a:cs typeface="Times New Roman"/>
              </a:rPr>
              <a:t>: IRIS  |  МУИС МТЭС МКУТ| 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5FCF2-505C-7C0A-66B7-5759137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80218E-6516-2D39-2E0A-8C42FCCE0456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CB611-6D4B-AB34-4019-8DA6AC3E18A4}"/>
              </a:ext>
            </a:extLst>
          </p:cNvPr>
          <p:cNvSpPr txBox="1"/>
          <p:nvPr/>
        </p:nvSpPr>
        <p:spPr>
          <a:xfrm>
            <a:off x="2282511" y="122465"/>
            <a:ext cx="45720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>
                <a:latin typeface="Consolas"/>
                <a:ea typeface="Consolas"/>
                <a:cs typeface="Consolas"/>
              </a:rPr>
              <a:t>#include&lt;bits/stdc++.h&gt;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#include&lt;cmath&gt;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using namespace std;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struct Point{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x;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y;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Shape</a:t>
            </a:r>
            <a:r>
              <a:rPr lang="en-US" sz="12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protected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static int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public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counter++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 virtual ~Shape()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counter--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static int </a:t>
            </a:r>
            <a:r>
              <a:rPr lang="en-US" sz="1200" b="0" err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getCounter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(){</a:t>
            </a:r>
          </a:p>
          <a:p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          return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}</a:t>
            </a:r>
          </a:p>
          <a:p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static void </a:t>
            </a:r>
            <a:r>
              <a:rPr lang="en-US" sz="1200" b="0" err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setCounter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(int c){</a:t>
            </a:r>
          </a:p>
          <a:p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          counter = c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int Shape::counter = 0 ;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DD8C43-45E1-D7B9-7A5B-0F7E09656BB3}"/>
              </a:ext>
            </a:extLst>
          </p:cNvPr>
          <p:cNvSpPr/>
          <p:nvPr/>
        </p:nvSpPr>
        <p:spPr>
          <a:xfrm>
            <a:off x="425101" y="18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6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1FD4C-A806-4197-0114-AB6BCB68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3E95EF-DE9D-A9A2-7F20-D324B51FFF44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84731-391E-9F14-8C94-A7F70E92AE64}"/>
              </a:ext>
            </a:extLst>
          </p:cNvPr>
          <p:cNvSpPr txBox="1"/>
          <p:nvPr/>
        </p:nvSpPr>
        <p:spPr>
          <a:xfrm>
            <a:off x="2388019" y="131258"/>
            <a:ext cx="4572000" cy="55399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Consolas"/>
              </a:rPr>
              <a:t>class Shape2D : public Shape</a:t>
            </a:r>
            <a:r>
              <a:rPr lang="en-US" sz="1100">
                <a:latin typeface="Consolas"/>
              </a:rPr>
              <a:t> 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protected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name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Shape2D(string name) : Shape()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latin typeface="Consolas"/>
                <a:ea typeface="Consolas"/>
                <a:cs typeface="Consolas"/>
              </a:rPr>
              <a:t>    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= name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 </a:t>
            </a:r>
            <a:r>
              <a:rPr lang="en-US" sz="1100" err="1">
                <a:latin typeface="Consolas"/>
                <a:ea typeface="Consolas"/>
                <a:cs typeface="Consolas"/>
              </a:rPr>
              <a:t>getName</a:t>
            </a:r>
            <a:r>
              <a:rPr lang="en-US" sz="1100">
                <a:latin typeface="Consolas"/>
                <a:ea typeface="Consolas"/>
                <a:cs typeface="Consolas"/>
              </a:rPr>
              <a:t>(){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return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~Shape2D() override {}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Circle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Circle(Point p1 , float radius , string name) :Shape2D(name)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p1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-&gt;radius =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float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3.14 * this-&gt;radius * this-&gt;radius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 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2 * 3.14 * this-&gt;radius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  <a:p>
            <a:endParaRPr lang="en-US" sz="120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  <a:p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endParaRPr lang="en-US" sz="1200" b="0">
              <a:solidFill>
                <a:srgbClr val="A5D6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9CEF01-1341-D019-59BF-8A9F6E654010}"/>
              </a:ext>
            </a:extLst>
          </p:cNvPr>
          <p:cNvSpPr/>
          <p:nvPr/>
        </p:nvSpPr>
        <p:spPr>
          <a:xfrm>
            <a:off x="416309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D3DED-9282-312D-9CEA-5B3B0F75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542E58-542F-4C5B-2041-42A42E12E6C7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F2D9629-3848-321D-5CE2-F74AB5426EA4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CB27F-5731-7107-557F-A480FEF3D0C5}"/>
              </a:ext>
            </a:extLst>
          </p:cNvPr>
          <p:cNvSpPr txBox="1"/>
          <p:nvPr/>
        </p:nvSpPr>
        <p:spPr>
          <a:xfrm>
            <a:off x="2282790" y="-2860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~Circle()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Square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, p2 , p3 , p4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Square(Point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>
                <a:latin typeface="Consolas"/>
                <a:ea typeface="Consolas"/>
                <a:cs typeface="Consolas"/>
              </a:rPr>
              <a:t>, float length,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-&gt;p4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= length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4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  ~Square()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Triangle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protected: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Point p1, p2, p3;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float tal1, tal2, tal3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public:</a:t>
            </a:r>
            <a:endParaRPr lang="en-US"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39430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F904D-E1C1-0819-2E02-6A26FC47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8FC17F-43A5-5555-46EC-B06F02220640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2CAA7-6288-1E82-FDFD-5FEDEE2DC55A}"/>
              </a:ext>
            </a:extLst>
          </p:cNvPr>
          <p:cNvSpPr txBox="1"/>
          <p:nvPr/>
        </p:nvSpPr>
        <p:spPr>
          <a:xfrm>
            <a:off x="2282790" y="225740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C9D1D9"/>
                </a:solidFill>
                <a:latin typeface="Consolas"/>
              </a:rPr>
              <a:t> </a:t>
            </a:r>
            <a:r>
              <a:rPr lang="en-US" sz="1100">
                <a:latin typeface="Consolas"/>
              </a:rPr>
              <a:t>Triangle</a:t>
            </a:r>
            <a:r>
              <a:rPr lang="en-US" sz="1100">
                <a:latin typeface="Consolas"/>
                <a:ea typeface="Consolas"/>
                <a:cs typeface="Consolas"/>
              </a:rPr>
              <a:t>(Point top, float a, string name) :Shape2D(name){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top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height = sqrt(3)/2 * a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top.x</a:t>
            </a:r>
            <a:r>
              <a:rPr lang="en-US" sz="1100">
                <a:latin typeface="Consolas"/>
                <a:ea typeface="Consolas"/>
                <a:cs typeface="Consolas"/>
              </a:rPr>
              <a:t> - a/2, </a:t>
            </a:r>
            <a:r>
              <a:rPr lang="en-US" sz="1100" err="1">
                <a:latin typeface="Consolas"/>
                <a:ea typeface="Consolas"/>
                <a:cs typeface="Consolas"/>
              </a:rPr>
              <a:t>top.y</a:t>
            </a:r>
            <a:r>
              <a:rPr lang="en-US" sz="1100">
                <a:latin typeface="Consolas"/>
                <a:ea typeface="Consolas"/>
                <a:cs typeface="Consolas"/>
              </a:rPr>
              <a:t> - height}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top.x</a:t>
            </a:r>
            <a:r>
              <a:rPr lang="en-US" sz="1100">
                <a:latin typeface="Consolas"/>
                <a:ea typeface="Consolas"/>
                <a:cs typeface="Consolas"/>
              </a:rPr>
              <a:t> + a/2, </a:t>
            </a:r>
            <a:r>
              <a:rPr lang="en-US" sz="1100" err="1">
                <a:latin typeface="Consolas"/>
                <a:ea typeface="Consolas"/>
                <a:cs typeface="Consolas"/>
              </a:rPr>
              <a:t>top.y</a:t>
            </a:r>
            <a:r>
              <a:rPr lang="en-US" sz="1100">
                <a:latin typeface="Consolas"/>
                <a:ea typeface="Consolas"/>
                <a:cs typeface="Consolas"/>
              </a:rPr>
              <a:t> - height}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=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-&gt;tal2 =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-&gt;tal3 = a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}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float 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 override</a:t>
            </a:r>
            <a:r>
              <a:rPr lang="en-US" sz="1100">
                <a:latin typeface="Consolas"/>
                <a:ea typeface="Consolas"/>
                <a:cs typeface="Consolas"/>
              </a:rPr>
              <a:t> 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latin typeface="Consolas"/>
                <a:ea typeface="Consolas"/>
                <a:cs typeface="Consolas"/>
              </a:rPr>
              <a:t>return </a:t>
            </a:r>
            <a:r>
              <a:rPr lang="en-US" sz="1100">
                <a:latin typeface="Consolas"/>
                <a:ea typeface="Consolas"/>
                <a:cs typeface="Consolas"/>
              </a:rPr>
              <a:t>(sqrt(</a:t>
            </a:r>
            <a:r>
              <a:rPr lang="en-US" sz="1100">
                <a:latin typeface="Consolas"/>
              </a:rPr>
              <a:t>3.0</a:t>
            </a:r>
            <a:r>
              <a:rPr lang="en-US" sz="1100">
                <a:latin typeface="Consolas"/>
                <a:ea typeface="Consolas"/>
                <a:cs typeface="Consolas"/>
              </a:rPr>
              <a:t>)/4) *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*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}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>
                <a:solidFill>
                  <a:schemeClr val="accent1"/>
                </a:solidFill>
                <a:latin typeface="Consolas"/>
              </a:rPr>
              <a:t>float </a:t>
            </a:r>
            <a:r>
              <a:rPr lang="en-US" sz="1100" err="1">
                <a:solidFill>
                  <a:schemeClr val="accent1"/>
                </a:solidFill>
                <a:latin typeface="Consolas"/>
              </a:rPr>
              <a:t>perimetr</a:t>
            </a:r>
            <a:r>
              <a:rPr lang="en-US" sz="1100">
                <a:solidFill>
                  <a:schemeClr val="accent1"/>
                </a:solidFill>
                <a:latin typeface="Consolas"/>
              </a:rPr>
              <a:t>() override</a:t>
            </a:r>
            <a:r>
              <a:rPr lang="en-US" sz="1100">
                <a:latin typeface="Consolas"/>
              </a:rPr>
              <a:t> 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return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+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-&gt;tal2 +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-&gt;tal3;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 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~Triangle() override {} </a:t>
            </a:r>
            <a:endParaRPr lang="en-US" sz="1100">
              <a:solidFill>
                <a:schemeClr val="accent1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sortByTalbai</a:t>
            </a:r>
            <a:r>
              <a:rPr lang="en-US" sz="1100">
                <a:latin typeface="Consolas"/>
                <a:ea typeface="Consolas"/>
                <a:cs typeface="Consolas"/>
              </a:rPr>
              <a:t>(Shape2D* shapes[], int n){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for(int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= 0;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&lt; n-1;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++)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for(int j = 0; j &lt; n-i-1; </a:t>
            </a:r>
            <a:r>
              <a:rPr lang="en-US" sz="1100" err="1">
                <a:latin typeface="Consolas"/>
                <a:ea typeface="Consolas"/>
                <a:cs typeface="Consolas"/>
              </a:rPr>
              <a:t>j++</a:t>
            </a:r>
            <a:r>
              <a:rPr lang="en-US" sz="1100">
                <a:latin typeface="Consolas"/>
                <a:ea typeface="Consolas"/>
                <a:cs typeface="Consolas"/>
              </a:rPr>
              <a:t>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if(shapes[j]-&gt;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 &gt; shapes[j+1]-&gt;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Shape2D* temp = shapes[j]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shapes[j] = shapes[j+1</a:t>
            </a:r>
            <a:r>
              <a:rPr lang="en-US" sz="1100">
                <a:latin typeface="Consolas"/>
              </a:rPr>
              <a:t>]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shapes[j+1] = temp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solidFill>
                <a:srgbClr val="C9D1D9"/>
              </a:solidFill>
              <a:latin typeface="Consolas"/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32D520-AD85-C58A-B3EC-E8B442CCECAC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7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27C87-CE54-7012-BF0A-93A9DF10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CF2684-B8BC-95B1-2539-16BAF6A26BA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006AC-C1F6-8974-5E3C-FF438B2064E5}"/>
              </a:ext>
            </a:extLst>
          </p:cNvPr>
          <p:cNvSpPr txBox="1"/>
          <p:nvPr/>
        </p:nvSpPr>
        <p:spPr>
          <a:xfrm>
            <a:off x="2284464" y="324410"/>
            <a:ext cx="4572000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</a:t>
            </a:r>
            <a:r>
              <a:rPr lang="en-US" sz="1100">
                <a:latin typeface="Consolas"/>
                <a:ea typeface="Consolas"/>
                <a:cs typeface="Consolas"/>
              </a:rPr>
              <a:t> 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sortByPerimetr</a:t>
            </a:r>
            <a:r>
              <a:rPr lang="en-US" sz="1100">
                <a:latin typeface="Consolas"/>
                <a:ea typeface="Consolas"/>
                <a:cs typeface="Consolas"/>
              </a:rPr>
              <a:t>(Shape2D* shapes[], int n){</a:t>
            </a: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for(int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= 0;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&lt; n-1;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++) {</a:t>
            </a:r>
          </a:p>
          <a:p>
            <a:r>
              <a:rPr lang="en-US" sz="1100">
                <a:latin typeface="Consolas"/>
                <a:ea typeface="Consolas"/>
                <a:cs typeface="Consolas"/>
              </a:rPr>
              <a:t> for(int j = 0; j &lt; n-i-1;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  <a:ea typeface="Consolas"/>
                <a:cs typeface="Consolas"/>
              </a:rPr>
              <a:t>j++</a:t>
            </a:r>
            <a:r>
              <a:rPr lang="en-US" sz="1100">
                <a:latin typeface="Consolas"/>
                <a:ea typeface="Consolas"/>
                <a:cs typeface="Consolas"/>
              </a:rPr>
              <a:t>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if(shapes[j]-&gt;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latin typeface="Consolas"/>
                <a:ea typeface="Consolas"/>
                <a:cs typeface="Consolas"/>
              </a:rPr>
              <a:t>&gt; shapes[j+1]-&gt;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Shape2D* temp = shapes[j];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shapes[j] = shapes[j+1];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shapes[j+1] = temp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void </a:t>
            </a:r>
            <a:r>
              <a:rPr lang="en-US" sz="1100" err="1">
                <a:solidFill>
                  <a:srgbClr val="21B5B0"/>
                </a:solidFill>
                <a:latin typeface="Consolas"/>
              </a:rPr>
              <a:t>printShapes</a:t>
            </a:r>
            <a:r>
              <a:rPr lang="en-US" sz="1100">
                <a:latin typeface="Consolas"/>
              </a:rPr>
              <a:t>(Shape2D* shapes[], int n){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for(int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= 0;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&lt; n;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++){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i+1 &lt;&lt; ". "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latin typeface="Consolas"/>
              </a:rPr>
              <a:t>getName</a:t>
            </a:r>
            <a:r>
              <a:rPr lang="en-US" sz="1100">
                <a:latin typeface="Consolas"/>
              </a:rPr>
              <a:t>()&lt;&lt;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   </a:t>
            </a:r>
            <a:r>
              <a:rPr lang="en-US" sz="1100" err="1">
                <a:latin typeface="Consolas"/>
              </a:rPr>
              <a:t>Talbai</a:t>
            </a:r>
            <a:r>
              <a:rPr lang="en-US" sz="1100">
                <a:latin typeface="Consolas"/>
              </a:rPr>
              <a:t>   : " &lt;&lt; fixed&lt;&lt;</a:t>
            </a:r>
            <a:r>
              <a:rPr lang="en-US" sz="1100" err="1">
                <a:latin typeface="Consolas"/>
              </a:rPr>
              <a:t>setprecision</a:t>
            </a:r>
            <a:r>
              <a:rPr lang="en-US" sz="1100">
                <a:latin typeface="Consolas"/>
              </a:rPr>
              <a:t>(2)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talbai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   </a:t>
            </a:r>
            <a:r>
              <a:rPr lang="en-US" sz="1100" err="1">
                <a:latin typeface="Consolas"/>
              </a:rPr>
              <a:t>Perimetr</a:t>
            </a:r>
            <a:r>
              <a:rPr lang="en-US" sz="1100">
                <a:latin typeface="Consolas"/>
              </a:rPr>
              <a:t> : " &lt;&lt; fixed&lt;&lt;</a:t>
            </a:r>
            <a:r>
              <a:rPr lang="en-US" sz="1100" err="1">
                <a:latin typeface="Consolas"/>
              </a:rPr>
              <a:t>setprecision</a:t>
            </a:r>
            <a:r>
              <a:rPr lang="en-US" sz="1100">
                <a:latin typeface="Consolas"/>
              </a:rPr>
              <a:t>(2)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"------------------"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solidFill>
                <a:srgbClr val="BBBEBF"/>
              </a:solidFill>
              <a:latin typeface="Consolas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37BBFF-DC17-DD04-570C-A929DA85E38D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89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48967-DD49-EB24-27EA-F5D9CA1B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0FA12-F48C-8B09-7243-1F9BB7A47373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EF1F3-26CC-D92A-D574-487E5E57F446}"/>
              </a:ext>
            </a:extLst>
          </p:cNvPr>
          <p:cNvSpPr txBox="1"/>
          <p:nvPr/>
        </p:nvSpPr>
        <p:spPr>
          <a:xfrm>
            <a:off x="2284743" y="663680"/>
            <a:ext cx="45720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  <a:ea typeface="Consolas"/>
                <a:cs typeface="Consolas"/>
              </a:rPr>
              <a:t>int main</a:t>
            </a:r>
            <a:r>
              <a:rPr lang="en-US" sz="1100">
                <a:latin typeface="Consolas"/>
              </a:rPr>
              <a:t>() {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"Object </a:t>
            </a:r>
            <a:r>
              <a:rPr lang="en-US" sz="1100" err="1">
                <a:latin typeface="Consolas"/>
              </a:rPr>
              <a:t>uuseegui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uyd</a:t>
            </a:r>
            <a:r>
              <a:rPr lang="en-US" sz="1100">
                <a:latin typeface="Consolas"/>
              </a:rPr>
              <a:t> : "&lt;&lt;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"======================================\n"&lt;&lt;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int n = 6 ;</a:t>
            </a:r>
          </a:p>
          <a:p>
            <a:r>
              <a:rPr lang="en-US" sz="1100">
                <a:latin typeface="Consolas"/>
              </a:rPr>
              <a:t>    Shape2D** shapes = new Shape2D*[n];</a:t>
            </a:r>
          </a:p>
          <a:p>
            <a:r>
              <a:rPr lang="en-US" sz="1100">
                <a:latin typeface="Consolas"/>
              </a:rPr>
              <a:t>    shapes[0] = new Circle({0,0}, 5, "Circle1");</a:t>
            </a:r>
          </a:p>
          <a:p>
            <a:r>
              <a:rPr lang="en-US" sz="1100">
                <a:latin typeface="Consolas"/>
              </a:rPr>
              <a:t>    shapes[1] = new Square({0,10}, 4, "Square1");</a:t>
            </a:r>
          </a:p>
          <a:p>
            <a:r>
              <a:rPr lang="en-US" sz="1100">
                <a:latin typeface="Consolas"/>
              </a:rPr>
              <a:t>    shapes[2] = new Triangle({0,10}, 6, "Triangle1");</a:t>
            </a:r>
          </a:p>
          <a:p>
            <a:r>
              <a:rPr lang="en-US" sz="1100">
                <a:latin typeface="Consolas"/>
              </a:rPr>
              <a:t>    shapes[3] = new Circle({1,1}, 3, "Circle2");</a:t>
            </a:r>
          </a:p>
          <a:p>
            <a:r>
              <a:rPr lang="en-US" sz="1100">
                <a:latin typeface="Consolas"/>
              </a:rPr>
              <a:t>    shapes[4] = new Square({2,8}, 2, "Square2");</a:t>
            </a:r>
          </a:p>
          <a:p>
            <a:r>
              <a:rPr lang="en-US" sz="1100">
                <a:latin typeface="Consolas"/>
              </a:rPr>
              <a:t>    shapes[5] = new Triangle({2,5}, 4, "Triangle2");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</a:t>
            </a:r>
            <a:r>
              <a:rPr lang="en-US" sz="1100" err="1">
                <a:latin typeface="Consolas"/>
              </a:rPr>
              <a:t>Uussen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niit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objectiin</a:t>
            </a:r>
            <a:r>
              <a:rPr lang="en-US" sz="1100">
                <a:latin typeface="Consolas"/>
              </a:rPr>
              <a:t> too (static counter):" &lt;&lt;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 "\n"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endParaRPr lang="en-US" sz="1100">
              <a:latin typeface="Consolas"/>
            </a:endParaRPr>
          </a:p>
          <a:p>
            <a:endParaRPr lang="en-US" sz="1100">
              <a:latin typeface="Consolas"/>
            </a:endParaRPr>
          </a:p>
          <a:p>
            <a:r>
              <a:rPr lang="en-US" sz="1100">
                <a:solidFill>
                  <a:srgbClr val="BBBEBF"/>
                </a:solidFill>
                <a:latin typeface="Consolas"/>
              </a:rPr>
              <a:t>    </a:t>
            </a:r>
            <a:endParaRPr lang="en-US" sz="1100" b="0">
              <a:solidFill>
                <a:srgbClr val="BBBEB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D4272A-8897-E3C7-4E00-7E1A47247DB0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9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551D7-4500-70B2-35B6-041CD2DB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270563-676F-AD0E-EFB1-82CC6F030689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CB9BA-1C61-F1CD-56CA-10A31218DE56}"/>
              </a:ext>
            </a:extLst>
          </p:cNvPr>
          <p:cNvSpPr txBox="1"/>
          <p:nvPr/>
        </p:nvSpPr>
        <p:spPr>
          <a:xfrm>
            <a:off x="2285859" y="154843"/>
            <a:ext cx="457200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// ===== </a:t>
            </a:r>
            <a:r>
              <a:rPr lang="en-US" sz="1100" err="1">
                <a:latin typeface="Consolas"/>
              </a:rPr>
              <a:t>Талбайгаар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эрэмбэлж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хэвлэх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sortByTalbai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 </a:t>
            </a:r>
            <a:r>
              <a:rPr lang="en-US" sz="1100" err="1">
                <a:latin typeface="Consolas"/>
              </a:rPr>
              <a:t>Talbaigaar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erembelsen</a:t>
            </a:r>
            <a:r>
              <a:rPr lang="en-US" sz="1100">
                <a:latin typeface="Consolas"/>
              </a:rPr>
              <a:t> ==="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 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 // ===== </a:t>
            </a:r>
            <a:r>
              <a:rPr lang="en-US" sz="1100" err="1">
                <a:latin typeface="Consolas"/>
              </a:rPr>
              <a:t>Периметрээр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эрэмбэлж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хэвлэх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sortByPerimetr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 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"\n======================================"&lt;&lt;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 </a:t>
            </a:r>
            <a:r>
              <a:rPr lang="en-US" sz="1100" err="1">
                <a:latin typeface="Consolas"/>
              </a:rPr>
              <a:t>Perimetreer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erembelsen</a:t>
            </a:r>
            <a:r>
              <a:rPr lang="en-US" sz="1100">
                <a:latin typeface="Consolas"/>
              </a:rPr>
              <a:t> ==="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 // ===== Memory </a:t>
            </a:r>
            <a:r>
              <a:rPr lang="en-US" sz="1100" err="1">
                <a:latin typeface="Consolas"/>
              </a:rPr>
              <a:t>цэвэрлэх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 for(int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= 0;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&lt; n;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++){</a:t>
            </a:r>
          </a:p>
          <a:p>
            <a:r>
              <a:rPr lang="en-US" sz="1100">
                <a:latin typeface="Consolas"/>
              </a:rPr>
              <a:t>        delete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];</a:t>
            </a:r>
          </a:p>
          <a:p>
            <a:r>
              <a:rPr lang="en-US" sz="1100">
                <a:latin typeface="Consolas"/>
              </a:rPr>
              <a:t>    }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delete[] shapes</a:t>
            </a:r>
            <a:r>
              <a:rPr lang="en-US" sz="1100">
                <a:latin typeface="Consolas"/>
                <a:ea typeface="Consolas"/>
                <a:cs typeface="Consolas"/>
              </a:rPr>
              <a:t>;</a:t>
            </a:r>
          </a:p>
          <a:p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 "\n Object </a:t>
            </a:r>
            <a:r>
              <a:rPr lang="en-US" sz="1100" err="1">
                <a:latin typeface="Consolas"/>
              </a:rPr>
              <a:t>ustgasnii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daraah</a:t>
            </a:r>
            <a:r>
              <a:rPr lang="en-US" sz="1100">
                <a:latin typeface="Consolas"/>
              </a:rPr>
              <a:t> static </a:t>
            </a:r>
            <a:r>
              <a:rPr lang="en-US" sz="1100" err="1">
                <a:latin typeface="Consolas"/>
              </a:rPr>
              <a:t>huvisagch</a:t>
            </a:r>
            <a:r>
              <a:rPr lang="en-US" sz="1100">
                <a:latin typeface="Consolas"/>
              </a:rPr>
              <a:t>(static counter): " &lt;&lt; 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 </a:t>
            </a:r>
            <a:r>
              <a:rPr lang="en-US" sz="1100">
                <a:latin typeface="Consolas"/>
              </a:rPr>
              <a:t>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return 0;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/>
          </a:p>
          <a:p>
            <a:endParaRPr lang="en-US" sz="1100" b="0">
              <a:solidFill>
                <a:srgbClr val="BBBEB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1988C3-0F2F-8290-D178-6A7AF14D76D3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9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4040</Words>
  <Application>Microsoft Office PowerPoint</Application>
  <PresentationFormat>On-screen Show (16:9)</PresentationFormat>
  <Paragraphs>604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OOP Lab 8 - IRIS Team</dc:title>
  <dc:subject>PptxGenJS Presentation</dc:subject>
  <dc:creator>PptxGenJS</dc:creator>
  <cp:lastModifiedBy>ERDENEBULGAN Otgonbayar</cp:lastModifiedBy>
  <cp:revision>88</cp:revision>
  <dcterms:created xsi:type="dcterms:W3CDTF">2026-04-28T06:19:54Z</dcterms:created>
  <dcterms:modified xsi:type="dcterms:W3CDTF">2026-04-29T23:49:41Z</dcterms:modified>
</cp:coreProperties>
</file>