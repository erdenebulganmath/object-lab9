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1" r:id="rId7"/>
    <p:sldId id="269" r:id="rId8"/>
    <p:sldId id="270" r:id="rId9"/>
    <p:sldId id="262" r:id="rId10"/>
    <p:sldId id="263" r:id="rId11"/>
    <p:sldId id="264" r:id="rId12"/>
    <p:sldId id="271" r:id="rId13"/>
    <p:sldId id="272" r:id="rId14"/>
    <p:sldId id="273" r:id="rId15"/>
    <p:sldId id="282" r:id="rId16"/>
    <p:sldId id="283" r:id="rId17"/>
    <p:sldId id="284" r:id="rId18"/>
    <p:sldId id="274" r:id="rId19"/>
    <p:sldId id="266" r:id="rId20"/>
    <p:sldId id="267" r:id="rId21"/>
    <p:sldId id="275" r:id="rId22"/>
    <p:sldId id="276" r:id="rId23"/>
    <p:sldId id="277" r:id="rId24"/>
    <p:sldId id="278" r:id="rId25"/>
    <p:sldId id="279" r:id="rId26"/>
    <p:sldId id="280" r:id="rId27"/>
    <p:sldId id="281" r:id="rId2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082E0"/>
    <a:srgbClr val="5ED1E3"/>
    <a:srgbClr val="4FBBC4"/>
    <a:srgbClr val="21B5B0"/>
    <a:srgbClr val="FF8080"/>
    <a:srgbClr val="67E8F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880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RDENEBULGAN Otgonbayar" userId="bec125cd-7ef1-4687-9ea2-2720d4118683" providerId="ADAL" clId="{AE7BCB0D-CAB0-4CB1-82D5-4EAD9B91E054}"/>
    <pc:docChg chg="modSld">
      <pc:chgData name="ERDENEBULGAN Otgonbayar" userId="bec125cd-7ef1-4687-9ea2-2720d4118683" providerId="ADAL" clId="{AE7BCB0D-CAB0-4CB1-82D5-4EAD9B91E054}" dt="2026-05-03T13:33:44.029" v="58" actId="20577"/>
      <pc:docMkLst>
        <pc:docMk/>
      </pc:docMkLst>
      <pc:sldChg chg="modSp mod">
        <pc:chgData name="ERDENEBULGAN Otgonbayar" userId="bec125cd-7ef1-4687-9ea2-2720d4118683" providerId="ADAL" clId="{AE7BCB0D-CAB0-4CB1-82D5-4EAD9B91E054}" dt="2026-05-03T13:33:44.029" v="58" actId="20577"/>
        <pc:sldMkLst>
          <pc:docMk/>
          <pc:sldMk cId="0" sldId="256"/>
        </pc:sldMkLst>
        <pc:spChg chg="mod">
          <ac:chgData name="ERDENEBULGAN Otgonbayar" userId="bec125cd-7ef1-4687-9ea2-2720d4118683" providerId="ADAL" clId="{AE7BCB0D-CAB0-4CB1-82D5-4EAD9B91E054}" dt="2026-05-03T13:33:44.029" v="58" actId="20577"/>
          <ac:spMkLst>
            <pc:docMk/>
            <pc:sldMk cId="0" sldId="256"/>
            <ac:spMk id="5" creationId="{00000000-0000-0000-0000-000000000000}"/>
          </ac:spMkLst>
        </pc:spChg>
        <pc:spChg chg="mod">
          <ac:chgData name="ERDENEBULGAN Otgonbayar" userId="bec125cd-7ef1-4687-9ea2-2720d4118683" providerId="ADAL" clId="{AE7BCB0D-CAB0-4CB1-82D5-4EAD9B91E054}" dt="2026-05-03T13:33:15.228" v="11" actId="20577"/>
          <ac:spMkLst>
            <pc:docMk/>
            <pc:sldMk cId="0" sldId="256"/>
            <ac:spMk id="9" creationId="{00000000-0000-0000-0000-000000000000}"/>
          </ac:spMkLst>
        </pc:spChg>
        <pc:spChg chg="mod">
          <ac:chgData name="ERDENEBULGAN Otgonbayar" userId="bec125cd-7ef1-4687-9ea2-2720d4118683" providerId="ADAL" clId="{AE7BCB0D-CAB0-4CB1-82D5-4EAD9B91E054}" dt="2026-05-03T13:33:37.864" v="54" actId="20577"/>
          <ac:spMkLst>
            <pc:docMk/>
            <pc:sldMk cId="0" sldId="256"/>
            <ac:spMk id="10" creationId="{00000000-0000-0000-0000-000000000000}"/>
          </ac:spMkLst>
        </pc:spChg>
      </pc:sldChg>
      <pc:sldChg chg="modSp mod">
        <pc:chgData name="ERDENEBULGAN Otgonbayar" userId="bec125cd-7ef1-4687-9ea2-2720d4118683" providerId="ADAL" clId="{AE7BCB0D-CAB0-4CB1-82D5-4EAD9B91E054}" dt="2026-04-29T23:49:30.789" v="2" actId="1076"/>
        <pc:sldMkLst>
          <pc:docMk/>
          <pc:sldMk cId="0" sldId="266"/>
        </pc:sldMkLst>
        <pc:spChg chg="mod">
          <ac:chgData name="ERDENEBULGAN Otgonbayar" userId="bec125cd-7ef1-4687-9ea2-2720d4118683" providerId="ADAL" clId="{AE7BCB0D-CAB0-4CB1-82D5-4EAD9B91E054}" dt="2026-04-29T23:49:30.789" v="2" actId="1076"/>
          <ac:spMkLst>
            <pc:docMk/>
            <pc:sldMk cId="0" sldId="266"/>
            <ac:spMk id="16" creationId="{9727537E-695D-CE93-877B-E8758D8BC603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05A0DE-5506-44C5-B6E0-9BF11DB207C7}" type="datetimeFigureOut">
              <a:t>5/3/2026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990F0D-23E4-4F71-B22C-FDECCF147072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4993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80DA7-6380-6D73-B06F-50B74CFCEF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BA80AA-8ED9-0805-6ACA-434C787B66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9DBC25-3D1D-47DA-17B0-D25487E6C5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FA6ACD-3E7E-B8ED-3003-6A39EBA6287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2334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028134-4508-7BD8-57CF-67D280B5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055FD3-0B8C-222C-809C-552ACF723D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2059F3-B3FA-F726-62B4-BCF1A2FB0C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1B7384-3835-09BA-6327-7074C9E5DE6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2938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70949A-5B86-7FF0-A0DF-5FD9A11273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F7DAB7-54DF-8DAD-6AD1-E2012167F5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A8B770-E14D-2941-D2A1-D0CAAB31E8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031366-EE4D-E21F-D9DE-018F7EA8D6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481896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13272F-ABB7-0865-6A43-A7CB3AAF0B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27664E-57BB-86DC-0AF2-78C72CCABA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2EC893-4950-81E1-AB80-445F9EB844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CCB884-FBE7-903D-AB56-3CB928B8803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713342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67C641-5D9B-707D-B8CD-B840D9B34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D8875D-AC85-94E3-E5E6-8DE026AD78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2B37F3-BA8C-A8A5-E077-46F834A197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8F257E-F888-982F-47DC-5292EE0CB1C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896614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8A645-80A4-B790-6030-F0C4E5FF3D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E49560-18AC-C4E8-8D1B-5C867C1017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5ACAE0-CE9E-CFE6-2C35-3B36FD2C93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D656AE-4216-E267-0621-E85758267F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59802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E81E60-453E-DEF1-E627-FB50361BC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CEFBD3-7FBC-A138-4197-62BD03E9BF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92C7E6-5236-901E-49BA-7238D0BD09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6F6D55-9A03-C81F-DE4C-78C70BD417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390295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F6906D-46BC-BC46-71BB-56DD73981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274FC6-F93F-784D-E3CF-DBC429D998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B08022-0A95-8FDB-9479-F5A642961B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46CE6C-A3F7-4448-48DE-24BA2965D2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730341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8C6DCE-4B74-1BAC-D2CC-86463DBAF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2EBB9C-3819-C7A6-42F0-FC46BF4471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B69FCE-14A4-25CE-325E-40336DE4F4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ED8B16-5BEA-615F-06E0-3616280D3D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59592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38497-BB47-A46B-9B83-33590D9FB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7C980F-872D-41B8-EB7F-796CC4CF59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184AC5-14CA-521C-0A71-D3E5FDF910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CA6462-33D7-1B03-1F94-3DBB0F12E8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602282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523EA7-062D-6BFA-C7CF-F15CCE871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859A6A-A9AD-F325-99C0-EF2B4F8A94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7613A4-8463-EFA8-6215-B83051E8B3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943746-A79E-8083-ADC8-B91B7052B0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047138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5188A-E5B6-8A10-806F-AB4BCCC914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2F7DF7-C78C-E941-AB40-6BDAD7E749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9910B9-4865-159B-89F0-1D9C406332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CB8ECA-3FBD-1DAB-13E3-36E6063A7C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786854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6F9F87-A1DB-5B07-D6F6-29CBB39D3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4AEBC9-5143-EFC6-7193-F7BE93E4CF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A5C014-EF54-8932-C836-02745B33C5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354972-9C47-839C-19C7-BD8BBEF0F3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42941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729802-7109-67CB-3118-48B6097F6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4B83CC-6957-2781-0B0B-B20CF61C84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097AAD-3CDB-5D52-EA66-EBA59A48FD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0917D8-729B-ACA6-9EE8-ED76775DA2B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526614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E9DDF9-AFC2-E0B8-4B73-E45C44745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6C580C-3305-889C-F9C7-72BB474905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DED3C-7F24-EC73-00D0-3C20DB9F02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6E1D69-C5A9-3921-E182-B88FA757F90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54441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E4C20D-3FC0-1760-1DB5-8EDEFA4BE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77EC6C-A56F-8A64-FAFD-386D8DAD80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54FBFB-E6E9-59EB-F148-15197CFB00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B4F4AF-57B3-6B96-A6F4-41214AF77BC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15872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hf hdr="0" dt="0"/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latin typeface="Calibri"/>
                <a:ea typeface="Calibri"/>
                <a:cs typeface="Calibri"/>
              </a:rPr>
              <a:t>Лабораторийн </a:t>
            </a:r>
            <a:r>
              <a:rPr lang="en-US" sz="1400" b="1" dirty="0" err="1">
                <a:latin typeface="Calibri"/>
                <a:ea typeface="Calibri"/>
                <a:cs typeface="Calibri"/>
              </a:rPr>
              <a:t>ажил</a:t>
            </a:r>
            <a:r>
              <a:rPr lang="en-US" sz="1400" b="1" dirty="0">
                <a:latin typeface="Calibri"/>
                <a:ea typeface="Calibri"/>
                <a:cs typeface="Calibri"/>
              </a:rPr>
              <a:t> №9</a:t>
            </a:r>
            <a:endParaRPr lang="en-US" sz="1400" dirty="0">
              <a:latin typeface="Calibri"/>
              <a:ea typeface="Calibri"/>
              <a:cs typeface="Calibri"/>
            </a:endParaRPr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latin typeface="Calibri"/>
                <a:ea typeface="Calibri"/>
                <a:cs typeface="Calibri"/>
              </a:rPr>
              <a:t>C++ Static </a:t>
            </a:r>
            <a:r>
              <a:rPr lang="en-US" sz="4000" b="1" noProof="1">
                <a:latin typeface="Calibri"/>
                <a:ea typeface="Calibri"/>
                <a:cs typeface="Calibri"/>
              </a:rPr>
              <a:t>гишүүн өгөгдөл,</a:t>
            </a:r>
            <a:endParaRPr lang="en-US" sz="4000" noProof="1">
              <a:latin typeface="Calibri"/>
              <a:ea typeface="Calibri"/>
              <a:cs typeface="Calibri"/>
            </a:endParaRPr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err="1">
                <a:latin typeface="Calibri"/>
                <a:ea typeface="Calibri"/>
                <a:cs typeface="Calibri"/>
              </a:rPr>
              <a:t>Хийсвэр</a:t>
            </a:r>
            <a:r>
              <a:rPr lang="en-US" sz="4000" b="1">
                <a:latin typeface="Calibri"/>
                <a:ea typeface="Calibri"/>
                <a:cs typeface="Calibri"/>
              </a:rPr>
              <a:t> </a:t>
            </a:r>
            <a:r>
              <a:rPr lang="en-US" sz="4000" b="1" err="1">
                <a:latin typeface="Calibri"/>
                <a:ea typeface="Calibri"/>
                <a:cs typeface="Calibri"/>
              </a:rPr>
              <a:t>функц</a:t>
            </a:r>
            <a:endParaRPr lang="en-US" sz="4000">
              <a:latin typeface="Calibri"/>
              <a:ea typeface="Calibri"/>
              <a:cs typeface="Calibri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" y="2537801"/>
            <a:ext cx="4114800" cy="36576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2721685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 err="1">
                <a:latin typeface="Calibri"/>
                <a:ea typeface="Calibri"/>
                <a:cs typeface="Calibri"/>
              </a:rPr>
              <a:t>Баг</a:t>
            </a:r>
            <a:r>
              <a:rPr lang="en-US" sz="1600" dirty="0">
                <a:latin typeface="Calibri"/>
                <a:ea typeface="Calibri"/>
                <a:cs typeface="Calibri"/>
              </a:rPr>
              <a:t> : IRIS</a:t>
            </a:r>
          </a:p>
        </p:txBody>
      </p:sp>
      <p:sp>
        <p:nvSpPr>
          <p:cNvPr id="10" name="Text 8"/>
          <p:cNvSpPr/>
          <p:nvPr/>
        </p:nvSpPr>
        <p:spPr>
          <a:xfrm>
            <a:off x="457199" y="327234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latin typeface="Calibri"/>
                <a:ea typeface="Calibri"/>
                <a:cs typeface="Calibri"/>
              </a:rPr>
              <a:t>• </a:t>
            </a:r>
            <a:r>
              <a:rPr lang="en-US" sz="1400" dirty="0" err="1">
                <a:latin typeface="Calibri"/>
                <a:ea typeface="Calibri"/>
                <a:cs typeface="Calibri"/>
              </a:rPr>
              <a:t>О.Эрдэнэбулган</a:t>
            </a:r>
            <a:r>
              <a:rPr lang="en-US" sz="1400" dirty="0">
                <a:latin typeface="Calibri"/>
                <a:ea typeface="Calibri"/>
                <a:cs typeface="Calibri"/>
              </a:rPr>
              <a:t> (</a:t>
            </a:r>
            <a:r>
              <a:rPr lang="en-US" sz="1400" dirty="0" err="1">
                <a:latin typeface="Calibri"/>
                <a:ea typeface="Calibri"/>
                <a:cs typeface="Calibri"/>
              </a:rPr>
              <a:t>Багийн</a:t>
            </a:r>
            <a:r>
              <a:rPr lang="en-US" sz="1400" dirty="0">
                <a:latin typeface="Calibri"/>
                <a:ea typeface="Calibri"/>
                <a:cs typeface="Calibri"/>
              </a:rPr>
              <a:t> </a:t>
            </a:r>
            <a:r>
              <a:rPr lang="en-US" sz="1400" dirty="0" err="1">
                <a:latin typeface="Calibri"/>
                <a:ea typeface="Calibri"/>
                <a:cs typeface="Calibri"/>
              </a:rPr>
              <a:t>ахлагч</a:t>
            </a:r>
            <a:r>
              <a:rPr lang="en-US" sz="1400" dirty="0">
                <a:latin typeface="Calibri"/>
                <a:ea typeface="Calibri"/>
                <a:cs typeface="Calibri"/>
              </a:rPr>
              <a:t>)</a:t>
            </a:r>
            <a:endParaRPr lang="en-US" dirty="0">
              <a:ea typeface="Calibri" panose="020F0502020204030204"/>
              <a:cs typeface="Calibri" panose="020F0502020204030204"/>
            </a:endParaRPr>
          </a:p>
          <a:p>
            <a:pPr algn="just"/>
            <a:r>
              <a:rPr lang="en-US" sz="1400" dirty="0">
                <a:latin typeface="Calibri"/>
                <a:ea typeface="Calibri"/>
                <a:cs typeface="Calibri"/>
              </a:rPr>
              <a:t>• </a:t>
            </a:r>
            <a:r>
              <a:rPr lang="mn-MN" sz="1400" dirty="0">
                <a:latin typeface="Calibri"/>
                <a:ea typeface="Calibri"/>
                <a:cs typeface="Calibri"/>
              </a:rPr>
              <a:t>С.Энхболд</a:t>
            </a:r>
            <a:endParaRPr lang="en-US" sz="1400" dirty="0">
              <a:latin typeface="Calibri"/>
              <a:ea typeface="Calibri"/>
              <a:cs typeface="Calibri"/>
            </a:endParaRPr>
          </a:p>
          <a:p>
            <a:pPr algn="just"/>
            <a:r>
              <a:rPr lang="en-US" sz="1400" dirty="0">
                <a:latin typeface="Calibri"/>
                <a:ea typeface="Calibri"/>
                <a:cs typeface="Calibri"/>
              </a:rPr>
              <a:t>• </a:t>
            </a:r>
            <a:r>
              <a:rPr lang="mn-MN" sz="1400" dirty="0">
                <a:latin typeface="Calibri"/>
                <a:ea typeface="Calibri"/>
                <a:cs typeface="Calibri"/>
              </a:rPr>
              <a:t>П</a:t>
            </a:r>
            <a:r>
              <a:rPr lang="en-US" sz="1400" dirty="0">
                <a:latin typeface="Calibri"/>
                <a:ea typeface="Calibri"/>
                <a:cs typeface="Calibri"/>
              </a:rPr>
              <a:t>.</a:t>
            </a:r>
            <a:r>
              <a:rPr lang="mn-MN" sz="1400" dirty="0">
                <a:latin typeface="Calibri"/>
                <a:ea typeface="Calibri"/>
                <a:cs typeface="Calibri"/>
              </a:rPr>
              <a:t>Энхтүвшин</a:t>
            </a:r>
            <a:endParaRPr lang="en-US" sz="1400" dirty="0">
              <a:latin typeface="Calibri"/>
              <a:ea typeface="Calibri"/>
              <a:cs typeface="Calibri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57200" y="4480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МУИС • МТЭС • МКУТ • 2026 </a:t>
            </a:r>
            <a:endParaRPr lang="en-US" sz="1400"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latin typeface="Times New Roman"/>
                <a:ea typeface="Calibri"/>
                <a:cs typeface="Times New Roman"/>
              </a:rPr>
              <a:t>АГУУЛГА</a:t>
            </a:r>
          </a:p>
        </p:txBody>
      </p:sp>
      <p:sp>
        <p:nvSpPr>
          <p:cNvPr id="5" name="Shape 3"/>
          <p:cNvSpPr/>
          <p:nvPr/>
        </p:nvSpPr>
        <p:spPr>
          <a:xfrm>
            <a:off x="402771" y="769982"/>
            <a:ext cx="502920" cy="502920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02771" y="76998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/>
          </a:p>
        </p:txBody>
      </p:sp>
      <p:sp>
        <p:nvSpPr>
          <p:cNvPr id="7" name="Text 5"/>
          <p:cNvSpPr/>
          <p:nvPr/>
        </p:nvSpPr>
        <p:spPr>
          <a:xfrm>
            <a:off x="1088571" y="78827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err="1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Удиртгал</a:t>
            </a:r>
            <a:endParaRPr lang="en-US" sz="1600" err="1">
              <a:latin typeface="Times New Roman"/>
              <a:ea typeface="Calibri"/>
              <a:cs typeface="Times New Roman"/>
            </a:endParaRPr>
          </a:p>
        </p:txBody>
      </p:sp>
      <p:sp>
        <p:nvSpPr>
          <p:cNvPr id="8" name="Text 6"/>
          <p:cNvSpPr/>
          <p:nvPr/>
        </p:nvSpPr>
        <p:spPr>
          <a:xfrm>
            <a:off x="1088571" y="1044302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err="1">
                <a:solidFill>
                  <a:schemeClr val="bg1">
                    <a:lumMod val="49000"/>
                  </a:schemeClr>
                </a:solidFill>
                <a:latin typeface="Calibri"/>
                <a:ea typeface="Calibri"/>
                <a:cs typeface="Calibri"/>
              </a:rPr>
              <a:t>Багийн</a:t>
            </a:r>
            <a:r>
              <a:rPr lang="en-US" sz="1100">
                <a:solidFill>
                  <a:schemeClr val="bg1">
                    <a:lumMod val="49000"/>
                  </a:schemeClr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100" err="1">
                <a:solidFill>
                  <a:schemeClr val="bg1">
                    <a:lumMod val="49000"/>
                  </a:schemeClr>
                </a:solidFill>
                <a:latin typeface="Calibri"/>
                <a:ea typeface="Calibri"/>
                <a:cs typeface="Calibri"/>
              </a:rPr>
              <a:t>мэдээлэл</a:t>
            </a:r>
            <a:r>
              <a:rPr lang="en-US" sz="1100">
                <a:solidFill>
                  <a:schemeClr val="bg1">
                    <a:lumMod val="49000"/>
                  </a:schemeClr>
                </a:solidFill>
                <a:latin typeface="Calibri"/>
                <a:ea typeface="Calibri"/>
                <a:cs typeface="Calibri"/>
              </a:rPr>
              <a:t>, </a:t>
            </a:r>
            <a:r>
              <a:rPr lang="en-US" sz="1100" err="1">
                <a:solidFill>
                  <a:schemeClr val="bg1">
                    <a:lumMod val="49000"/>
                  </a:schemeClr>
                </a:solidFill>
                <a:latin typeface="Calibri"/>
                <a:ea typeface="Calibri"/>
                <a:cs typeface="Calibri"/>
              </a:rPr>
              <a:t>зорилго</a:t>
            </a:r>
            <a:endParaRPr lang="en-US" sz="1100">
              <a:solidFill>
                <a:schemeClr val="bg1">
                  <a:lumMod val="49000"/>
                </a:schemeClr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02771" y="1364342"/>
            <a:ext cx="822960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02771" y="1547222"/>
            <a:ext cx="502920" cy="502920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02771" y="154722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/>
          </a:p>
        </p:txBody>
      </p:sp>
      <p:sp>
        <p:nvSpPr>
          <p:cNvPr id="12" name="Text 10"/>
          <p:cNvSpPr/>
          <p:nvPr/>
        </p:nvSpPr>
        <p:spPr>
          <a:xfrm>
            <a:off x="1088571" y="156551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err="1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Онолын</a:t>
            </a:r>
            <a:r>
              <a:rPr lang="en-US" sz="1600" b="1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600" b="1" err="1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судалгаа</a:t>
            </a:r>
            <a:endParaRPr lang="en-US" sz="1600">
              <a:latin typeface="Times New Roman"/>
              <a:ea typeface="Calibri"/>
              <a:cs typeface="Times New Roman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088571" y="1821542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chemeClr val="bg1">
                    <a:lumMod val="49000"/>
                  </a:schemeClr>
                </a:solidFill>
                <a:latin typeface="Calibri"/>
                <a:ea typeface="Calibri"/>
                <a:cs typeface="Calibri"/>
              </a:rPr>
              <a:t>This, </a:t>
            </a:r>
            <a:r>
              <a:rPr lang="en-US" sz="1100" err="1">
                <a:solidFill>
                  <a:schemeClr val="bg1">
                    <a:lumMod val="49000"/>
                  </a:schemeClr>
                </a:solidFill>
                <a:latin typeface="Calibri"/>
                <a:ea typeface="Calibri"/>
                <a:cs typeface="Calibri"/>
              </a:rPr>
              <a:t>Полиморфизм</a:t>
            </a:r>
            <a:r>
              <a:rPr lang="en-US" sz="1100">
                <a:solidFill>
                  <a:schemeClr val="bg1">
                    <a:lumMod val="49000"/>
                  </a:schemeClr>
                </a:solidFill>
                <a:latin typeface="Calibri"/>
                <a:ea typeface="Calibri"/>
                <a:cs typeface="Calibri"/>
              </a:rPr>
              <a:t>, Static, </a:t>
            </a:r>
            <a:r>
              <a:rPr lang="en-US" sz="1100" err="1">
                <a:solidFill>
                  <a:schemeClr val="bg1">
                    <a:lumMod val="49000"/>
                  </a:schemeClr>
                </a:solidFill>
                <a:latin typeface="Calibri"/>
                <a:ea typeface="Calibri"/>
                <a:cs typeface="Calibri"/>
              </a:rPr>
              <a:t>Хийсвэр</a:t>
            </a:r>
            <a:r>
              <a:rPr lang="en-US" sz="1100">
                <a:solidFill>
                  <a:schemeClr val="bg1">
                    <a:lumMod val="49000"/>
                  </a:schemeClr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100" err="1">
                <a:solidFill>
                  <a:schemeClr val="bg1">
                    <a:lumMod val="49000"/>
                  </a:schemeClr>
                </a:solidFill>
                <a:latin typeface="Calibri"/>
                <a:ea typeface="Calibri"/>
                <a:cs typeface="Calibri"/>
              </a:rPr>
              <a:t>функц</a:t>
            </a:r>
            <a:endParaRPr lang="en-US" sz="1100">
              <a:solidFill>
                <a:schemeClr val="bg1">
                  <a:lumMod val="49000"/>
                </a:schemeClr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02771" y="2141582"/>
            <a:ext cx="822960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02771" y="2324462"/>
            <a:ext cx="502920" cy="502920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02771" y="232446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/>
          </a:p>
        </p:txBody>
      </p:sp>
      <p:sp>
        <p:nvSpPr>
          <p:cNvPr id="17" name="Text 15"/>
          <p:cNvSpPr/>
          <p:nvPr/>
        </p:nvSpPr>
        <p:spPr>
          <a:xfrm>
            <a:off x="1088571" y="234275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err="1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Хэрэгжүүлэлт</a:t>
            </a:r>
            <a:endParaRPr lang="en-US" sz="1600">
              <a:latin typeface="Times New Roman"/>
              <a:ea typeface="Calibri"/>
              <a:cs typeface="Times New Roman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088571" y="2598782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err="1">
                <a:solidFill>
                  <a:schemeClr val="bg1">
                    <a:lumMod val="49000"/>
                  </a:schemeClr>
                </a:solidFill>
                <a:latin typeface="Calibri"/>
                <a:ea typeface="Calibri"/>
                <a:cs typeface="Calibri"/>
              </a:rPr>
              <a:t>Кодын</a:t>
            </a:r>
            <a:r>
              <a:rPr lang="en-US" sz="1100">
                <a:solidFill>
                  <a:schemeClr val="bg1">
                    <a:lumMod val="49000"/>
                  </a:schemeClr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100" err="1">
                <a:solidFill>
                  <a:schemeClr val="bg1">
                    <a:lumMod val="49000"/>
                  </a:schemeClr>
                </a:solidFill>
                <a:latin typeface="Calibri"/>
                <a:ea typeface="Calibri"/>
                <a:cs typeface="Calibri"/>
              </a:rPr>
              <a:t>тайлбар</a:t>
            </a:r>
            <a:r>
              <a:rPr lang="en-US" sz="1100">
                <a:solidFill>
                  <a:schemeClr val="bg1">
                    <a:lumMod val="49000"/>
                  </a:schemeClr>
                </a:solidFill>
                <a:latin typeface="Calibri"/>
                <a:ea typeface="Calibri"/>
                <a:cs typeface="Calibri"/>
              </a:rPr>
              <a:t>, </a:t>
            </a:r>
            <a:r>
              <a:rPr lang="en-US" sz="1100" err="1">
                <a:solidFill>
                  <a:schemeClr val="bg1">
                    <a:lumMod val="49000"/>
                  </a:schemeClr>
                </a:solidFill>
                <a:latin typeface="Calibri"/>
                <a:ea typeface="Calibri"/>
                <a:cs typeface="Calibri"/>
              </a:rPr>
              <a:t>гаралт</a:t>
            </a:r>
            <a:endParaRPr lang="en-US" sz="1100">
              <a:solidFill>
                <a:schemeClr val="bg1">
                  <a:lumMod val="49000"/>
                </a:schemeClr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02771" y="2918822"/>
            <a:ext cx="822960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02771" y="3101702"/>
            <a:ext cx="502920" cy="502920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02771" y="310170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/>
          </a:p>
        </p:txBody>
      </p:sp>
      <p:sp>
        <p:nvSpPr>
          <p:cNvPr id="22" name="Text 20"/>
          <p:cNvSpPr/>
          <p:nvPr/>
        </p:nvSpPr>
        <p:spPr>
          <a:xfrm>
            <a:off x="1088571" y="311999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err="1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Дүгнэлт</a:t>
            </a:r>
            <a:endParaRPr lang="en-US" sz="1600" err="1">
              <a:latin typeface="Times New Roman"/>
              <a:ea typeface="Calibri"/>
              <a:cs typeface="Times New Roman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02771" y="3696062"/>
            <a:ext cx="822960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02771" y="3878942"/>
            <a:ext cx="502920" cy="502920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02771" y="387894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/>
          </a:p>
        </p:txBody>
      </p:sp>
      <p:sp>
        <p:nvSpPr>
          <p:cNvPr id="27" name="Text 25"/>
          <p:cNvSpPr/>
          <p:nvPr/>
        </p:nvSpPr>
        <p:spPr>
          <a:xfrm>
            <a:off x="1088571" y="389723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err="1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Ашигласан</a:t>
            </a:r>
            <a:r>
              <a:rPr lang="en-US" sz="1600" b="1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600" b="1" err="1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материал</a:t>
            </a:r>
            <a:endParaRPr lang="en-US" sz="1600">
              <a:latin typeface="Times New Roman"/>
              <a:ea typeface="Calibri"/>
              <a:cs typeface="Times New Roman"/>
            </a:endParaRPr>
          </a:p>
        </p:txBody>
      </p:sp>
      <p:sp>
        <p:nvSpPr>
          <p:cNvPr id="28" name="Shape 22">
            <a:extLst>
              <a:ext uri="{FF2B5EF4-FFF2-40B4-BE49-F238E27FC236}">
                <a16:creationId xmlns:a16="http://schemas.microsoft.com/office/drawing/2014/main" id="{18DF74DD-D95B-9314-9A0A-666AB96A3B07}"/>
              </a:ext>
            </a:extLst>
          </p:cNvPr>
          <p:cNvSpPr/>
          <p:nvPr/>
        </p:nvSpPr>
        <p:spPr>
          <a:xfrm>
            <a:off x="402770" y="4467133"/>
            <a:ext cx="822960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3">
            <a:extLst>
              <a:ext uri="{FF2B5EF4-FFF2-40B4-BE49-F238E27FC236}">
                <a16:creationId xmlns:a16="http://schemas.microsoft.com/office/drawing/2014/main" id="{A10EE52D-E60E-A8B2-97F2-7D218EAB7E3C}"/>
              </a:ext>
            </a:extLst>
          </p:cNvPr>
          <p:cNvSpPr/>
          <p:nvPr/>
        </p:nvSpPr>
        <p:spPr>
          <a:xfrm>
            <a:off x="402770" y="4613727"/>
            <a:ext cx="502920" cy="502920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4">
            <a:extLst>
              <a:ext uri="{FF2B5EF4-FFF2-40B4-BE49-F238E27FC236}">
                <a16:creationId xmlns:a16="http://schemas.microsoft.com/office/drawing/2014/main" id="{7BF51867-0E6A-6B62-F161-04E098A35DF0}"/>
              </a:ext>
            </a:extLst>
          </p:cNvPr>
          <p:cNvSpPr/>
          <p:nvPr/>
        </p:nvSpPr>
        <p:spPr>
          <a:xfrm>
            <a:off x="402770" y="4613727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06</a:t>
            </a:r>
            <a:endParaRPr lang="en-US" sz="1100"/>
          </a:p>
        </p:txBody>
      </p:sp>
      <p:sp>
        <p:nvSpPr>
          <p:cNvPr id="32" name="Text 25">
            <a:extLst>
              <a:ext uri="{FF2B5EF4-FFF2-40B4-BE49-F238E27FC236}">
                <a16:creationId xmlns:a16="http://schemas.microsoft.com/office/drawing/2014/main" id="{41170B25-83CD-799E-4D71-FC4638DD9FA5}"/>
              </a:ext>
            </a:extLst>
          </p:cNvPr>
          <p:cNvSpPr/>
          <p:nvPr/>
        </p:nvSpPr>
        <p:spPr>
          <a:xfrm>
            <a:off x="1088570" y="46138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err="1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Хавсралт</a:t>
            </a:r>
            <a:endParaRPr lang="en-US" sz="1600">
              <a:latin typeface="Times New Roman"/>
              <a:ea typeface="Calibri"/>
              <a:cs typeface="Times New Roman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30823" y="175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latin typeface="Times New Roman"/>
                <a:ea typeface="Calibri"/>
                <a:cs typeface="Times New Roman"/>
              </a:rPr>
              <a:t>УДИРТГАЛ</a:t>
            </a:r>
            <a:endParaRPr lang="en-US" sz="2000">
              <a:latin typeface="Times New Roman"/>
              <a:ea typeface="Calibri"/>
              <a:cs typeface="Times New Roman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30281" y="1879601"/>
            <a:ext cx="4086132" cy="1737360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12990" y="1916251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err="1">
                <a:latin typeface="Times New Roman"/>
                <a:ea typeface="Calibri"/>
                <a:cs typeface="Times New Roman"/>
              </a:rPr>
              <a:t>Багийн</a:t>
            </a:r>
            <a:r>
              <a:rPr lang="en-US" sz="1600" b="1">
                <a:latin typeface="Times New Roman"/>
                <a:ea typeface="Calibri"/>
                <a:cs typeface="Times New Roman"/>
              </a:rPr>
              <a:t> </a:t>
            </a:r>
            <a:r>
              <a:rPr lang="en-US" sz="1600" b="1" err="1">
                <a:latin typeface="Times New Roman"/>
                <a:ea typeface="Calibri"/>
                <a:cs typeface="Times New Roman"/>
              </a:rPr>
              <a:t>зорилго</a:t>
            </a:r>
            <a:endParaRPr lang="en-US" sz="1600" err="1">
              <a:latin typeface="Times New Roman"/>
              <a:ea typeface="Calibri"/>
              <a:cs typeface="Times New Roman"/>
            </a:endParaRPr>
          </a:p>
        </p:txBody>
      </p:sp>
      <p:sp>
        <p:nvSpPr>
          <p:cNvPr id="6" name="Text 4"/>
          <p:cNvSpPr/>
          <p:nvPr/>
        </p:nvSpPr>
        <p:spPr>
          <a:xfrm>
            <a:off x="642652" y="2106165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noProof="1">
                <a:latin typeface="Times New Roman"/>
                <a:ea typeface="Calibri"/>
                <a:cs typeface="Times New Roman"/>
              </a:rPr>
              <a:t>• Static гишүүн өгөгдөл судлах
• Хийсвэр класс, функц ашиглах
• This хувьсагч эзэмших
• Полиморфизм хэрэгжүүлэх</a:t>
            </a:r>
            <a:endParaRPr lang="en-US" err="1">
              <a:latin typeface="Times New Roman"/>
              <a:ea typeface="Calibri"/>
              <a:cs typeface="Times New Roman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637063" y="1879061"/>
            <a:ext cx="4023360" cy="1737360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774223" y="1924781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err="1">
                <a:latin typeface="Times New Roman"/>
                <a:ea typeface="Calibri"/>
                <a:cs typeface="Times New Roman"/>
              </a:rPr>
              <a:t>Багийн</a:t>
            </a:r>
            <a:r>
              <a:rPr lang="en-US" sz="1600" b="1">
                <a:latin typeface="Times New Roman"/>
                <a:ea typeface="Calibri"/>
                <a:cs typeface="Times New Roman"/>
              </a:rPr>
              <a:t> </a:t>
            </a:r>
            <a:r>
              <a:rPr lang="en-US" sz="1600" b="1" err="1">
                <a:latin typeface="Times New Roman"/>
                <a:ea typeface="Calibri"/>
                <a:cs typeface="Times New Roman"/>
              </a:rPr>
              <a:t>гишүүд</a:t>
            </a:r>
            <a:endParaRPr lang="en-US" sz="1600">
              <a:latin typeface="Times New Roman"/>
              <a:ea typeface="Calibri"/>
              <a:cs typeface="Times New Roman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048543" y="2299685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err="1">
                <a:latin typeface="Times New Roman"/>
                <a:ea typeface="Calibri"/>
                <a:cs typeface="Times New Roman"/>
              </a:rPr>
              <a:t>О.Эрдэнэбулган</a:t>
            </a:r>
            <a:r>
              <a:rPr lang="en-US" sz="1400">
                <a:latin typeface="Times New Roman"/>
                <a:ea typeface="Calibri"/>
                <a:cs typeface="Times New Roman"/>
              </a:rPr>
              <a:t> 24B1NUM1959 (</a:t>
            </a:r>
            <a:r>
              <a:rPr lang="en-US" sz="1400" err="1">
                <a:latin typeface="Times New Roman"/>
                <a:ea typeface="Calibri"/>
                <a:cs typeface="Times New Roman"/>
              </a:rPr>
              <a:t>Ахлагч</a:t>
            </a:r>
            <a:r>
              <a:rPr lang="en-US" sz="1400">
                <a:latin typeface="Times New Roman"/>
                <a:ea typeface="Calibri"/>
                <a:cs typeface="Times New Roman"/>
              </a:rPr>
              <a:t>)</a:t>
            </a:r>
          </a:p>
        </p:txBody>
      </p:sp>
      <p:sp>
        <p:nvSpPr>
          <p:cNvPr id="12" name="Text 10"/>
          <p:cNvSpPr/>
          <p:nvPr/>
        </p:nvSpPr>
        <p:spPr>
          <a:xfrm>
            <a:off x="5048543" y="2711165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err="1">
                <a:latin typeface="Times New Roman"/>
                <a:ea typeface="Calibri"/>
                <a:cs typeface="Times New Roman"/>
              </a:rPr>
              <a:t>Д.Сундуйжав</a:t>
            </a:r>
            <a:r>
              <a:rPr lang="en-US" sz="1400">
                <a:latin typeface="Times New Roman"/>
                <a:ea typeface="Calibri"/>
                <a:cs typeface="Times New Roman"/>
              </a:rPr>
              <a:t> 24B1NUM2023</a:t>
            </a:r>
          </a:p>
        </p:txBody>
      </p:sp>
      <p:sp>
        <p:nvSpPr>
          <p:cNvPr id="14" name="Text 12"/>
          <p:cNvSpPr/>
          <p:nvPr/>
        </p:nvSpPr>
        <p:spPr>
          <a:xfrm>
            <a:off x="5048543" y="3122645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err="1">
                <a:latin typeface="Calibri"/>
                <a:ea typeface="Calibri"/>
                <a:cs typeface="Calibri"/>
              </a:rPr>
              <a:t>Б.Тэмүүлэл</a:t>
            </a:r>
            <a:r>
              <a:rPr lang="en-US" sz="1400">
                <a:latin typeface="Calibri"/>
                <a:ea typeface="Calibri"/>
                <a:cs typeface="Calibri"/>
              </a:rPr>
              <a:t> 23B1NUM0135</a:t>
            </a:r>
          </a:p>
        </p:txBody>
      </p:sp>
      <p:sp>
        <p:nvSpPr>
          <p:cNvPr id="15" name="Text 13"/>
          <p:cNvSpPr/>
          <p:nvPr/>
        </p:nvSpPr>
        <p:spPr>
          <a:xfrm>
            <a:off x="430824" y="3707750"/>
            <a:ext cx="8238392" cy="141291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lIns="101600" tIns="101600" rIns="101600" bIns="101600" rtlCol="0" anchor="ctr"/>
          <a:lstStyle/>
          <a:p>
            <a:r>
              <a:rPr lang="en-US" sz="1400" b="1" err="1">
                <a:latin typeface="Times New Roman"/>
                <a:ea typeface="+mn-lt"/>
                <a:cs typeface="Times New Roman"/>
              </a:rPr>
              <a:t>Бодлого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:</a:t>
            </a:r>
            <a:endParaRPr lang="en-US">
              <a:latin typeface="Times New Roman"/>
              <a:cs typeface="Times New Roman"/>
            </a:endParaRPr>
          </a:p>
          <a:p>
            <a:r>
              <a:rPr lang="en-US" sz="1400">
                <a:latin typeface="Times New Roman"/>
                <a:ea typeface="+mn-lt"/>
                <a:cs typeface="Times New Roman"/>
              </a:rPr>
              <a:t>• Circle, Square, Triangle 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дүрсүүдийн</a:t>
            </a:r>
            <a:endParaRPr lang="en-US">
              <a:latin typeface="Times New Roman"/>
              <a:cs typeface="Times New Roman"/>
            </a:endParaRPr>
          </a:p>
          <a:p>
            <a:r>
              <a:rPr lang="en-US" sz="1400">
                <a:latin typeface="Times New Roman"/>
                <a:ea typeface="+mn-lt"/>
                <a:cs typeface="Times New Roman"/>
              </a:rPr>
              <a:t>  - 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талбай</a:t>
            </a:r>
            <a:endParaRPr lang="en-US">
              <a:latin typeface="Times New Roman"/>
              <a:cs typeface="Times New Roman"/>
            </a:endParaRPr>
          </a:p>
          <a:p>
            <a:r>
              <a:rPr lang="en-US" sz="1400">
                <a:latin typeface="Times New Roman"/>
                <a:ea typeface="+mn-lt"/>
                <a:cs typeface="Times New Roman"/>
              </a:rPr>
              <a:t>  - 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периметр</a:t>
            </a:r>
            <a:r>
              <a:rPr lang="en-US" sz="1400">
                <a:latin typeface="Times New Roman"/>
                <a:ea typeface="+mn-lt"/>
                <a:cs typeface="Times New Roman"/>
              </a:rPr>
              <a:t> 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тооцох</a:t>
            </a:r>
            <a:endParaRPr lang="en-US">
              <a:latin typeface="Times New Roman"/>
              <a:cs typeface="Times New Roman"/>
            </a:endParaRPr>
          </a:p>
          <a:p>
            <a:r>
              <a:rPr lang="en-US" sz="1400">
                <a:latin typeface="Times New Roman"/>
                <a:ea typeface="+mn-lt"/>
                <a:cs typeface="Times New Roman"/>
              </a:rPr>
              <a:t>• 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Эцэг</a:t>
            </a:r>
            <a:r>
              <a:rPr lang="en-US" sz="1400">
                <a:latin typeface="Times New Roman"/>
                <a:ea typeface="+mn-lt"/>
                <a:cs typeface="Times New Roman"/>
              </a:rPr>
              <a:t> 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класс</a:t>
            </a:r>
            <a:r>
              <a:rPr lang="en-US" sz="1400">
                <a:latin typeface="Times New Roman"/>
                <a:ea typeface="+mn-lt"/>
                <a:cs typeface="Times New Roman"/>
              </a:rPr>
              <a:t> 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ашиглан</a:t>
            </a:r>
            <a:r>
              <a:rPr lang="en-US" sz="1400">
                <a:latin typeface="Times New Roman"/>
                <a:ea typeface="+mn-lt"/>
                <a:cs typeface="Times New Roman"/>
              </a:rPr>
              <a:t> 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хийсвэр</a:t>
            </a:r>
            <a:r>
              <a:rPr lang="en-US" sz="1400">
                <a:latin typeface="Times New Roman"/>
                <a:ea typeface="+mn-lt"/>
                <a:cs typeface="Times New Roman"/>
              </a:rPr>
              <a:t> 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функц</a:t>
            </a:r>
            <a:r>
              <a:rPr lang="en-US" sz="1400">
                <a:latin typeface="Times New Roman"/>
                <a:ea typeface="+mn-lt"/>
                <a:cs typeface="Times New Roman"/>
              </a:rPr>
              <a:t> 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хэрэгжүүлэх</a:t>
            </a:r>
            <a:endParaRPr lang="en-US">
              <a:latin typeface="Times New Roman"/>
              <a:cs typeface="Times New Roman"/>
            </a:endParaRPr>
          </a:p>
          <a:p>
            <a:r>
              <a:rPr lang="en-US" sz="1400">
                <a:latin typeface="Times New Roman"/>
                <a:ea typeface="+mn-lt"/>
                <a:cs typeface="Times New Roman"/>
              </a:rPr>
              <a:t>• 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Үр</a:t>
            </a:r>
            <a:r>
              <a:rPr lang="en-US" sz="1400">
                <a:latin typeface="Times New Roman"/>
                <a:ea typeface="+mn-lt"/>
                <a:cs typeface="Times New Roman"/>
              </a:rPr>
              <a:t> 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дүнг</a:t>
            </a:r>
            <a:r>
              <a:rPr lang="en-US" sz="1400">
                <a:latin typeface="Times New Roman"/>
                <a:ea typeface="+mn-lt"/>
                <a:cs typeface="Times New Roman"/>
              </a:rPr>
              <a:t> 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эрэмбэлэх</a:t>
            </a:r>
            <a:endParaRPr lang="en-US" err="1">
              <a:latin typeface="Times New Roman"/>
              <a:cs typeface="Times New Roman"/>
            </a:endParaRPr>
          </a:p>
        </p:txBody>
      </p:sp>
      <p:sp>
        <p:nvSpPr>
          <p:cNvPr id="16" name="Shape 5">
            <a:extLst>
              <a:ext uri="{FF2B5EF4-FFF2-40B4-BE49-F238E27FC236}">
                <a16:creationId xmlns:a16="http://schemas.microsoft.com/office/drawing/2014/main" id="{DEBD4FEC-DF89-3A07-43FB-511649E906DF}"/>
              </a:ext>
            </a:extLst>
          </p:cNvPr>
          <p:cNvSpPr/>
          <p:nvPr/>
        </p:nvSpPr>
        <p:spPr>
          <a:xfrm>
            <a:off x="431847" y="432251"/>
            <a:ext cx="8228573" cy="1379107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FFDDC3A-6BAD-5AB4-2628-017FA368B783}"/>
              </a:ext>
            </a:extLst>
          </p:cNvPr>
          <p:cNvSpPr txBox="1"/>
          <p:nvPr/>
        </p:nvSpPr>
        <p:spPr>
          <a:xfrm>
            <a:off x="1470415" y="523799"/>
            <a:ext cx="5842947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err="1">
                <a:latin typeface="Times New Roman"/>
                <a:cs typeface="Times New Roman"/>
              </a:rPr>
              <a:t>Энэхүү</a:t>
            </a:r>
            <a:r>
              <a:rPr lang="en-US">
                <a:latin typeface="Times New Roman"/>
                <a:cs typeface="Times New Roman"/>
              </a:rPr>
              <a:t> </a:t>
            </a:r>
            <a:r>
              <a:rPr lang="en-US" err="1">
                <a:latin typeface="Times New Roman"/>
                <a:cs typeface="Times New Roman"/>
              </a:rPr>
              <a:t>тайлан</a:t>
            </a:r>
            <a:r>
              <a:rPr lang="en-US">
                <a:latin typeface="Times New Roman"/>
                <a:cs typeface="Times New Roman"/>
              </a:rPr>
              <a:t> </a:t>
            </a:r>
            <a:r>
              <a:rPr lang="en-US" err="1">
                <a:latin typeface="Times New Roman"/>
                <a:cs typeface="Times New Roman"/>
              </a:rPr>
              <a:t>нь</a:t>
            </a:r>
            <a:r>
              <a:rPr lang="en-US">
                <a:latin typeface="Times New Roman"/>
                <a:cs typeface="Times New Roman"/>
              </a:rPr>
              <a:t> </a:t>
            </a:r>
            <a:r>
              <a:rPr lang="en-US">
                <a:latin typeface="Times New Roman"/>
                <a:ea typeface="+mn-lt"/>
                <a:cs typeface="Times New Roman"/>
              </a:rPr>
              <a:t>С++ </a:t>
            </a:r>
            <a:r>
              <a:rPr lang="en-US" err="1">
                <a:latin typeface="Times New Roman"/>
                <a:ea typeface="+mn-lt"/>
                <a:cs typeface="Times New Roman"/>
              </a:rPr>
              <a:t>програмчлалд</a:t>
            </a:r>
            <a:r>
              <a:rPr lang="en-US">
                <a:latin typeface="Times New Roman"/>
                <a:ea typeface="+mn-lt"/>
                <a:cs typeface="Times New Roman"/>
              </a:rPr>
              <a:t> </a:t>
            </a:r>
            <a:r>
              <a:rPr lang="en-US" err="1">
                <a:latin typeface="Times New Roman"/>
                <a:ea typeface="+mn-lt"/>
                <a:cs typeface="Times New Roman"/>
              </a:rPr>
              <a:t>хийсвэр</a:t>
            </a:r>
            <a:r>
              <a:rPr lang="en-US">
                <a:latin typeface="Times New Roman"/>
                <a:ea typeface="+mn-lt"/>
                <a:cs typeface="Times New Roman"/>
              </a:rPr>
              <a:t> </a:t>
            </a:r>
            <a:r>
              <a:rPr lang="en-US" err="1">
                <a:latin typeface="Times New Roman"/>
                <a:ea typeface="+mn-lt"/>
                <a:cs typeface="Times New Roman"/>
              </a:rPr>
              <a:t>класс</a:t>
            </a:r>
            <a:r>
              <a:rPr lang="en-US">
                <a:latin typeface="Times New Roman"/>
                <a:ea typeface="+mn-lt"/>
                <a:cs typeface="Times New Roman"/>
              </a:rPr>
              <a:t>, </a:t>
            </a:r>
            <a:r>
              <a:rPr lang="en-US" err="1">
                <a:latin typeface="Times New Roman"/>
                <a:ea typeface="+mn-lt"/>
                <a:cs typeface="Times New Roman"/>
              </a:rPr>
              <a:t>статик</a:t>
            </a:r>
            <a:r>
              <a:rPr lang="en-US">
                <a:latin typeface="Times New Roman"/>
                <a:ea typeface="+mn-lt"/>
                <a:cs typeface="Times New Roman"/>
              </a:rPr>
              <a:t> </a:t>
            </a:r>
            <a:r>
              <a:rPr lang="en-US" err="1">
                <a:latin typeface="Times New Roman"/>
                <a:ea typeface="+mn-lt"/>
                <a:cs typeface="Times New Roman"/>
              </a:rPr>
              <a:t>гишүүн</a:t>
            </a:r>
            <a:r>
              <a:rPr lang="en-US">
                <a:latin typeface="Times New Roman"/>
                <a:ea typeface="+mn-lt"/>
                <a:cs typeface="Times New Roman"/>
              </a:rPr>
              <a:t>, </a:t>
            </a:r>
            <a:r>
              <a:rPr lang="en-US" err="1">
                <a:latin typeface="Times New Roman"/>
                <a:ea typeface="+mn-lt"/>
                <a:cs typeface="Times New Roman"/>
              </a:rPr>
              <a:t>функц</a:t>
            </a:r>
            <a:r>
              <a:rPr lang="en-US">
                <a:latin typeface="Times New Roman"/>
                <a:ea typeface="+mn-lt"/>
                <a:cs typeface="Times New Roman"/>
              </a:rPr>
              <a:t> </a:t>
            </a:r>
            <a:r>
              <a:rPr lang="en-US" err="1">
                <a:latin typeface="Times New Roman"/>
                <a:ea typeface="+mn-lt"/>
                <a:cs typeface="Times New Roman"/>
              </a:rPr>
              <a:t>ашиглан</a:t>
            </a:r>
            <a:r>
              <a:rPr lang="en-US">
                <a:latin typeface="Times New Roman"/>
                <a:ea typeface="+mn-lt"/>
                <a:cs typeface="Times New Roman"/>
              </a:rPr>
              <a:t> </a:t>
            </a:r>
            <a:r>
              <a:rPr lang="en-US" err="1">
                <a:latin typeface="Times New Roman"/>
                <a:ea typeface="+mn-lt"/>
                <a:cs typeface="Times New Roman"/>
              </a:rPr>
              <a:t>объект</a:t>
            </a:r>
            <a:r>
              <a:rPr lang="en-US">
                <a:latin typeface="Times New Roman"/>
                <a:ea typeface="+mn-lt"/>
                <a:cs typeface="Times New Roman"/>
              </a:rPr>
              <a:t> </a:t>
            </a:r>
            <a:r>
              <a:rPr lang="en-US" err="1">
                <a:latin typeface="Times New Roman"/>
                <a:ea typeface="+mn-lt"/>
                <a:cs typeface="Times New Roman"/>
              </a:rPr>
              <a:t>загварчлах</a:t>
            </a:r>
            <a:r>
              <a:rPr lang="en-US">
                <a:latin typeface="Times New Roman"/>
                <a:ea typeface="+mn-lt"/>
                <a:cs typeface="Times New Roman"/>
              </a:rPr>
              <a:t> </a:t>
            </a:r>
            <a:r>
              <a:rPr lang="en-US" err="1">
                <a:latin typeface="Times New Roman"/>
                <a:ea typeface="+mn-lt"/>
                <a:cs typeface="Times New Roman"/>
              </a:rPr>
              <a:t>аргачлалыг</a:t>
            </a:r>
            <a:r>
              <a:rPr lang="en-US">
                <a:latin typeface="Times New Roman"/>
                <a:ea typeface="+mn-lt"/>
                <a:cs typeface="Times New Roman"/>
              </a:rPr>
              <a:t> </a:t>
            </a:r>
            <a:r>
              <a:rPr lang="en-US" err="1">
                <a:latin typeface="Times New Roman"/>
                <a:ea typeface="+mn-lt"/>
                <a:cs typeface="Times New Roman"/>
              </a:rPr>
              <a:t>судалсан</a:t>
            </a:r>
            <a:r>
              <a:rPr lang="en-US">
                <a:latin typeface="Times New Roman"/>
                <a:ea typeface="+mn-lt"/>
                <a:cs typeface="Times New Roman"/>
              </a:rPr>
              <a:t> </a:t>
            </a:r>
            <a:r>
              <a:rPr lang="en-US" err="1">
                <a:latin typeface="Times New Roman"/>
                <a:ea typeface="+mn-lt"/>
                <a:cs typeface="Times New Roman"/>
              </a:rPr>
              <a:t>тайлан</a:t>
            </a:r>
            <a:endParaRPr lang="en-US" err="1">
              <a:latin typeface="Times New Roman"/>
              <a:cs typeface="Times New Roman"/>
            </a:endParaRPr>
          </a:p>
          <a:p>
            <a:pPr algn="ctr"/>
            <a:endParaRPr lang="en-GB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2FAB2C5-296B-11A8-1164-25B729A985F8}"/>
              </a:ext>
            </a:extLst>
          </p:cNvPr>
          <p:cNvSpPr txBox="1"/>
          <p:nvPr/>
        </p:nvSpPr>
        <p:spPr>
          <a:xfrm>
            <a:off x="4835769" y="3125665"/>
            <a:ext cx="4572000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="0" i="0" u="none" strike="noStrike" baseline="0">
                <a:solidFill>
                  <a:srgbClr val="000000"/>
                </a:solidFill>
                <a:latin typeface="Times New Roman"/>
                <a:cs typeface="Times New Roman"/>
              </a:rPr>
              <a:t>•</a:t>
            </a:r>
            <a:endParaRPr lang="en-US">
              <a:latin typeface="Times New Roman"/>
              <a:cs typeface="Times New Roman"/>
            </a:endParaRPr>
          </a:p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7C406C0-457D-BE8E-611C-8B9E50731D43}"/>
              </a:ext>
            </a:extLst>
          </p:cNvPr>
          <p:cNvSpPr txBox="1"/>
          <p:nvPr/>
        </p:nvSpPr>
        <p:spPr>
          <a:xfrm>
            <a:off x="4835768" y="2756387"/>
            <a:ext cx="3569679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="0" i="0" u="none" strike="noStrike" baseline="0">
                <a:solidFill>
                  <a:srgbClr val="000000"/>
                </a:solidFill>
                <a:latin typeface="Times New Roman"/>
                <a:cs typeface="Times New Roman"/>
              </a:rPr>
              <a:t>•</a:t>
            </a:r>
            <a:endParaRPr lang="en-US">
              <a:latin typeface="Times New Roman"/>
              <a:cs typeface="Times New Roman"/>
            </a:endParaRPr>
          </a:p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699DFBD-C3ED-AC83-CADA-3FCC18AEA594}"/>
              </a:ext>
            </a:extLst>
          </p:cNvPr>
          <p:cNvSpPr txBox="1"/>
          <p:nvPr/>
        </p:nvSpPr>
        <p:spPr>
          <a:xfrm>
            <a:off x="4774223" y="2281604"/>
            <a:ext cx="4572000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="0" i="0" u="none" strike="noStrike" baseline="0">
                <a:solidFill>
                  <a:srgbClr val="000000"/>
                </a:solidFill>
                <a:latin typeface="Times New Roman"/>
                <a:cs typeface="Times New Roman"/>
              </a:rPr>
              <a:t>•</a:t>
            </a:r>
            <a:endParaRPr lang="en-US">
              <a:latin typeface="Times New Roman"/>
              <a:cs typeface="Times New Roman"/>
            </a:endParaRPr>
          </a:p>
          <a:p>
            <a:pPr algn="ctr"/>
            <a:endParaRPr lang="en-US">
              <a:latin typeface="Times New Roman"/>
              <a:ea typeface="+mn-lt"/>
              <a:cs typeface="Times New Roma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latin typeface="Times New Roman"/>
                <a:ea typeface="Calibri"/>
                <a:cs typeface="Times New Roman"/>
              </a:rPr>
              <a:t>ОНОЛ  —  this </a:t>
            </a:r>
            <a:r>
              <a:rPr lang="en-US" sz="2200" b="1" err="1">
                <a:latin typeface="Times New Roman"/>
                <a:ea typeface="Calibri"/>
                <a:cs typeface="Times New Roman"/>
              </a:rPr>
              <a:t>хувьсагч</a:t>
            </a:r>
            <a:endParaRPr lang="en-US" sz="2200" err="1">
              <a:latin typeface="Times New Roman"/>
              <a:ea typeface="Calibri"/>
              <a:cs typeface="Times New Roman"/>
            </a:endParaRPr>
          </a:p>
        </p:txBody>
      </p:sp>
      <p:sp>
        <p:nvSpPr>
          <p:cNvPr id="6" name="Text 4"/>
          <p:cNvSpPr/>
          <p:nvPr/>
        </p:nvSpPr>
        <p:spPr>
          <a:xfrm>
            <a:off x="645539" y="1122187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latin typeface="Times New Roman"/>
                <a:ea typeface="Calibri"/>
                <a:cs typeface="Times New Roman"/>
              </a:rPr>
              <a:t>this </a:t>
            </a:r>
            <a:r>
              <a:rPr lang="en-US" sz="1600" b="1" err="1">
                <a:latin typeface="Times New Roman"/>
                <a:ea typeface="Calibri"/>
                <a:cs typeface="Times New Roman"/>
              </a:rPr>
              <a:t>хувьсагч</a:t>
            </a:r>
            <a:endParaRPr lang="en-US" sz="1600">
              <a:latin typeface="Times New Roman"/>
              <a:ea typeface="Calibri"/>
              <a:cs typeface="Times New Roman"/>
            </a:endParaRPr>
          </a:p>
        </p:txBody>
      </p:sp>
      <p:sp>
        <p:nvSpPr>
          <p:cNvPr id="7" name="Text 5"/>
          <p:cNvSpPr/>
          <p:nvPr/>
        </p:nvSpPr>
        <p:spPr>
          <a:xfrm>
            <a:off x="645539" y="1495684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err="1">
                <a:latin typeface="Times New Roman"/>
                <a:ea typeface="Calibri"/>
                <a:cs typeface="Times New Roman"/>
              </a:rPr>
              <a:t>Классын</a:t>
            </a:r>
            <a:r>
              <a:rPr lang="en-US" sz="1400"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latin typeface="Times New Roman"/>
                <a:ea typeface="Calibri"/>
                <a:cs typeface="Times New Roman"/>
              </a:rPr>
              <a:t>гишүүн</a:t>
            </a:r>
            <a:r>
              <a:rPr lang="en-US" sz="1400"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latin typeface="Times New Roman"/>
                <a:ea typeface="Calibri"/>
                <a:cs typeface="Times New Roman"/>
              </a:rPr>
              <a:t>функцийг</a:t>
            </a:r>
            <a:r>
              <a:rPr lang="en-US" sz="1400"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latin typeface="Times New Roman"/>
                <a:ea typeface="Calibri"/>
                <a:cs typeface="Times New Roman"/>
              </a:rPr>
              <a:t>дуудаж</a:t>
            </a:r>
            <a:r>
              <a:rPr lang="en-US" sz="1400"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latin typeface="Times New Roman"/>
                <a:ea typeface="Calibri"/>
                <a:cs typeface="Times New Roman"/>
              </a:rPr>
              <a:t>буй</a:t>
            </a:r>
            <a:r>
              <a:rPr lang="en-US" sz="1400"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latin typeface="Times New Roman"/>
                <a:ea typeface="Calibri"/>
                <a:cs typeface="Times New Roman"/>
              </a:rPr>
              <a:t>объектын</a:t>
            </a:r>
            <a:r>
              <a:rPr lang="en-US" sz="1400"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latin typeface="Times New Roman"/>
                <a:ea typeface="Calibri"/>
                <a:cs typeface="Times New Roman"/>
              </a:rPr>
              <a:t>хаягийг</a:t>
            </a:r>
            <a:r>
              <a:rPr lang="en-US" sz="1400"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latin typeface="Times New Roman"/>
                <a:ea typeface="Calibri"/>
                <a:cs typeface="Times New Roman"/>
              </a:rPr>
              <a:t>заадаг</a:t>
            </a:r>
            <a:r>
              <a:rPr lang="en-US" sz="1400"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latin typeface="Times New Roman"/>
                <a:ea typeface="Calibri"/>
                <a:cs typeface="Times New Roman"/>
              </a:rPr>
              <a:t>тусгай</a:t>
            </a:r>
            <a:r>
              <a:rPr lang="en-US" sz="1400"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latin typeface="Times New Roman"/>
                <a:ea typeface="Calibri"/>
                <a:cs typeface="Times New Roman"/>
              </a:rPr>
              <a:t>заагч</a:t>
            </a:r>
            <a:r>
              <a:rPr lang="en-US" sz="1400">
                <a:latin typeface="Times New Roman"/>
                <a:ea typeface="Calibri"/>
                <a:cs typeface="Times New Roman"/>
              </a:rPr>
              <a:t> (pointer)</a:t>
            </a:r>
          </a:p>
        </p:txBody>
      </p:sp>
      <p:sp>
        <p:nvSpPr>
          <p:cNvPr id="9" name="Text 7"/>
          <p:cNvSpPr/>
          <p:nvPr/>
        </p:nvSpPr>
        <p:spPr>
          <a:xfrm>
            <a:off x="654069" y="2544284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err="1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Хэзээ</a:t>
            </a:r>
            <a:r>
              <a:rPr lang="en-US" sz="1600" b="1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600" b="1" err="1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ашигладаг</a:t>
            </a:r>
            <a:r>
              <a:rPr lang="en-US" sz="1600" b="1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600" b="1" err="1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вэ</a:t>
            </a:r>
            <a:r>
              <a:rPr lang="en-US" sz="1600" b="1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?</a:t>
            </a:r>
            <a:endParaRPr lang="en-US" sz="1600">
              <a:latin typeface="Times New Roman"/>
              <a:ea typeface="Calibri"/>
              <a:cs typeface="Times New Roman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54069" y="2926421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err="1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Параметр</a:t>
            </a:r>
            <a:r>
              <a:rPr lang="en-US" sz="1400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болон</a:t>
            </a:r>
            <a:r>
              <a:rPr lang="en-US" sz="1400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гишүүн</a:t>
            </a:r>
            <a:r>
              <a:rPr lang="en-US" sz="1400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өгөгдлийн</a:t>
            </a:r>
            <a:r>
              <a:rPr lang="en-US" sz="1400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нэр</a:t>
            </a:r>
            <a:r>
              <a:rPr lang="en-US" sz="1400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давхцах</a:t>
            </a:r>
            <a:r>
              <a:rPr lang="en-US" sz="1400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үед</a:t>
            </a:r>
            <a:r>
              <a:rPr lang="en-US" sz="1400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ялгахад</a:t>
            </a:r>
            <a:r>
              <a:rPr lang="en-US" sz="1400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ашигладаг</a:t>
            </a:r>
            <a:endParaRPr lang="en-US" sz="1400">
              <a:latin typeface="Times New Roman"/>
              <a:ea typeface="Calibri"/>
              <a:cs typeface="Times New Roman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743542" y="232442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>
                <a:solidFill>
                  <a:srgbClr val="67E8F9"/>
                </a:solidFill>
                <a:latin typeface="Times New Roman"/>
                <a:ea typeface="+mn-lt"/>
                <a:cs typeface="Times New Roman"/>
              </a:rPr>
              <a:t> </a:t>
            </a:r>
            <a:r>
              <a:rPr lang="en-US" sz="1400">
                <a:latin typeface="Times New Roman"/>
                <a:ea typeface="+mn-lt"/>
                <a:cs typeface="Times New Roman"/>
              </a:rPr>
              <a:t> Teacher(int id, char* name, int age) {</a:t>
            </a:r>
            <a:endParaRPr lang="en-US" sz="1400">
              <a:latin typeface="Times New Roman"/>
              <a:ea typeface="Calibri"/>
              <a:cs typeface="Times New Roman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743542" y="259874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>
                <a:solidFill>
                  <a:srgbClr val="F59E0B"/>
                </a:solidFill>
                <a:latin typeface="Times New Roman"/>
                <a:ea typeface="Calibri"/>
                <a:cs typeface="Times New Roman"/>
              </a:rPr>
              <a:t>    this</a:t>
            </a:r>
            <a:r>
              <a:rPr lang="en-US" sz="1400">
                <a:latin typeface="Times New Roman"/>
                <a:ea typeface="Calibri"/>
                <a:cs typeface="Times New Roman"/>
              </a:rPr>
              <a:t>-&gt;id = id;</a:t>
            </a:r>
          </a:p>
        </p:txBody>
      </p:sp>
      <p:sp>
        <p:nvSpPr>
          <p:cNvPr id="14" name="Text 12"/>
          <p:cNvSpPr/>
          <p:nvPr/>
        </p:nvSpPr>
        <p:spPr>
          <a:xfrm>
            <a:off x="4743542" y="285477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>
                <a:solidFill>
                  <a:srgbClr val="F59E0B"/>
                </a:solidFill>
                <a:latin typeface="Times New Roman"/>
                <a:ea typeface="Calibri"/>
                <a:cs typeface="Times New Roman"/>
              </a:rPr>
              <a:t>    this</a:t>
            </a:r>
            <a:r>
              <a:rPr lang="en-US" sz="1400">
                <a:latin typeface="Times New Roman"/>
                <a:ea typeface="Calibri"/>
                <a:cs typeface="Times New Roman"/>
              </a:rPr>
              <a:t>-&gt;name = name;</a:t>
            </a:r>
          </a:p>
        </p:txBody>
      </p:sp>
      <p:sp>
        <p:nvSpPr>
          <p:cNvPr id="15" name="Text 13"/>
          <p:cNvSpPr/>
          <p:nvPr/>
        </p:nvSpPr>
        <p:spPr>
          <a:xfrm>
            <a:off x="4743542" y="311080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>
                <a:solidFill>
                  <a:srgbClr val="F59E0B"/>
                </a:solidFill>
                <a:latin typeface="Times New Roman"/>
                <a:ea typeface="Calibri"/>
                <a:cs typeface="Times New Roman"/>
              </a:rPr>
              <a:t>    this</a:t>
            </a:r>
            <a:r>
              <a:rPr lang="en-US" sz="1400">
                <a:latin typeface="Times New Roman"/>
                <a:ea typeface="Calibri"/>
                <a:cs typeface="Times New Roman"/>
              </a:rPr>
              <a:t>-&gt;age = age;</a:t>
            </a:r>
          </a:p>
        </p:txBody>
      </p:sp>
      <p:sp>
        <p:nvSpPr>
          <p:cNvPr id="16" name="Text 14"/>
          <p:cNvSpPr/>
          <p:nvPr/>
        </p:nvSpPr>
        <p:spPr>
          <a:xfrm>
            <a:off x="4778187" y="337025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>
                <a:latin typeface="Times New Roman"/>
                <a:ea typeface="Calibri"/>
                <a:cs typeface="Times New Roman"/>
              </a:rPr>
              <a:t>  }</a:t>
            </a:r>
          </a:p>
        </p:txBody>
      </p:sp>
      <p:sp>
        <p:nvSpPr>
          <p:cNvPr id="17" name="Text 15"/>
          <p:cNvSpPr/>
          <p:nvPr/>
        </p:nvSpPr>
        <p:spPr>
          <a:xfrm>
            <a:off x="4762472" y="3979209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noProof="1">
                <a:solidFill>
                  <a:schemeClr val="bg1">
                    <a:lumMod val="49000"/>
                  </a:schemeClr>
                </a:solidFill>
                <a:latin typeface="Times New Roman"/>
                <a:ea typeface="+mn-lt"/>
                <a:cs typeface="Times New Roman"/>
              </a:rPr>
              <a:t>Энд this -&gt; id нь объектын id гишүүн өгөгдлийг зааж байгаа юм. Ингэснээр классын гишүүн өгөгдөл болон функцийн параметрийг ялгаж өгч байгаа юм. </a:t>
            </a:r>
            <a:endParaRPr lang="en-US" sz="1100" noProof="1">
              <a:solidFill>
                <a:schemeClr val="bg1">
                  <a:lumMod val="49000"/>
                </a:schemeClr>
              </a:solidFill>
              <a:latin typeface="Times New Roman"/>
              <a:ea typeface="Calibri"/>
              <a:cs typeface="Times New Roman"/>
            </a:endParaRPr>
          </a:p>
        </p:txBody>
      </p:sp>
      <p:sp>
        <p:nvSpPr>
          <p:cNvPr id="20" name="Text 10">
            <a:extLst>
              <a:ext uri="{FF2B5EF4-FFF2-40B4-BE49-F238E27FC236}">
                <a16:creationId xmlns:a16="http://schemas.microsoft.com/office/drawing/2014/main" id="{D968E205-28ED-F2BE-49D7-3B31964AF83A}"/>
              </a:ext>
            </a:extLst>
          </p:cNvPr>
          <p:cNvSpPr/>
          <p:nvPr/>
        </p:nvSpPr>
        <p:spPr>
          <a:xfrm>
            <a:off x="4708372" y="464653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>
                <a:solidFill>
                  <a:srgbClr val="FF0000"/>
                </a:solidFill>
                <a:latin typeface="Times New Roman"/>
                <a:ea typeface="+mn-lt"/>
                <a:cs typeface="Times New Roman"/>
              </a:rPr>
              <a:t>class Teacher {</a:t>
            </a:r>
            <a:r>
              <a:rPr lang="en-US" sz="1400">
                <a:solidFill>
                  <a:srgbClr val="67E8F9"/>
                </a:solidFill>
                <a:latin typeface="Times New Roman"/>
                <a:ea typeface="+mn-lt"/>
                <a:cs typeface="Times New Roman"/>
              </a:rPr>
              <a:t> </a:t>
            </a:r>
            <a:endParaRPr lang="en-US" sz="1400">
              <a:latin typeface="Times New Roman"/>
              <a:ea typeface="Calibri"/>
              <a:cs typeface="Times New Roman"/>
            </a:endParaRPr>
          </a:p>
        </p:txBody>
      </p:sp>
      <p:sp>
        <p:nvSpPr>
          <p:cNvPr id="21" name="Text 11">
            <a:extLst>
              <a:ext uri="{FF2B5EF4-FFF2-40B4-BE49-F238E27FC236}">
                <a16:creationId xmlns:a16="http://schemas.microsoft.com/office/drawing/2014/main" id="{679E3D1E-0930-EEAE-FBF2-5F413D574B23}"/>
              </a:ext>
            </a:extLst>
          </p:cNvPr>
          <p:cNvSpPr/>
          <p:nvPr/>
        </p:nvSpPr>
        <p:spPr>
          <a:xfrm>
            <a:off x="4708372" y="738973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>
                <a:latin typeface="Times New Roman"/>
                <a:ea typeface="+mn-lt"/>
                <a:cs typeface="Times New Roman"/>
              </a:rPr>
              <a:t> private : </a:t>
            </a:r>
            <a:endParaRPr lang="en-US" sz="1400">
              <a:latin typeface="Times New Roman"/>
              <a:ea typeface="Calibri"/>
              <a:cs typeface="Times New Roman"/>
            </a:endParaRPr>
          </a:p>
        </p:txBody>
      </p:sp>
      <p:sp>
        <p:nvSpPr>
          <p:cNvPr id="22" name="Text 12">
            <a:extLst>
              <a:ext uri="{FF2B5EF4-FFF2-40B4-BE49-F238E27FC236}">
                <a16:creationId xmlns:a16="http://schemas.microsoft.com/office/drawing/2014/main" id="{69609150-42FC-A4C7-ED7C-C9E211BDA535}"/>
              </a:ext>
            </a:extLst>
          </p:cNvPr>
          <p:cNvSpPr/>
          <p:nvPr/>
        </p:nvSpPr>
        <p:spPr>
          <a:xfrm>
            <a:off x="4708372" y="1162059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>
                <a:latin typeface="Times New Roman"/>
                <a:ea typeface="+mn-lt"/>
                <a:cs typeface="Times New Roman"/>
              </a:rPr>
              <a:t>  int id ; </a:t>
            </a:r>
          </a:p>
          <a:p>
            <a:r>
              <a:rPr lang="en-US" sz="1400">
                <a:latin typeface="Times New Roman"/>
                <a:ea typeface="+mn-lt"/>
                <a:cs typeface="Times New Roman"/>
              </a:rPr>
              <a:t>  char *name ; </a:t>
            </a:r>
          </a:p>
          <a:p>
            <a:r>
              <a:rPr lang="en-US" sz="1400">
                <a:latin typeface="Times New Roman"/>
                <a:ea typeface="+mn-lt"/>
                <a:cs typeface="Times New Roman"/>
              </a:rPr>
              <a:t>  int age ; </a:t>
            </a:r>
            <a:endParaRPr lang="en-US" sz="1400">
              <a:latin typeface="Times New Roman"/>
              <a:ea typeface="Calibri"/>
              <a:cs typeface="Times New Roman"/>
            </a:endParaRPr>
          </a:p>
        </p:txBody>
      </p:sp>
      <p:sp>
        <p:nvSpPr>
          <p:cNvPr id="23" name="Text 13">
            <a:extLst>
              <a:ext uri="{FF2B5EF4-FFF2-40B4-BE49-F238E27FC236}">
                <a16:creationId xmlns:a16="http://schemas.microsoft.com/office/drawing/2014/main" id="{359C5048-0CC0-DF94-4056-0D9B8AA27E6C}"/>
              </a:ext>
            </a:extLst>
          </p:cNvPr>
          <p:cNvSpPr/>
          <p:nvPr/>
        </p:nvSpPr>
        <p:spPr>
          <a:xfrm>
            <a:off x="4734749" y="1664275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>
                <a:latin typeface="Times New Roman"/>
                <a:ea typeface="+mn-lt"/>
                <a:cs typeface="Times New Roman"/>
              </a:rPr>
              <a:t> public :</a:t>
            </a:r>
            <a:endParaRPr lang="en-US" sz="1400">
              <a:latin typeface="Times New Roman"/>
              <a:ea typeface="Calibri"/>
              <a:cs typeface="Times New Roman"/>
            </a:endParaRPr>
          </a:p>
        </p:txBody>
      </p:sp>
      <p:sp>
        <p:nvSpPr>
          <p:cNvPr id="24" name="Text 14">
            <a:extLst>
              <a:ext uri="{FF2B5EF4-FFF2-40B4-BE49-F238E27FC236}">
                <a16:creationId xmlns:a16="http://schemas.microsoft.com/office/drawing/2014/main" id="{1B798DE7-B406-531C-F1B2-06BB1093D61B}"/>
              </a:ext>
            </a:extLst>
          </p:cNvPr>
          <p:cNvSpPr/>
          <p:nvPr/>
        </p:nvSpPr>
        <p:spPr>
          <a:xfrm>
            <a:off x="4734749" y="1920307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>
                <a:latin typeface="Times New Roman"/>
                <a:ea typeface="+mn-lt"/>
                <a:cs typeface="Times New Roman"/>
              </a:rPr>
              <a:t>  Teacher() { } </a:t>
            </a:r>
            <a:endParaRPr lang="en-US" sz="1400">
              <a:latin typeface="Times New Roman"/>
              <a:ea typeface="Calibri"/>
              <a:cs typeface="Times New Roman"/>
            </a:endParaRPr>
          </a:p>
        </p:txBody>
      </p:sp>
      <p:sp>
        <p:nvSpPr>
          <p:cNvPr id="25" name="Text 14">
            <a:extLst>
              <a:ext uri="{FF2B5EF4-FFF2-40B4-BE49-F238E27FC236}">
                <a16:creationId xmlns:a16="http://schemas.microsoft.com/office/drawing/2014/main" id="{2BD7B87D-B4DA-E1EC-9483-80139B26636F}"/>
              </a:ext>
            </a:extLst>
          </p:cNvPr>
          <p:cNvSpPr/>
          <p:nvPr/>
        </p:nvSpPr>
        <p:spPr>
          <a:xfrm>
            <a:off x="4786978" y="356643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latin typeface="Times New Roman"/>
                <a:ea typeface="Calibri"/>
                <a:cs typeface="Times New Roman"/>
              </a:rPr>
              <a:t>};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latin typeface="Times New Roman"/>
                <a:ea typeface="Calibri"/>
                <a:cs typeface="Times New Roman"/>
              </a:rPr>
              <a:t>ОНОЛ  —  </a:t>
            </a:r>
            <a:r>
              <a:rPr lang="en-US" sz="2200" b="1" err="1">
                <a:latin typeface="Times New Roman"/>
                <a:ea typeface="Calibri"/>
                <a:cs typeface="Times New Roman"/>
              </a:rPr>
              <a:t>Полиморфизм</a:t>
            </a:r>
            <a:endParaRPr lang="en-US" sz="2200">
              <a:latin typeface="Times New Roman"/>
              <a:ea typeface="Calibri"/>
              <a:cs typeface="Times New Roman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err="1">
                <a:latin typeface="Times New Roman"/>
                <a:ea typeface="Calibri"/>
                <a:cs typeface="Times New Roman"/>
              </a:rPr>
              <a:t>Өөр</a:t>
            </a:r>
            <a:r>
              <a:rPr lang="en-US" sz="1100">
                <a:latin typeface="Times New Roman"/>
                <a:ea typeface="Calibri"/>
                <a:cs typeface="Times New Roman"/>
              </a:rPr>
              <a:t> </a:t>
            </a:r>
            <a:r>
              <a:rPr lang="en-US" sz="1100" err="1">
                <a:latin typeface="Times New Roman"/>
                <a:ea typeface="Calibri"/>
                <a:cs typeface="Times New Roman"/>
              </a:rPr>
              <a:t>өөр</a:t>
            </a:r>
            <a:r>
              <a:rPr lang="en-US" sz="1100">
                <a:latin typeface="Times New Roman"/>
                <a:ea typeface="Calibri"/>
                <a:cs typeface="Times New Roman"/>
              </a:rPr>
              <a:t> </a:t>
            </a:r>
            <a:r>
              <a:rPr lang="en-US" sz="1100" err="1">
                <a:latin typeface="Times New Roman"/>
                <a:ea typeface="Calibri"/>
                <a:cs typeface="Times New Roman"/>
              </a:rPr>
              <a:t>хэрэгжилттэй</a:t>
            </a:r>
            <a:r>
              <a:rPr lang="en-US" sz="1100">
                <a:latin typeface="Times New Roman"/>
                <a:ea typeface="Calibri"/>
                <a:cs typeface="Times New Roman"/>
              </a:rPr>
              <a:t> </a:t>
            </a:r>
            <a:r>
              <a:rPr lang="en-US" sz="1100" err="1">
                <a:latin typeface="Times New Roman"/>
                <a:ea typeface="Calibri"/>
                <a:cs typeface="Times New Roman"/>
              </a:rPr>
              <a:t>функцуудыг</a:t>
            </a:r>
            <a:r>
              <a:rPr lang="en-US" sz="1100">
                <a:latin typeface="Times New Roman"/>
                <a:ea typeface="Calibri"/>
                <a:cs typeface="Times New Roman"/>
              </a:rPr>
              <a:t> </a:t>
            </a:r>
            <a:r>
              <a:rPr lang="en-US" sz="1100" err="1">
                <a:latin typeface="Times New Roman"/>
                <a:ea typeface="Calibri"/>
                <a:cs typeface="Times New Roman"/>
              </a:rPr>
              <a:t>ижил</a:t>
            </a:r>
            <a:r>
              <a:rPr lang="en-US" sz="1100">
                <a:latin typeface="Times New Roman"/>
                <a:ea typeface="Calibri"/>
                <a:cs typeface="Times New Roman"/>
              </a:rPr>
              <a:t> </a:t>
            </a:r>
            <a:r>
              <a:rPr lang="en-US" sz="1100" err="1">
                <a:latin typeface="Times New Roman"/>
                <a:ea typeface="Calibri"/>
                <a:cs typeface="Times New Roman"/>
              </a:rPr>
              <a:t>нэрээр</a:t>
            </a:r>
            <a:r>
              <a:rPr lang="en-US" sz="1100">
                <a:latin typeface="Times New Roman"/>
                <a:ea typeface="Calibri"/>
                <a:cs typeface="Times New Roman"/>
              </a:rPr>
              <a:t> </a:t>
            </a:r>
            <a:r>
              <a:rPr lang="en-US" sz="1100" err="1">
                <a:latin typeface="Times New Roman"/>
                <a:ea typeface="Calibri"/>
                <a:cs typeface="Times New Roman"/>
              </a:rPr>
              <a:t>ашиглах</a:t>
            </a:r>
            <a:r>
              <a:rPr lang="en-US" sz="1100">
                <a:latin typeface="Times New Roman"/>
                <a:ea typeface="Calibri"/>
                <a:cs typeface="Times New Roman"/>
              </a:rPr>
              <a:t> </a:t>
            </a:r>
            <a:r>
              <a:rPr lang="en-US" sz="1100" err="1">
                <a:latin typeface="Times New Roman"/>
                <a:ea typeface="Calibri"/>
                <a:cs typeface="Times New Roman"/>
              </a:rPr>
              <a:t>боломжийг</a:t>
            </a:r>
            <a:r>
              <a:rPr lang="en-US" sz="1100">
                <a:latin typeface="Times New Roman"/>
                <a:ea typeface="Calibri"/>
                <a:cs typeface="Times New Roman"/>
              </a:rPr>
              <a:t> </a:t>
            </a:r>
            <a:r>
              <a:rPr lang="en-US" sz="1100" err="1">
                <a:latin typeface="Times New Roman"/>
                <a:ea typeface="Calibri"/>
                <a:cs typeface="Times New Roman"/>
              </a:rPr>
              <a:t>хэлнэ</a:t>
            </a:r>
            <a:r>
              <a:rPr lang="en-US" sz="1100">
                <a:latin typeface="Times New Roman"/>
                <a:ea typeface="Calibri"/>
                <a:cs typeface="Times New Roman"/>
              </a:rPr>
              <a:t>.</a:t>
            </a:r>
          </a:p>
        </p:txBody>
      </p:sp>
      <p:sp>
        <p:nvSpPr>
          <p:cNvPr id="7" name="Text 5"/>
          <p:cNvSpPr/>
          <p:nvPr/>
        </p:nvSpPr>
        <p:spPr>
          <a:xfrm>
            <a:off x="462475" y="1011115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latin typeface="Times New Roman"/>
                <a:ea typeface="Calibri"/>
                <a:cs typeface="Times New Roman"/>
              </a:rPr>
              <a:t>1. </a:t>
            </a:r>
            <a:r>
              <a:rPr lang="en-US" sz="1600" b="1" err="1">
                <a:latin typeface="Times New Roman"/>
                <a:ea typeface="Calibri"/>
                <a:cs typeface="Times New Roman"/>
              </a:rPr>
              <a:t>Статик</a:t>
            </a:r>
            <a:r>
              <a:rPr lang="en-US" sz="1600" b="1">
                <a:latin typeface="Times New Roman"/>
                <a:ea typeface="Calibri"/>
                <a:cs typeface="Times New Roman"/>
              </a:rPr>
              <a:t> (Compile-time)</a:t>
            </a:r>
            <a:endParaRPr lang="en-US" sz="1600">
              <a:latin typeface="Times New Roman"/>
              <a:ea typeface="Calibri"/>
              <a:cs typeface="Times New Roman"/>
            </a:endParaRPr>
          </a:p>
        </p:txBody>
      </p:sp>
      <p:sp>
        <p:nvSpPr>
          <p:cNvPr id="8" name="Text 6"/>
          <p:cNvSpPr/>
          <p:nvPr/>
        </p:nvSpPr>
        <p:spPr>
          <a:xfrm>
            <a:off x="462475" y="1032105"/>
            <a:ext cx="3840480" cy="666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err="1">
                <a:latin typeface="Times New Roman"/>
                <a:cs typeface="Times New Roman"/>
              </a:rPr>
              <a:t>Компайл</a:t>
            </a:r>
            <a:r>
              <a:rPr lang="en-US" sz="1100">
                <a:latin typeface="Times New Roman"/>
                <a:cs typeface="Times New Roman"/>
              </a:rPr>
              <a:t> </a:t>
            </a:r>
            <a:r>
              <a:rPr lang="en-US" sz="1100" err="1">
                <a:latin typeface="Times New Roman"/>
                <a:cs typeface="Times New Roman"/>
              </a:rPr>
              <a:t>хийх</a:t>
            </a:r>
            <a:r>
              <a:rPr lang="en-US" sz="1100">
                <a:latin typeface="Times New Roman"/>
                <a:cs typeface="Times New Roman"/>
              </a:rPr>
              <a:t> </a:t>
            </a:r>
            <a:r>
              <a:rPr lang="en-US" sz="1100" err="1">
                <a:latin typeface="Times New Roman"/>
                <a:cs typeface="Times New Roman"/>
              </a:rPr>
              <a:t>үед</a:t>
            </a:r>
            <a:r>
              <a:rPr lang="en-US" sz="1100">
                <a:latin typeface="Times New Roman"/>
                <a:cs typeface="Times New Roman"/>
              </a:rPr>
              <a:t> </a:t>
            </a:r>
            <a:r>
              <a:rPr lang="en-US" sz="1100" err="1">
                <a:latin typeface="Times New Roman"/>
                <a:cs typeface="Times New Roman"/>
              </a:rPr>
              <a:t>аль</a:t>
            </a:r>
            <a:r>
              <a:rPr lang="en-US" sz="1100">
                <a:latin typeface="Times New Roman"/>
                <a:cs typeface="Times New Roman"/>
              </a:rPr>
              <a:t> </a:t>
            </a:r>
            <a:r>
              <a:rPr lang="en-US" sz="1100" err="1">
                <a:latin typeface="Times New Roman"/>
                <a:cs typeface="Times New Roman"/>
              </a:rPr>
              <a:t>функцыг</a:t>
            </a:r>
            <a:r>
              <a:rPr lang="en-US" sz="1100">
                <a:latin typeface="Times New Roman"/>
                <a:cs typeface="Times New Roman"/>
              </a:rPr>
              <a:t> </a:t>
            </a:r>
            <a:r>
              <a:rPr lang="en-US" sz="1100" err="1">
                <a:latin typeface="Times New Roman"/>
                <a:cs typeface="Times New Roman"/>
              </a:rPr>
              <a:t>дуудах</a:t>
            </a:r>
            <a:r>
              <a:rPr lang="en-US" sz="1100">
                <a:latin typeface="Times New Roman"/>
                <a:cs typeface="Times New Roman"/>
              </a:rPr>
              <a:t> </a:t>
            </a:r>
            <a:r>
              <a:rPr lang="en-US" sz="1100" err="1">
                <a:latin typeface="Times New Roman"/>
                <a:cs typeface="Times New Roman"/>
              </a:rPr>
              <a:t>нь</a:t>
            </a:r>
            <a:r>
              <a:rPr lang="en-US" sz="1100">
                <a:latin typeface="Times New Roman"/>
                <a:cs typeface="Times New Roman"/>
              </a:rPr>
              <a:t> </a:t>
            </a:r>
            <a:r>
              <a:rPr lang="en-US" sz="1100" err="1">
                <a:latin typeface="Times New Roman"/>
                <a:cs typeface="Times New Roman"/>
              </a:rPr>
              <a:t>тодорхойлогдоно</a:t>
            </a:r>
            <a:endParaRPr lang="en-US" sz="1100" err="1">
              <a:latin typeface="Times New Roman"/>
              <a:ea typeface="Calibri"/>
              <a:cs typeface="Times New Roman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663440" y="10287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latin typeface="Times New Roman"/>
                <a:ea typeface="Calibri"/>
                <a:cs typeface="Times New Roman"/>
              </a:rPr>
              <a:t>2. </a:t>
            </a:r>
            <a:r>
              <a:rPr lang="en-US" sz="1600" b="1" err="1">
                <a:latin typeface="Times New Roman"/>
                <a:ea typeface="Calibri"/>
                <a:cs typeface="Times New Roman"/>
              </a:rPr>
              <a:t>Динамик</a:t>
            </a:r>
            <a:r>
              <a:rPr lang="en-US" sz="1600" b="1">
                <a:latin typeface="Times New Roman"/>
                <a:ea typeface="Calibri"/>
                <a:cs typeface="Times New Roman"/>
              </a:rPr>
              <a:t> (Runtime)</a:t>
            </a:r>
            <a:endParaRPr lang="en-US" sz="1600">
              <a:latin typeface="Times New Roman"/>
              <a:ea typeface="Calibri"/>
              <a:cs typeface="Times New Roman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663440" y="1322251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err="1">
                <a:latin typeface="Times New Roman"/>
                <a:ea typeface="Calibri"/>
                <a:cs typeface="Times New Roman"/>
              </a:rPr>
              <a:t>Аль</a:t>
            </a:r>
            <a:r>
              <a:rPr lang="en-US" sz="1100">
                <a:latin typeface="Times New Roman"/>
                <a:ea typeface="Calibri"/>
                <a:cs typeface="Times New Roman"/>
              </a:rPr>
              <a:t> </a:t>
            </a:r>
            <a:r>
              <a:rPr lang="en-US" sz="1100" err="1">
                <a:latin typeface="Times New Roman"/>
                <a:ea typeface="Calibri"/>
                <a:cs typeface="Times New Roman"/>
              </a:rPr>
              <a:t>функцыг</a:t>
            </a:r>
            <a:r>
              <a:rPr lang="en-US" sz="1100">
                <a:latin typeface="Times New Roman"/>
                <a:ea typeface="Calibri"/>
                <a:cs typeface="Times New Roman"/>
              </a:rPr>
              <a:t> </a:t>
            </a:r>
            <a:r>
              <a:rPr lang="en-US" sz="1100" err="1">
                <a:latin typeface="Times New Roman"/>
                <a:ea typeface="Calibri"/>
                <a:cs typeface="Times New Roman"/>
              </a:rPr>
              <a:t>дуудуах</a:t>
            </a:r>
            <a:r>
              <a:rPr lang="en-US" sz="1100">
                <a:latin typeface="Times New Roman"/>
                <a:ea typeface="Calibri"/>
                <a:cs typeface="Times New Roman"/>
              </a:rPr>
              <a:t> </a:t>
            </a:r>
            <a:r>
              <a:rPr lang="en-US" sz="1100" err="1">
                <a:latin typeface="Times New Roman"/>
                <a:ea typeface="Calibri"/>
                <a:cs typeface="Times New Roman"/>
              </a:rPr>
              <a:t>нь</a:t>
            </a:r>
            <a:r>
              <a:rPr lang="en-US" sz="1100">
                <a:latin typeface="Times New Roman"/>
                <a:ea typeface="Calibri"/>
                <a:cs typeface="Times New Roman"/>
              </a:rPr>
              <a:t> </a:t>
            </a:r>
            <a:r>
              <a:rPr lang="en-US" sz="1100" err="1">
                <a:latin typeface="Times New Roman"/>
                <a:ea typeface="Calibri"/>
                <a:cs typeface="Times New Roman"/>
              </a:rPr>
              <a:t>объект</a:t>
            </a:r>
            <a:r>
              <a:rPr lang="en-US" sz="1100">
                <a:latin typeface="Times New Roman"/>
                <a:ea typeface="Calibri"/>
                <a:cs typeface="Times New Roman"/>
              </a:rPr>
              <a:t> </a:t>
            </a:r>
            <a:r>
              <a:rPr lang="en-US" sz="1100" err="1">
                <a:latin typeface="Times New Roman"/>
                <a:ea typeface="Calibri"/>
                <a:cs typeface="Times New Roman"/>
              </a:rPr>
              <a:t>ямар</a:t>
            </a:r>
            <a:r>
              <a:rPr lang="en-US" sz="1100">
                <a:latin typeface="Times New Roman"/>
                <a:ea typeface="Calibri"/>
                <a:cs typeface="Times New Roman"/>
              </a:rPr>
              <a:t> </a:t>
            </a:r>
            <a:r>
              <a:rPr lang="en-US" sz="1100" err="1">
                <a:latin typeface="Times New Roman"/>
                <a:ea typeface="Calibri"/>
                <a:cs typeface="Times New Roman"/>
              </a:rPr>
              <a:t>классынх</a:t>
            </a:r>
            <a:r>
              <a:rPr lang="en-US" sz="1100">
                <a:latin typeface="Times New Roman"/>
                <a:ea typeface="Calibri"/>
                <a:cs typeface="Times New Roman"/>
              </a:rPr>
              <a:t> </a:t>
            </a:r>
            <a:r>
              <a:rPr lang="en-US" sz="1100" err="1">
                <a:latin typeface="Times New Roman"/>
                <a:ea typeface="Calibri"/>
                <a:cs typeface="Times New Roman"/>
              </a:rPr>
              <a:t>байгаагаас</a:t>
            </a:r>
            <a:r>
              <a:rPr lang="en-US" sz="1100">
                <a:latin typeface="Times New Roman"/>
                <a:ea typeface="Calibri"/>
                <a:cs typeface="Times New Roman"/>
              </a:rPr>
              <a:t> </a:t>
            </a:r>
            <a:r>
              <a:rPr lang="en-US" sz="1100" err="1">
                <a:latin typeface="Times New Roman"/>
                <a:ea typeface="Calibri"/>
                <a:cs typeface="Times New Roman"/>
              </a:rPr>
              <a:t>шалтгаалан</a:t>
            </a:r>
            <a:r>
              <a:rPr lang="en-US" sz="1100">
                <a:latin typeface="Times New Roman"/>
                <a:ea typeface="Calibri"/>
                <a:cs typeface="Times New Roman"/>
              </a:rPr>
              <a:t> </a:t>
            </a:r>
            <a:r>
              <a:rPr lang="en-US" sz="1100" err="1">
                <a:latin typeface="Times New Roman"/>
                <a:ea typeface="Calibri"/>
                <a:cs typeface="Times New Roman"/>
              </a:rPr>
              <a:t>програм</a:t>
            </a:r>
            <a:r>
              <a:rPr lang="en-US" sz="1100">
                <a:latin typeface="Times New Roman"/>
                <a:ea typeface="Calibri"/>
                <a:cs typeface="Times New Roman"/>
              </a:rPr>
              <a:t> </a:t>
            </a:r>
            <a:r>
              <a:rPr lang="en-US" sz="1100" err="1">
                <a:latin typeface="Times New Roman"/>
                <a:ea typeface="Calibri"/>
                <a:cs typeface="Times New Roman"/>
              </a:rPr>
              <a:t>шийднэ</a:t>
            </a:r>
            <a:endParaRPr lang="en-US" sz="1100">
              <a:latin typeface="Times New Roman"/>
              <a:ea typeface="Calibri"/>
              <a:cs typeface="Times New Roman"/>
            </a:endParaRPr>
          </a:p>
          <a:p>
            <a:pPr marL="0" indent="0">
              <a:buNone/>
            </a:pPr>
            <a:r>
              <a:rPr lang="en-US" sz="1100">
                <a:latin typeface="Times New Roman"/>
                <a:ea typeface="Calibri"/>
                <a:cs typeface="Times New Roman"/>
              </a:rPr>
              <a:t>Virtual </a:t>
            </a:r>
            <a:r>
              <a:rPr lang="en-US" sz="1100" err="1">
                <a:latin typeface="Times New Roman"/>
                <a:ea typeface="Calibri"/>
                <a:cs typeface="Times New Roman"/>
              </a:rPr>
              <a:t>функц</a:t>
            </a:r>
            <a:r>
              <a:rPr lang="en-US" sz="1100">
                <a:latin typeface="Times New Roman"/>
                <a:ea typeface="Calibri"/>
                <a:cs typeface="Times New Roman"/>
              </a:rPr>
              <a:t> + </a:t>
            </a:r>
            <a:r>
              <a:rPr lang="en-US" sz="1100" err="1">
                <a:latin typeface="Times New Roman"/>
                <a:ea typeface="Calibri"/>
                <a:cs typeface="Times New Roman"/>
              </a:rPr>
              <a:t>удамшил</a:t>
            </a:r>
            <a:r>
              <a:rPr lang="en-US" sz="1100">
                <a:latin typeface="Times New Roman"/>
                <a:ea typeface="Calibri"/>
                <a:cs typeface="Times New Roman"/>
              </a:rPr>
              <a:t> </a:t>
            </a:r>
            <a:r>
              <a:rPr lang="en-US" sz="1100" err="1">
                <a:latin typeface="Times New Roman"/>
                <a:ea typeface="Calibri"/>
                <a:cs typeface="Times New Roman"/>
              </a:rPr>
              <a:t>ашигладаг</a:t>
            </a:r>
            <a:endParaRPr lang="en-US" sz="1100">
              <a:latin typeface="Times New Roman"/>
              <a:ea typeface="Calibri"/>
              <a:cs typeface="Times New Roman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F7DE65-DF02-6FE5-9C58-E83F94B50848}"/>
              </a:ext>
            </a:extLst>
          </p:cNvPr>
          <p:cNvSpPr txBox="1"/>
          <p:nvPr/>
        </p:nvSpPr>
        <p:spPr>
          <a:xfrm>
            <a:off x="460612" y="1496462"/>
            <a:ext cx="3838433" cy="389337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300">
                <a:solidFill>
                  <a:srgbClr val="FF0000"/>
                </a:solidFill>
                <a:latin typeface="Times New Roman"/>
                <a:cs typeface="Times New Roman"/>
              </a:rPr>
              <a:t>class Math</a:t>
            </a:r>
            <a:r>
              <a:rPr lang="en-US" sz="1300">
                <a:latin typeface="Times New Roman"/>
                <a:cs typeface="Times New Roman"/>
              </a:rPr>
              <a:t> { </a:t>
            </a:r>
            <a:endParaRPr lang="en-US" sz="1300">
              <a:latin typeface="Times New Roman"/>
              <a:ea typeface="Calibri"/>
              <a:cs typeface="Times New Roman"/>
            </a:endParaRPr>
          </a:p>
          <a:p>
            <a:r>
              <a:rPr lang="en-US" sz="1300">
                <a:latin typeface="Times New Roman"/>
                <a:cs typeface="Times New Roman"/>
              </a:rPr>
              <a:t>public: </a:t>
            </a:r>
            <a:endParaRPr lang="en-US" sz="1300">
              <a:solidFill>
                <a:srgbClr val="67E8F9"/>
              </a:solidFill>
              <a:latin typeface="Times New Roman"/>
              <a:ea typeface="Calibri"/>
              <a:cs typeface="Times New Roman"/>
            </a:endParaRPr>
          </a:p>
          <a:p>
            <a:r>
              <a:rPr lang="en-US" sz="1300" dirty="0">
                <a:solidFill>
                  <a:schemeClr val="accent1"/>
                </a:solidFill>
                <a:latin typeface="Times New Roman"/>
                <a:cs typeface="Times New Roman"/>
              </a:rPr>
              <a:t> // int </a:t>
            </a:r>
            <a:r>
              <a:rPr lang="en-US" sz="1300" dirty="0" err="1">
                <a:solidFill>
                  <a:schemeClr val="accent1"/>
                </a:solidFill>
                <a:latin typeface="Times New Roman"/>
                <a:cs typeface="Times New Roman"/>
              </a:rPr>
              <a:t>хувилбар</a:t>
            </a:r>
            <a:r>
              <a:rPr lang="en-US" sz="1300" dirty="0">
                <a:solidFill>
                  <a:schemeClr val="accent1"/>
                </a:solidFill>
                <a:latin typeface="Times New Roman"/>
                <a:cs typeface="Times New Roman"/>
              </a:rPr>
              <a:t> </a:t>
            </a:r>
            <a:endParaRPr lang="en-US" sz="1300">
              <a:solidFill>
                <a:schemeClr val="accent1"/>
              </a:solidFill>
              <a:latin typeface="Times New Roman"/>
              <a:ea typeface="Calibri"/>
              <a:cs typeface="Times New Roman"/>
            </a:endParaRPr>
          </a:p>
          <a:p>
            <a:r>
              <a:rPr lang="en-US" sz="1300">
                <a:latin typeface="Times New Roman"/>
                <a:ea typeface="Calibri" panose="020F0502020204030204"/>
                <a:cs typeface="Times New Roman"/>
              </a:rPr>
              <a:t> </a:t>
            </a:r>
            <a:r>
              <a:rPr lang="en-US" sz="1300">
                <a:solidFill>
                  <a:srgbClr val="7030A0"/>
                </a:solidFill>
                <a:latin typeface="Times New Roman"/>
                <a:ea typeface="Calibri" panose="020F0502020204030204"/>
                <a:cs typeface="Times New Roman"/>
              </a:rPr>
              <a:t>int add(int a , int b) {</a:t>
            </a:r>
            <a:endParaRPr lang="en-US" sz="1300" dirty="0">
              <a:solidFill>
                <a:srgbClr val="7030A0"/>
              </a:solidFill>
              <a:latin typeface="Times New Roman"/>
              <a:cs typeface="Times New Roman"/>
            </a:endParaRPr>
          </a:p>
          <a:p>
            <a:r>
              <a:rPr lang="en-US" sz="1300" dirty="0">
                <a:solidFill>
                  <a:srgbClr val="7030A0"/>
                </a:solidFill>
                <a:latin typeface="Times New Roman"/>
                <a:cs typeface="Times New Roman"/>
              </a:rPr>
              <a:t>  </a:t>
            </a:r>
            <a:r>
              <a:rPr lang="en-US" sz="1300" dirty="0" err="1">
                <a:solidFill>
                  <a:srgbClr val="7030A0"/>
                </a:solidFill>
                <a:latin typeface="Times New Roman"/>
                <a:cs typeface="Times New Roman"/>
              </a:rPr>
              <a:t>cout</a:t>
            </a:r>
            <a:r>
              <a:rPr lang="en-US" sz="1300" dirty="0">
                <a:solidFill>
                  <a:srgbClr val="7030A0"/>
                </a:solidFill>
                <a:latin typeface="Times New Roman"/>
                <a:cs typeface="Times New Roman"/>
              </a:rPr>
              <a:t> &lt;&lt; "Integer add </a:t>
            </a:r>
            <a:r>
              <a:rPr lang="en-US" sz="1300" dirty="0" err="1">
                <a:solidFill>
                  <a:srgbClr val="7030A0"/>
                </a:solidFill>
                <a:latin typeface="Times New Roman"/>
                <a:cs typeface="Times New Roman"/>
              </a:rPr>
              <a:t>ajillaj</a:t>
            </a:r>
            <a:r>
              <a:rPr lang="en-US" sz="1300" dirty="0">
                <a:solidFill>
                  <a:srgbClr val="7030A0"/>
                </a:solidFill>
                <a:latin typeface="Times New Roman"/>
                <a:cs typeface="Times New Roman"/>
              </a:rPr>
              <a:t> </a:t>
            </a:r>
            <a:r>
              <a:rPr lang="en-US" sz="1300" dirty="0" err="1">
                <a:solidFill>
                  <a:srgbClr val="7030A0"/>
                </a:solidFill>
                <a:latin typeface="Times New Roman"/>
                <a:cs typeface="Times New Roman"/>
              </a:rPr>
              <a:t>baina</a:t>
            </a:r>
            <a:r>
              <a:rPr lang="en-US" sz="1300" dirty="0">
                <a:solidFill>
                  <a:srgbClr val="7030A0"/>
                </a:solidFill>
                <a:latin typeface="Times New Roman"/>
                <a:cs typeface="Times New Roman"/>
              </a:rPr>
              <a:t>\n"; </a:t>
            </a:r>
            <a:endParaRPr lang="en-US" sz="1300">
              <a:solidFill>
                <a:srgbClr val="7030A0"/>
              </a:solidFill>
              <a:latin typeface="Times New Roman"/>
              <a:ea typeface="Calibri"/>
              <a:cs typeface="Times New Roman"/>
            </a:endParaRPr>
          </a:p>
          <a:p>
            <a:r>
              <a:rPr lang="en-US" sz="1300">
                <a:solidFill>
                  <a:srgbClr val="7030A0"/>
                </a:solidFill>
                <a:latin typeface="Times New Roman"/>
                <a:cs typeface="Times New Roman"/>
              </a:rPr>
              <a:t>  return a + b ;  }  </a:t>
            </a:r>
            <a:r>
              <a:rPr lang="en-US" sz="1300" dirty="0">
                <a:latin typeface="Times New Roman"/>
                <a:cs typeface="Times New Roman"/>
              </a:rPr>
              <a:t>  </a:t>
            </a:r>
            <a:endParaRPr lang="en-US" sz="1300" dirty="0">
              <a:latin typeface="Times New Roman"/>
              <a:ea typeface="Calibri"/>
              <a:cs typeface="Times New Roman"/>
            </a:endParaRPr>
          </a:p>
          <a:p>
            <a:r>
              <a:rPr lang="en-US" sz="1300" dirty="0">
                <a:solidFill>
                  <a:schemeClr val="accent1"/>
                </a:solidFill>
                <a:latin typeface="Times New Roman"/>
                <a:cs typeface="Times New Roman"/>
              </a:rPr>
              <a:t>// double </a:t>
            </a:r>
            <a:r>
              <a:rPr lang="en-US" sz="1300" dirty="0" err="1">
                <a:solidFill>
                  <a:schemeClr val="accent1"/>
                </a:solidFill>
                <a:latin typeface="Times New Roman"/>
                <a:cs typeface="Times New Roman"/>
              </a:rPr>
              <a:t>хувилбар</a:t>
            </a:r>
            <a:r>
              <a:rPr lang="en-US" sz="1300" dirty="0">
                <a:solidFill>
                  <a:schemeClr val="accent1"/>
                </a:solidFill>
                <a:latin typeface="Times New Roman"/>
                <a:cs typeface="Times New Roman"/>
              </a:rPr>
              <a:t> </a:t>
            </a:r>
            <a:endParaRPr lang="en-US" sz="1300">
              <a:solidFill>
                <a:schemeClr val="accent1"/>
              </a:solidFill>
              <a:latin typeface="Times New Roman"/>
              <a:ea typeface="Calibri"/>
              <a:cs typeface="Times New Roman"/>
            </a:endParaRPr>
          </a:p>
          <a:p>
            <a:r>
              <a:rPr lang="en-US" sz="1300">
                <a:latin typeface="Times New Roman"/>
                <a:cs typeface="Times New Roman"/>
              </a:rPr>
              <a:t> </a:t>
            </a:r>
            <a:r>
              <a:rPr lang="en-US" sz="1300">
                <a:solidFill>
                  <a:srgbClr val="7030A0"/>
                </a:solidFill>
                <a:latin typeface="Times New Roman"/>
                <a:cs typeface="Times New Roman"/>
              </a:rPr>
              <a:t>double add(double a, double b) { </a:t>
            </a:r>
            <a:endParaRPr lang="en-US" sz="1300">
              <a:solidFill>
                <a:srgbClr val="7030A0"/>
              </a:solidFill>
              <a:latin typeface="Times New Roman"/>
              <a:ea typeface="Calibri"/>
              <a:cs typeface="Times New Roman"/>
            </a:endParaRPr>
          </a:p>
          <a:p>
            <a:r>
              <a:rPr lang="en-US" sz="1300" dirty="0">
                <a:solidFill>
                  <a:srgbClr val="7030A0"/>
                </a:solidFill>
                <a:latin typeface="Times New Roman"/>
                <a:cs typeface="Times New Roman"/>
              </a:rPr>
              <a:t>  </a:t>
            </a:r>
            <a:r>
              <a:rPr lang="en-US" sz="1300" dirty="0" err="1">
                <a:solidFill>
                  <a:srgbClr val="7030A0"/>
                </a:solidFill>
                <a:latin typeface="Times New Roman"/>
                <a:cs typeface="Times New Roman"/>
              </a:rPr>
              <a:t>cout</a:t>
            </a:r>
            <a:r>
              <a:rPr lang="en-US" sz="1300" dirty="0">
                <a:solidFill>
                  <a:srgbClr val="7030A0"/>
                </a:solidFill>
                <a:latin typeface="Times New Roman"/>
                <a:cs typeface="Times New Roman"/>
              </a:rPr>
              <a:t> &lt;&lt; "Double add </a:t>
            </a:r>
            <a:r>
              <a:rPr lang="en-US" sz="1300" dirty="0" err="1">
                <a:solidFill>
                  <a:srgbClr val="7030A0"/>
                </a:solidFill>
                <a:latin typeface="Times New Roman"/>
                <a:cs typeface="Times New Roman"/>
              </a:rPr>
              <a:t>ajillaj</a:t>
            </a:r>
            <a:r>
              <a:rPr lang="en-US" sz="1300" dirty="0">
                <a:solidFill>
                  <a:srgbClr val="7030A0"/>
                </a:solidFill>
                <a:latin typeface="Times New Roman"/>
                <a:cs typeface="Times New Roman"/>
              </a:rPr>
              <a:t> </a:t>
            </a:r>
            <a:r>
              <a:rPr lang="en-US" sz="1300" dirty="0" err="1">
                <a:solidFill>
                  <a:srgbClr val="7030A0"/>
                </a:solidFill>
                <a:latin typeface="Times New Roman"/>
                <a:cs typeface="Times New Roman"/>
              </a:rPr>
              <a:t>baina</a:t>
            </a:r>
            <a:r>
              <a:rPr lang="en-US" sz="1300" dirty="0">
                <a:solidFill>
                  <a:srgbClr val="7030A0"/>
                </a:solidFill>
                <a:latin typeface="Times New Roman"/>
                <a:cs typeface="Times New Roman"/>
              </a:rPr>
              <a:t>\n"; </a:t>
            </a:r>
            <a:endParaRPr lang="en-US" sz="1300">
              <a:solidFill>
                <a:srgbClr val="7030A0"/>
              </a:solidFill>
              <a:latin typeface="Times New Roman"/>
              <a:ea typeface="Calibri"/>
              <a:cs typeface="Times New Roman"/>
            </a:endParaRPr>
          </a:p>
          <a:p>
            <a:r>
              <a:rPr lang="en-US" sz="1300">
                <a:solidFill>
                  <a:srgbClr val="7030A0"/>
                </a:solidFill>
                <a:latin typeface="Times New Roman"/>
                <a:cs typeface="Times New Roman"/>
              </a:rPr>
              <a:t>  return a + b ; } </a:t>
            </a:r>
            <a:endParaRPr lang="en-US" sz="1300">
              <a:solidFill>
                <a:srgbClr val="7030A0"/>
              </a:solidFill>
              <a:latin typeface="Times New Roman"/>
              <a:ea typeface="Calibri"/>
              <a:cs typeface="Times New Roman"/>
            </a:endParaRPr>
          </a:p>
          <a:p>
            <a:r>
              <a:rPr lang="en-US" sz="1300">
                <a:latin typeface="Times New Roman"/>
                <a:cs typeface="Times New Roman"/>
              </a:rPr>
              <a:t>} ; </a:t>
            </a:r>
            <a:endParaRPr lang="en-US" sz="1300">
              <a:latin typeface="Times New Roman"/>
              <a:ea typeface="Calibri"/>
              <a:cs typeface="Times New Roman"/>
            </a:endParaRPr>
          </a:p>
          <a:p>
            <a:endParaRPr lang="en-US" sz="1300" dirty="0">
              <a:latin typeface="Times New Roman"/>
              <a:cs typeface="Times New Roman"/>
            </a:endParaRPr>
          </a:p>
          <a:p>
            <a:r>
              <a:rPr lang="en-US" sz="1300">
                <a:latin typeface="Times New Roman"/>
                <a:cs typeface="Times New Roman"/>
              </a:rPr>
              <a:t>int main() { </a:t>
            </a:r>
            <a:endParaRPr lang="en-US" sz="1300">
              <a:latin typeface="Times New Roman"/>
              <a:ea typeface="Calibri" panose="020F0502020204030204"/>
              <a:cs typeface="Times New Roman"/>
            </a:endParaRPr>
          </a:p>
          <a:p>
            <a:r>
              <a:rPr lang="en-US" sz="1300">
                <a:latin typeface="Times New Roman"/>
                <a:cs typeface="Times New Roman"/>
              </a:rPr>
              <a:t> Math m ; </a:t>
            </a:r>
            <a:endParaRPr lang="en-US" sz="1300">
              <a:latin typeface="Times New Roman"/>
              <a:ea typeface="Calibri"/>
              <a:cs typeface="Times New Roman"/>
            </a:endParaRPr>
          </a:p>
          <a:p>
            <a:r>
              <a:rPr lang="en-US" sz="1300" dirty="0">
                <a:solidFill>
                  <a:schemeClr val="accent1"/>
                </a:solidFill>
                <a:latin typeface="Times New Roman"/>
                <a:cs typeface="Times New Roman"/>
              </a:rPr>
              <a:t> // </a:t>
            </a:r>
            <a:r>
              <a:rPr lang="en-US" sz="1300" dirty="0" err="1">
                <a:solidFill>
                  <a:schemeClr val="accent1"/>
                </a:solidFill>
                <a:latin typeface="Times New Roman"/>
                <a:cs typeface="Times New Roman"/>
              </a:rPr>
              <a:t>компайл</a:t>
            </a:r>
            <a:r>
              <a:rPr lang="en-US" sz="1300" dirty="0">
                <a:solidFill>
                  <a:schemeClr val="accent1"/>
                </a:solidFill>
                <a:latin typeface="Times New Roman"/>
                <a:cs typeface="Times New Roman"/>
              </a:rPr>
              <a:t> </a:t>
            </a:r>
            <a:r>
              <a:rPr lang="en-US" sz="1300" dirty="0" err="1">
                <a:solidFill>
                  <a:schemeClr val="accent1"/>
                </a:solidFill>
                <a:latin typeface="Times New Roman"/>
                <a:cs typeface="Times New Roman"/>
              </a:rPr>
              <a:t>хийхээс</a:t>
            </a:r>
            <a:r>
              <a:rPr lang="en-US" sz="1300" dirty="0">
                <a:solidFill>
                  <a:schemeClr val="accent1"/>
                </a:solidFill>
                <a:latin typeface="Times New Roman"/>
                <a:cs typeface="Times New Roman"/>
              </a:rPr>
              <a:t> </a:t>
            </a:r>
            <a:r>
              <a:rPr lang="en-US" sz="1300" dirty="0" err="1">
                <a:solidFill>
                  <a:schemeClr val="accent1"/>
                </a:solidFill>
                <a:latin typeface="Times New Roman"/>
                <a:cs typeface="Times New Roman"/>
              </a:rPr>
              <a:t>өмнө</a:t>
            </a:r>
            <a:r>
              <a:rPr lang="en-US" sz="1300" dirty="0">
                <a:solidFill>
                  <a:schemeClr val="accent1"/>
                </a:solidFill>
                <a:latin typeface="Times New Roman"/>
                <a:cs typeface="Times New Roman"/>
              </a:rPr>
              <a:t> </a:t>
            </a:r>
            <a:r>
              <a:rPr lang="en-US" sz="1300" dirty="0" err="1">
                <a:solidFill>
                  <a:schemeClr val="accent1"/>
                </a:solidFill>
                <a:latin typeface="Times New Roman"/>
                <a:cs typeface="Times New Roman"/>
              </a:rPr>
              <a:t>шийдэгдэнэ</a:t>
            </a:r>
            <a:r>
              <a:rPr lang="en-US" sz="1300" dirty="0">
                <a:solidFill>
                  <a:schemeClr val="accent1"/>
                </a:solidFill>
                <a:latin typeface="Times New Roman"/>
                <a:cs typeface="Times New Roman"/>
              </a:rPr>
              <a:t> </a:t>
            </a:r>
            <a:endParaRPr lang="en-US" sz="1300">
              <a:solidFill>
                <a:schemeClr val="accent1"/>
              </a:solidFill>
              <a:latin typeface="Times New Roman"/>
              <a:ea typeface="Calibri"/>
              <a:cs typeface="Times New Roman"/>
            </a:endParaRPr>
          </a:p>
          <a:p>
            <a:r>
              <a:rPr lang="en-US" sz="1300" dirty="0">
                <a:latin typeface="Times New Roman"/>
                <a:cs typeface="Times New Roman"/>
              </a:rPr>
              <a:t> </a:t>
            </a:r>
            <a:r>
              <a:rPr lang="en-US" sz="1300" dirty="0" err="1">
                <a:latin typeface="Times New Roman"/>
                <a:cs typeface="Times New Roman"/>
              </a:rPr>
              <a:t>cout</a:t>
            </a:r>
            <a:r>
              <a:rPr lang="en-US" sz="1300" dirty="0">
                <a:latin typeface="Times New Roman"/>
                <a:cs typeface="Times New Roman"/>
              </a:rPr>
              <a:t> &lt;&lt; </a:t>
            </a:r>
            <a:r>
              <a:rPr lang="en-US" sz="1300" dirty="0" err="1">
                <a:latin typeface="Times New Roman"/>
                <a:cs typeface="Times New Roman"/>
              </a:rPr>
              <a:t>m.add</a:t>
            </a:r>
            <a:r>
              <a:rPr lang="en-US" sz="1300" dirty="0">
                <a:latin typeface="Times New Roman"/>
                <a:cs typeface="Times New Roman"/>
              </a:rPr>
              <a:t>(2, 3) &lt;&lt; </a:t>
            </a:r>
            <a:r>
              <a:rPr lang="en-US" sz="1300" dirty="0" err="1">
                <a:latin typeface="Times New Roman"/>
                <a:cs typeface="Times New Roman"/>
              </a:rPr>
              <a:t>endl</a:t>
            </a:r>
            <a:r>
              <a:rPr lang="en-US" sz="1300" dirty="0">
                <a:latin typeface="Times New Roman"/>
                <a:cs typeface="Times New Roman"/>
              </a:rPr>
              <a:t> ; </a:t>
            </a:r>
            <a:endParaRPr lang="en-US" sz="1300" dirty="0">
              <a:latin typeface="Times New Roman"/>
              <a:ea typeface="Calibri"/>
              <a:cs typeface="Times New Roman"/>
            </a:endParaRPr>
          </a:p>
          <a:p>
            <a:r>
              <a:rPr lang="en-US" sz="1300" dirty="0">
                <a:latin typeface="Times New Roman"/>
                <a:cs typeface="Times New Roman"/>
              </a:rPr>
              <a:t> </a:t>
            </a:r>
            <a:r>
              <a:rPr lang="en-US" sz="1300" dirty="0" err="1">
                <a:latin typeface="Times New Roman"/>
                <a:cs typeface="Times New Roman"/>
              </a:rPr>
              <a:t>cout</a:t>
            </a:r>
            <a:r>
              <a:rPr lang="en-US" sz="1300" dirty="0">
                <a:latin typeface="Times New Roman"/>
                <a:cs typeface="Times New Roman"/>
              </a:rPr>
              <a:t> &lt;&lt; </a:t>
            </a:r>
            <a:r>
              <a:rPr lang="en-US" sz="1300" dirty="0" err="1">
                <a:latin typeface="Times New Roman"/>
                <a:cs typeface="Times New Roman"/>
              </a:rPr>
              <a:t>m.add</a:t>
            </a:r>
            <a:r>
              <a:rPr lang="en-US" sz="1300" dirty="0">
                <a:latin typeface="Times New Roman"/>
                <a:cs typeface="Times New Roman"/>
              </a:rPr>
              <a:t>(2.5, 3.5) &lt;&lt; </a:t>
            </a:r>
            <a:r>
              <a:rPr lang="en-US" sz="1300" dirty="0" err="1">
                <a:latin typeface="Times New Roman"/>
                <a:cs typeface="Times New Roman"/>
              </a:rPr>
              <a:t>endl</a:t>
            </a:r>
            <a:r>
              <a:rPr lang="en-US" sz="1300" dirty="0">
                <a:latin typeface="Times New Roman"/>
                <a:cs typeface="Times New Roman"/>
              </a:rPr>
              <a:t> ; </a:t>
            </a:r>
            <a:endParaRPr lang="en-US" sz="1300" dirty="0">
              <a:latin typeface="Times New Roman"/>
              <a:ea typeface="Calibri"/>
              <a:cs typeface="Times New Roman"/>
            </a:endParaRPr>
          </a:p>
          <a:p>
            <a:r>
              <a:rPr lang="en-US" sz="1300">
                <a:latin typeface="Times New Roman"/>
                <a:cs typeface="Times New Roman"/>
              </a:rPr>
              <a:t>} </a:t>
            </a:r>
            <a:endParaRPr lang="en-US" sz="1300">
              <a:latin typeface="Times New Roman"/>
              <a:ea typeface="Calibri"/>
              <a:cs typeface="Times New Roman"/>
            </a:endParaRPr>
          </a:p>
          <a:p>
            <a:pPr algn="ctr"/>
            <a:endParaRPr lang="en-GB" sz="1300" dirty="0">
              <a:latin typeface="Times New Roman"/>
              <a:ea typeface="Calibri"/>
              <a:cs typeface="Times New Roman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12923F-6F19-34BE-7E2B-6B625AEE2608}"/>
              </a:ext>
            </a:extLst>
          </p:cNvPr>
          <p:cNvSpPr txBox="1"/>
          <p:nvPr/>
        </p:nvSpPr>
        <p:spPr>
          <a:xfrm>
            <a:off x="4659923" y="1965081"/>
            <a:ext cx="2787161" cy="286232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900" dirty="0">
                <a:solidFill>
                  <a:srgbClr val="FF0000"/>
                </a:solidFill>
                <a:latin typeface="Times New Roman"/>
                <a:cs typeface="Times New Roman"/>
              </a:rPr>
              <a:t>class Animal</a:t>
            </a:r>
            <a:r>
              <a:rPr lang="en-US" sz="900" dirty="0">
                <a:latin typeface="Times New Roman"/>
                <a:cs typeface="Times New Roman"/>
              </a:rPr>
              <a:t> {</a:t>
            </a:r>
            <a:br>
              <a:rPr lang="en-US" sz="900" dirty="0">
                <a:latin typeface="Times New Roman"/>
                <a:cs typeface="Times New Roman"/>
              </a:rPr>
            </a:br>
            <a:r>
              <a:rPr lang="en-US" sz="900" dirty="0">
                <a:latin typeface="Times New Roman"/>
                <a:cs typeface="Times New Roman"/>
              </a:rPr>
              <a:t> public :</a:t>
            </a:r>
            <a:br>
              <a:rPr lang="en-US" sz="900" dirty="0">
                <a:latin typeface="Times New Roman"/>
                <a:cs typeface="Times New Roman"/>
              </a:rPr>
            </a:br>
            <a:r>
              <a:rPr lang="en-US" sz="900" dirty="0">
                <a:latin typeface="Times New Roman"/>
                <a:cs typeface="Times New Roman"/>
              </a:rPr>
              <a:t> </a:t>
            </a:r>
            <a:r>
              <a:rPr lang="en-US" sz="900" dirty="0">
                <a:solidFill>
                  <a:srgbClr val="7030A0"/>
                </a:solidFill>
                <a:latin typeface="Times New Roman"/>
                <a:cs typeface="Times New Roman"/>
              </a:rPr>
              <a:t> virtual void sound() = 0  ;</a:t>
            </a:r>
            <a:br>
              <a:rPr lang="en-US" sz="900" dirty="0">
                <a:latin typeface="Times New Roman"/>
                <a:cs typeface="Times New Roman"/>
              </a:rPr>
            </a:br>
            <a:r>
              <a:rPr lang="en-US" sz="900" dirty="0">
                <a:latin typeface="Times New Roman"/>
                <a:cs typeface="Times New Roman"/>
              </a:rPr>
              <a:t>} ;</a:t>
            </a:r>
            <a:br>
              <a:rPr lang="en-US" sz="900" dirty="0">
                <a:latin typeface="Times New Roman"/>
                <a:cs typeface="Times New Roman"/>
              </a:rPr>
            </a:br>
            <a:br>
              <a:rPr lang="en-US" sz="900" dirty="0">
                <a:latin typeface="Times New Roman"/>
                <a:cs typeface="Times New Roman"/>
              </a:rPr>
            </a:br>
            <a:r>
              <a:rPr lang="en-US" sz="900" dirty="0">
                <a:solidFill>
                  <a:srgbClr val="FF0000"/>
                </a:solidFill>
                <a:latin typeface="Times New Roman"/>
                <a:cs typeface="Times New Roman"/>
              </a:rPr>
              <a:t>class Dog : public Animal</a:t>
            </a:r>
            <a:r>
              <a:rPr lang="en-US" sz="900" dirty="0">
                <a:latin typeface="Times New Roman"/>
                <a:cs typeface="Times New Roman"/>
              </a:rPr>
              <a:t> {</a:t>
            </a:r>
            <a:br>
              <a:rPr lang="en-US" sz="900" dirty="0">
                <a:latin typeface="Times New Roman"/>
                <a:cs typeface="Times New Roman"/>
              </a:rPr>
            </a:br>
            <a:r>
              <a:rPr lang="en-US" sz="900" dirty="0">
                <a:latin typeface="Times New Roman"/>
                <a:cs typeface="Times New Roman"/>
              </a:rPr>
              <a:t> public :</a:t>
            </a:r>
            <a:br>
              <a:rPr lang="en-US" sz="900" dirty="0">
                <a:latin typeface="Times New Roman"/>
                <a:cs typeface="Times New Roman"/>
              </a:rPr>
            </a:br>
            <a:r>
              <a:rPr lang="en-US" sz="900">
                <a:latin typeface="Times New Roman"/>
                <a:cs typeface="Times New Roman"/>
              </a:rPr>
              <a:t>  </a:t>
            </a:r>
            <a:r>
              <a:rPr lang="en-US" sz="900">
                <a:solidFill>
                  <a:srgbClr val="7030A0"/>
                </a:solidFill>
                <a:latin typeface="Times New Roman"/>
                <a:cs typeface="Times New Roman"/>
              </a:rPr>
              <a:t>void sound() override { </a:t>
            </a:r>
            <a:endParaRPr lang="en-US" sz="900" dirty="0">
              <a:solidFill>
                <a:srgbClr val="7030A0"/>
              </a:solidFill>
              <a:latin typeface="Times New Roman"/>
              <a:cs typeface="Times New Roman"/>
            </a:endParaRPr>
          </a:p>
          <a:p>
            <a:r>
              <a:rPr lang="en-US" sz="900" dirty="0">
                <a:solidFill>
                  <a:srgbClr val="7030A0"/>
                </a:solidFill>
                <a:latin typeface="Times New Roman"/>
                <a:cs typeface="Times New Roman"/>
              </a:rPr>
              <a:t>   </a:t>
            </a:r>
            <a:r>
              <a:rPr lang="en-US" sz="900" dirty="0" err="1">
                <a:solidFill>
                  <a:srgbClr val="7030A0"/>
                </a:solidFill>
                <a:latin typeface="Times New Roman"/>
                <a:cs typeface="Times New Roman"/>
              </a:rPr>
              <a:t>cout</a:t>
            </a:r>
            <a:r>
              <a:rPr lang="en-US" sz="900" dirty="0">
                <a:solidFill>
                  <a:srgbClr val="7030A0"/>
                </a:solidFill>
                <a:latin typeface="Times New Roman"/>
                <a:cs typeface="Times New Roman"/>
              </a:rPr>
              <a:t> &lt;&lt; "Dog barks\n"&lt;&lt; </a:t>
            </a:r>
            <a:r>
              <a:rPr lang="en-US" sz="900" dirty="0" err="1">
                <a:solidFill>
                  <a:srgbClr val="7030A0"/>
                </a:solidFill>
                <a:latin typeface="Times New Roman"/>
                <a:cs typeface="Times New Roman"/>
              </a:rPr>
              <a:t>endl</a:t>
            </a:r>
            <a:r>
              <a:rPr lang="en-US" sz="900" dirty="0">
                <a:solidFill>
                  <a:srgbClr val="7030A0"/>
                </a:solidFill>
                <a:latin typeface="Times New Roman"/>
                <a:cs typeface="Times New Roman"/>
              </a:rPr>
              <a:t> ;</a:t>
            </a:r>
            <a:br>
              <a:rPr lang="en-US" sz="900" dirty="0">
                <a:solidFill>
                  <a:srgbClr val="7030A0"/>
                </a:solidFill>
                <a:latin typeface="Times New Roman"/>
                <a:cs typeface="Times New Roman"/>
              </a:rPr>
            </a:br>
            <a:r>
              <a:rPr lang="en-US" sz="900" dirty="0">
                <a:solidFill>
                  <a:srgbClr val="7030A0"/>
                </a:solidFill>
                <a:latin typeface="Times New Roman"/>
                <a:cs typeface="Times New Roman"/>
              </a:rPr>
              <a:t>}</a:t>
            </a:r>
            <a:br>
              <a:rPr lang="en-US" sz="900" dirty="0">
                <a:solidFill>
                  <a:srgbClr val="7030A0"/>
                </a:solidFill>
                <a:latin typeface="Times New Roman"/>
                <a:cs typeface="Times New Roman"/>
              </a:rPr>
            </a:br>
            <a:r>
              <a:rPr lang="en-US" sz="900" dirty="0">
                <a:latin typeface="Times New Roman"/>
                <a:cs typeface="Times New Roman"/>
              </a:rPr>
              <a:t>};</a:t>
            </a:r>
            <a:br>
              <a:rPr lang="en-US" sz="900" dirty="0">
                <a:latin typeface="Times New Roman"/>
                <a:cs typeface="Times New Roman"/>
              </a:rPr>
            </a:br>
            <a:br>
              <a:rPr lang="en-US" sz="900" dirty="0">
                <a:latin typeface="Times New Roman"/>
                <a:cs typeface="Times New Roman"/>
              </a:rPr>
            </a:br>
            <a:r>
              <a:rPr lang="en-US" sz="900" dirty="0">
                <a:latin typeface="Times New Roman"/>
                <a:cs typeface="Times New Roman"/>
              </a:rPr>
              <a:t>int main() {</a:t>
            </a:r>
            <a:br>
              <a:rPr lang="en-US" sz="900" dirty="0">
                <a:latin typeface="Times New Roman"/>
                <a:cs typeface="Times New Roman"/>
              </a:rPr>
            </a:br>
            <a:r>
              <a:rPr lang="en-US" sz="900" dirty="0">
                <a:latin typeface="Times New Roman"/>
                <a:cs typeface="Times New Roman"/>
              </a:rPr>
              <a:t> Animal* a ; </a:t>
            </a:r>
            <a:br>
              <a:rPr lang="en-US" sz="900" dirty="0">
                <a:latin typeface="Times New Roman"/>
                <a:cs typeface="Times New Roman"/>
              </a:rPr>
            </a:br>
            <a:r>
              <a:rPr lang="en-US" sz="900" dirty="0">
                <a:latin typeface="Times New Roman"/>
                <a:cs typeface="Times New Roman"/>
              </a:rPr>
              <a:t> Dog d ;</a:t>
            </a:r>
            <a:br>
              <a:rPr lang="en-US" sz="900" dirty="0">
                <a:latin typeface="Times New Roman"/>
                <a:cs typeface="Times New Roman"/>
              </a:rPr>
            </a:br>
            <a:br>
              <a:rPr lang="en-US" sz="900" dirty="0">
                <a:latin typeface="Times New Roman"/>
                <a:cs typeface="Times New Roman"/>
              </a:rPr>
            </a:br>
            <a:r>
              <a:rPr lang="en-US" sz="900" dirty="0">
                <a:latin typeface="Times New Roman"/>
                <a:cs typeface="Times New Roman"/>
              </a:rPr>
              <a:t> a = &amp;d ;</a:t>
            </a:r>
            <a:br>
              <a:rPr lang="en-US" sz="900" dirty="0">
                <a:latin typeface="Times New Roman"/>
                <a:cs typeface="Times New Roman"/>
              </a:rPr>
            </a:br>
            <a:r>
              <a:rPr lang="en-US" sz="900" dirty="0">
                <a:latin typeface="Times New Roman"/>
                <a:cs typeface="Times New Roman"/>
              </a:rPr>
              <a:t> a-&gt;sound() ; </a:t>
            </a:r>
            <a:endParaRPr lang="en-US" sz="900" dirty="0">
              <a:latin typeface="Times New Roman"/>
              <a:ea typeface="Calibri"/>
              <a:cs typeface="Times New Roman"/>
            </a:endParaRPr>
          </a:p>
          <a:p>
            <a:r>
              <a:rPr lang="en-US" sz="900">
                <a:latin typeface="Times New Roman"/>
                <a:ea typeface="Calibri"/>
                <a:cs typeface="Times New Roman"/>
              </a:rPr>
              <a:t>} </a:t>
            </a:r>
          </a:p>
          <a:p>
            <a:pPr algn="ctr"/>
            <a:endParaRPr lang="en-US" sz="9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>
                <a:latin typeface="Times New Roman"/>
                <a:ea typeface="Calibri"/>
                <a:cs typeface="Times New Roman"/>
              </a:rPr>
              <a:t>ОНОЛ  —  Static </a:t>
            </a:r>
            <a:r>
              <a:rPr lang="en-US" sz="2400" err="1">
                <a:latin typeface="Times New Roman"/>
                <a:ea typeface="Calibri"/>
                <a:cs typeface="Times New Roman"/>
              </a:rPr>
              <a:t>Гишүүн</a:t>
            </a:r>
            <a:r>
              <a:rPr lang="en-US" sz="2400">
                <a:latin typeface="Times New Roman"/>
                <a:ea typeface="Calibri"/>
                <a:cs typeface="Times New Roman"/>
              </a:rPr>
              <a:t> </a:t>
            </a:r>
            <a:r>
              <a:rPr lang="en-US" sz="2400" err="1">
                <a:latin typeface="Times New Roman"/>
                <a:ea typeface="Calibri"/>
                <a:cs typeface="Times New Roman"/>
              </a:rPr>
              <a:t>Өгөгдөл</a:t>
            </a:r>
            <a:r>
              <a:rPr lang="en-US" sz="2400">
                <a:latin typeface="Times New Roman"/>
                <a:ea typeface="Calibri"/>
                <a:cs typeface="Times New Roman"/>
              </a:rPr>
              <a:t> &amp; </a:t>
            </a:r>
            <a:r>
              <a:rPr lang="en-US" sz="2400" err="1">
                <a:latin typeface="Times New Roman"/>
                <a:ea typeface="Calibri"/>
                <a:cs typeface="Times New Roman"/>
              </a:rPr>
              <a:t>Функц</a:t>
            </a:r>
            <a:endParaRPr lang="en-US" sz="2400">
              <a:latin typeface="Times New Roman"/>
              <a:ea typeface="Calibri"/>
              <a:cs typeface="Times New Roman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Static </a:t>
            </a:r>
            <a:r>
              <a:rPr lang="en-US" sz="1600" b="1" err="1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гишүүн</a:t>
            </a:r>
            <a:r>
              <a:rPr lang="en-US" sz="1600" b="1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600" b="1" err="1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өгөгдөл</a:t>
            </a:r>
            <a:endParaRPr lang="en-US" sz="1600">
              <a:latin typeface="Times New Roman"/>
              <a:ea typeface="Calibri"/>
              <a:cs typeface="Times New Roman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164592" cy="164592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31520" y="13075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err="1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Бүх</a:t>
            </a:r>
            <a:r>
              <a:rPr lang="en-US" sz="1400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объект</a:t>
            </a:r>
            <a:r>
              <a:rPr lang="en-US" sz="1400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дундаа</a:t>
            </a:r>
            <a:r>
              <a:rPr lang="en-US" sz="1400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нэг</a:t>
            </a:r>
            <a:r>
              <a:rPr lang="en-US" sz="1400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хувь</a:t>
            </a:r>
            <a:r>
              <a:rPr lang="en-US" sz="1400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санах</a:t>
            </a:r>
            <a:r>
              <a:rPr lang="en-US" sz="1400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ой</a:t>
            </a:r>
            <a:r>
              <a:rPr lang="en-US" sz="1400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ашигладаг</a:t>
            </a:r>
            <a:endParaRPr lang="en-US" sz="1400" err="1">
              <a:latin typeface="Times New Roman"/>
              <a:ea typeface="Calibri"/>
              <a:cs typeface="Times New Roman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64592" cy="164592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31520" y="1719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err="1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Программ</a:t>
            </a:r>
            <a:r>
              <a:rPr lang="en-US" sz="1400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эхлэхэд</a:t>
            </a:r>
            <a:r>
              <a:rPr lang="en-US" sz="1400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үүснэ</a:t>
            </a:r>
            <a:r>
              <a:rPr lang="en-US" sz="1400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 — </a:t>
            </a:r>
            <a:r>
              <a:rPr lang="en-US" sz="1400" err="1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дуусталаа</a:t>
            </a:r>
            <a:r>
              <a:rPr lang="en-US" sz="1400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оршино</a:t>
            </a:r>
            <a:endParaRPr lang="en-US" sz="1400" err="1">
              <a:latin typeface="Times New Roman"/>
              <a:ea typeface="Calibri"/>
              <a:cs typeface="Times New Roman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57200" y="2148840"/>
            <a:ext cx="164592" cy="164592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31520" y="21305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err="1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Объект</a:t>
            </a:r>
            <a:r>
              <a:rPr lang="en-US" sz="1400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бүхэн</a:t>
            </a:r>
            <a:r>
              <a:rPr lang="en-US" sz="1400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устсан</a:t>
            </a:r>
            <a:r>
              <a:rPr lang="en-US" sz="1400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 ч </a:t>
            </a:r>
            <a:r>
              <a:rPr lang="en-US" sz="1400" err="1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хадгалагдан</a:t>
            </a:r>
            <a:r>
              <a:rPr lang="en-US" sz="1400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үлдэнэ</a:t>
            </a:r>
            <a:endParaRPr lang="en-US" sz="1400" err="1">
              <a:latin typeface="Times New Roman"/>
              <a:ea typeface="Calibri"/>
              <a:cs typeface="Times New Roman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57200" y="2560320"/>
            <a:ext cx="164592" cy="164592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31520" y="2542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err="1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Классын</a:t>
            </a:r>
            <a:r>
              <a:rPr lang="en-US" sz="1400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гадна</a:t>
            </a:r>
            <a:r>
              <a:rPr lang="en-US" sz="1400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зарлагдана</a:t>
            </a:r>
            <a:r>
              <a:rPr lang="en-US" sz="1400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: int Shape::count = 0;</a:t>
            </a:r>
            <a:endParaRPr lang="en-US" sz="1400">
              <a:latin typeface="Times New Roman"/>
              <a:ea typeface="Calibri"/>
              <a:cs typeface="Times New Roman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939466" y="971721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FF0000"/>
                </a:solidFill>
                <a:latin typeface="Times New Roman"/>
                <a:ea typeface="Consolas" pitchFamily="34" charset="-122"/>
                <a:cs typeface="Times New Roman"/>
              </a:rPr>
              <a:t>class Counter</a:t>
            </a:r>
            <a:r>
              <a:rPr lang="en-US" sz="1400">
                <a:solidFill>
                  <a:srgbClr val="67E8F9"/>
                </a:solidFill>
                <a:latin typeface="Times New Roman"/>
                <a:ea typeface="Consolas" pitchFamily="34" charset="-122"/>
                <a:cs typeface="Times New Roman"/>
              </a:rPr>
              <a:t> {</a:t>
            </a:r>
            <a:endParaRPr lang="en-US" sz="1400">
              <a:latin typeface="Times New Roman"/>
              <a:cs typeface="Times New Roman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939466" y="1209465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>
                <a:latin typeface="Times New Roman"/>
                <a:ea typeface="Consolas" pitchFamily="34" charset="-122"/>
                <a:cs typeface="Times New Roman"/>
              </a:rPr>
              <a:t> public:</a:t>
            </a:r>
            <a:endParaRPr lang="en-US" sz="1400">
              <a:latin typeface="Times New Roman"/>
              <a:ea typeface="Calibri"/>
              <a:cs typeface="Times New Roman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939466" y="1447209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>
                <a:solidFill>
                  <a:srgbClr val="10B981"/>
                </a:solidFill>
                <a:latin typeface="Times New Roman"/>
                <a:ea typeface="Consolas" pitchFamily="34" charset="-122"/>
                <a:cs typeface="Times New Roman"/>
              </a:rPr>
              <a:t>    static int count; </a:t>
            </a:r>
            <a:endParaRPr lang="en-US" sz="1400">
              <a:solidFill>
                <a:srgbClr val="10B981"/>
              </a:solidFill>
              <a:latin typeface="Times New Roman"/>
              <a:ea typeface="Calibri"/>
              <a:cs typeface="Times New Roman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4939466" y="1684953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>
                <a:latin typeface="Times New Roman"/>
                <a:ea typeface="Consolas" pitchFamily="34" charset="-122"/>
                <a:cs typeface="Times New Roman"/>
              </a:rPr>
              <a:t>    Counter() { </a:t>
            </a:r>
            <a:endParaRPr lang="en-US" sz="1400">
              <a:latin typeface="Times New Roman"/>
              <a:cs typeface="Times New Roman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939466" y="1922697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>
                <a:solidFill>
                  <a:srgbClr val="67E8F9"/>
                </a:solidFill>
                <a:latin typeface="Times New Roman"/>
                <a:ea typeface="+mn-lt"/>
                <a:cs typeface="Times New Roman"/>
              </a:rPr>
              <a:t>   // </a:t>
            </a:r>
            <a:r>
              <a:rPr lang="en-US" sz="1400" err="1">
                <a:solidFill>
                  <a:srgbClr val="67E8F9"/>
                </a:solidFill>
                <a:latin typeface="Times New Roman"/>
                <a:ea typeface="+mn-lt"/>
                <a:cs typeface="Times New Roman"/>
              </a:rPr>
              <a:t>байгуулагчаар</a:t>
            </a:r>
            <a:r>
              <a:rPr lang="en-US" sz="1400">
                <a:solidFill>
                  <a:srgbClr val="67E8F9"/>
                </a:solidFill>
                <a:latin typeface="Times New Roman"/>
                <a:ea typeface="+mn-lt"/>
                <a:cs typeface="Times New Roman"/>
              </a:rPr>
              <a:t> </a:t>
            </a:r>
            <a:r>
              <a:rPr lang="en-US" sz="1400" err="1">
                <a:solidFill>
                  <a:srgbClr val="67E8F9"/>
                </a:solidFill>
                <a:latin typeface="Times New Roman"/>
                <a:ea typeface="+mn-lt"/>
                <a:cs typeface="Times New Roman"/>
              </a:rPr>
              <a:t>утгыг</a:t>
            </a:r>
            <a:r>
              <a:rPr lang="en-US" sz="1400">
                <a:solidFill>
                  <a:srgbClr val="67E8F9"/>
                </a:solidFill>
                <a:latin typeface="Times New Roman"/>
                <a:ea typeface="+mn-lt"/>
                <a:cs typeface="Times New Roman"/>
              </a:rPr>
              <a:t> </a:t>
            </a:r>
            <a:r>
              <a:rPr lang="en-US" sz="1400" err="1">
                <a:solidFill>
                  <a:srgbClr val="67E8F9"/>
                </a:solidFill>
                <a:latin typeface="Times New Roman"/>
                <a:ea typeface="+mn-lt"/>
                <a:cs typeface="Times New Roman"/>
              </a:rPr>
              <a:t>нэмэгдүүлэх</a:t>
            </a:r>
            <a:r>
              <a:rPr lang="en-US" sz="1400">
                <a:solidFill>
                  <a:srgbClr val="67E8F9"/>
                </a:solidFill>
                <a:latin typeface="Times New Roman"/>
                <a:ea typeface="+mn-lt"/>
                <a:cs typeface="Times New Roman"/>
              </a:rPr>
              <a:t> </a:t>
            </a:r>
            <a:endParaRPr lang="en-US" sz="1400">
              <a:solidFill>
                <a:srgbClr val="67E8F9"/>
              </a:solidFill>
              <a:latin typeface="Times New Roman"/>
              <a:ea typeface="Calibri"/>
              <a:cs typeface="Times New Roman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939466" y="2160441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>
                <a:latin typeface="Times New Roman"/>
                <a:ea typeface="Consolas" pitchFamily="34" charset="-122"/>
                <a:cs typeface="Times New Roman"/>
              </a:rPr>
              <a:t>   count++;</a:t>
            </a:r>
            <a:endParaRPr lang="en-US" sz="1400">
              <a:latin typeface="Times New Roman"/>
              <a:ea typeface="Calibri"/>
              <a:cs typeface="Times New Roman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939466" y="2398185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latin typeface="Times New Roman"/>
                <a:ea typeface="Consolas" pitchFamily="34" charset="-122"/>
                <a:cs typeface="Times New Roman"/>
              </a:rPr>
              <a:t>  }</a:t>
            </a:r>
            <a:endParaRPr lang="en-US" sz="1400">
              <a:latin typeface="Times New Roman"/>
              <a:ea typeface="Calibri"/>
              <a:cs typeface="Times New Roman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4939466" y="2635929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67E8F9"/>
                </a:solidFill>
                <a:latin typeface="Times New Roman"/>
                <a:ea typeface="Consolas" pitchFamily="34" charset="-122"/>
                <a:cs typeface="Times New Roman"/>
              </a:rPr>
              <a:t>};</a:t>
            </a:r>
            <a:endParaRPr lang="en-US" sz="1400">
              <a:latin typeface="Times New Roman"/>
              <a:ea typeface="Calibri"/>
              <a:cs typeface="Times New Roman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4939466" y="2873673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>
                <a:latin typeface="Times New Roman"/>
                <a:ea typeface="+mn-lt"/>
                <a:cs typeface="Times New Roman"/>
              </a:rPr>
              <a:t>Counter a ;</a:t>
            </a:r>
            <a:r>
              <a:rPr lang="en-US" sz="1400">
                <a:solidFill>
                  <a:srgbClr val="94A3B8"/>
                </a:solidFill>
                <a:latin typeface="Times New Roman"/>
                <a:ea typeface="+mn-lt"/>
                <a:cs typeface="Times New Roman"/>
              </a:rPr>
              <a:t> </a:t>
            </a:r>
            <a:endParaRPr lang="en-US" sz="1400">
              <a:latin typeface="Times New Roman"/>
              <a:ea typeface="Calibri"/>
              <a:cs typeface="Times New Roman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4939466" y="3111417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>
                <a:latin typeface="Times New Roman"/>
                <a:ea typeface="+mn-lt"/>
                <a:cs typeface="Times New Roman"/>
              </a:rPr>
              <a:t>Counter b ;</a:t>
            </a:r>
            <a:r>
              <a:rPr lang="en-US" sz="1400">
                <a:solidFill>
                  <a:srgbClr val="F59E0B"/>
                </a:solidFill>
                <a:latin typeface="Times New Roman"/>
                <a:ea typeface="+mn-lt"/>
                <a:cs typeface="Times New Roman"/>
              </a:rPr>
              <a:t> </a:t>
            </a:r>
            <a:endParaRPr lang="en-US" sz="1400">
              <a:latin typeface="Times New Roman"/>
              <a:ea typeface="Calibri"/>
              <a:cs typeface="Times New Roman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4939466" y="3349161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>
                <a:latin typeface="Times New Roman"/>
                <a:ea typeface="+mn-lt"/>
                <a:cs typeface="Times New Roman"/>
              </a:rPr>
              <a:t>Counter c ; </a:t>
            </a:r>
          </a:p>
        </p:txBody>
      </p:sp>
      <p:sp>
        <p:nvSpPr>
          <p:cNvPr id="28" name="Text 26"/>
          <p:cNvSpPr/>
          <p:nvPr/>
        </p:nvSpPr>
        <p:spPr>
          <a:xfrm>
            <a:off x="534650" y="3049250"/>
            <a:ext cx="4092623" cy="12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err="1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Объектоор</a:t>
            </a:r>
            <a:r>
              <a:rPr lang="en-US" sz="1400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болон</a:t>
            </a:r>
            <a:r>
              <a:rPr lang="en-US" sz="1400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классаар</a:t>
            </a:r>
            <a:r>
              <a:rPr lang="en-US" sz="1400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хоёуланд</a:t>
            </a:r>
            <a:r>
              <a:rPr lang="en-US" sz="1400" b="1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b="1" err="1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хандаж</a:t>
            </a:r>
            <a:r>
              <a:rPr lang="en-US" sz="1400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болно</a:t>
            </a:r>
            <a:endParaRPr lang="en-US" sz="1400" err="1">
              <a:latin typeface="Times New Roman"/>
              <a:ea typeface="Calibri"/>
              <a:cs typeface="Times New Roman"/>
            </a:endParaRPr>
          </a:p>
        </p:txBody>
      </p:sp>
      <p:sp>
        <p:nvSpPr>
          <p:cNvPr id="30" name="Text 23">
            <a:extLst>
              <a:ext uri="{FF2B5EF4-FFF2-40B4-BE49-F238E27FC236}">
                <a16:creationId xmlns:a16="http://schemas.microsoft.com/office/drawing/2014/main" id="{07670281-1431-3996-0311-4795F1A3745F}"/>
              </a:ext>
            </a:extLst>
          </p:cNvPr>
          <p:cNvSpPr/>
          <p:nvPr/>
        </p:nvSpPr>
        <p:spPr>
          <a:xfrm>
            <a:off x="4939465" y="3712559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err="1">
                <a:latin typeface="Times New Roman"/>
                <a:ea typeface="+mn-lt"/>
                <a:cs typeface="Times New Roman"/>
              </a:rPr>
              <a:t>Энэ</a:t>
            </a:r>
            <a:r>
              <a:rPr lang="en-US" sz="1400">
                <a:latin typeface="Times New Roman"/>
                <a:ea typeface="+mn-lt"/>
                <a:cs typeface="Times New Roman"/>
              </a:rPr>
              <a:t> 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үед</a:t>
            </a:r>
            <a:r>
              <a:rPr lang="en-US" sz="1400">
                <a:latin typeface="Times New Roman"/>
                <a:ea typeface="+mn-lt"/>
                <a:cs typeface="Times New Roman"/>
              </a:rPr>
              <a:t> count = 3 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болно</a:t>
            </a:r>
            <a:r>
              <a:rPr lang="en-US" sz="1400">
                <a:latin typeface="Times New Roman"/>
                <a:ea typeface="+mn-lt"/>
                <a:cs typeface="Times New Roman"/>
              </a:rPr>
              <a:t>.</a:t>
            </a:r>
            <a:endParaRPr lang="en-US">
              <a:latin typeface="Times New Roman"/>
              <a:ea typeface="Calibri"/>
              <a:cs typeface="Times New Roman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C284D31-1342-7219-1AA0-A1252BE5F71F}"/>
              </a:ext>
            </a:extLst>
          </p:cNvPr>
          <p:cNvSpPr txBox="1"/>
          <p:nvPr/>
        </p:nvSpPr>
        <p:spPr>
          <a:xfrm>
            <a:off x="366784" y="3834169"/>
            <a:ext cx="4358754" cy="95410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>
                <a:latin typeface="Times New Roman"/>
                <a:cs typeface="Times New Roman"/>
              </a:rPr>
              <a:t>Static </a:t>
            </a:r>
            <a:r>
              <a:rPr lang="en-US" sz="1400" err="1">
                <a:latin typeface="Times New Roman"/>
                <a:cs typeface="Times New Roman"/>
              </a:rPr>
              <a:t>гишүүн</a:t>
            </a:r>
            <a:r>
              <a:rPr lang="en-US" sz="1400">
                <a:latin typeface="Times New Roman"/>
                <a:cs typeface="Times New Roman"/>
              </a:rPr>
              <a:t> </a:t>
            </a:r>
            <a:r>
              <a:rPr lang="en-US" sz="1400" err="1">
                <a:latin typeface="Times New Roman"/>
                <a:cs typeface="Times New Roman"/>
              </a:rPr>
              <a:t>функц</a:t>
            </a:r>
            <a:r>
              <a:rPr lang="en-US" sz="1400">
                <a:latin typeface="Times New Roman"/>
                <a:cs typeface="Times New Roman"/>
              </a:rPr>
              <a:t> </a:t>
            </a:r>
            <a:r>
              <a:rPr lang="en-US" sz="1400" err="1">
                <a:latin typeface="Times New Roman"/>
                <a:cs typeface="Times New Roman"/>
              </a:rPr>
              <a:t>гэдэг</a:t>
            </a:r>
            <a:r>
              <a:rPr lang="en-US" sz="1400">
                <a:latin typeface="Times New Roman"/>
                <a:cs typeface="Times New Roman"/>
              </a:rPr>
              <a:t> </a:t>
            </a:r>
            <a:r>
              <a:rPr lang="en-US" sz="1400" err="1">
                <a:latin typeface="Times New Roman"/>
                <a:cs typeface="Times New Roman"/>
              </a:rPr>
              <a:t>нь</a:t>
            </a:r>
            <a:r>
              <a:rPr lang="en-US" sz="1400">
                <a:latin typeface="Times New Roman"/>
                <a:cs typeface="Times New Roman"/>
              </a:rPr>
              <a:t> </a:t>
            </a:r>
            <a:r>
              <a:rPr lang="en-US" sz="1400" err="1">
                <a:latin typeface="Times New Roman"/>
                <a:cs typeface="Times New Roman"/>
              </a:rPr>
              <a:t>класст</a:t>
            </a:r>
            <a:r>
              <a:rPr lang="en-US" sz="1400">
                <a:latin typeface="Times New Roman"/>
                <a:cs typeface="Times New Roman"/>
              </a:rPr>
              <a:t> </a:t>
            </a:r>
            <a:r>
              <a:rPr lang="en-US" sz="1400" err="1">
                <a:latin typeface="Times New Roman"/>
                <a:cs typeface="Times New Roman"/>
              </a:rPr>
              <a:t>хамааралтай</a:t>
            </a:r>
            <a:r>
              <a:rPr lang="en-US" sz="1400">
                <a:latin typeface="Times New Roman"/>
                <a:cs typeface="Times New Roman"/>
              </a:rPr>
              <a:t> </a:t>
            </a:r>
            <a:r>
              <a:rPr lang="en-US" sz="1400" err="1">
                <a:latin typeface="Times New Roman"/>
                <a:cs typeface="Times New Roman"/>
              </a:rPr>
              <a:t>байдаг</a:t>
            </a:r>
            <a:r>
              <a:rPr lang="en-US" sz="1400">
                <a:latin typeface="Times New Roman"/>
                <a:cs typeface="Times New Roman"/>
              </a:rPr>
              <a:t>. </a:t>
            </a:r>
            <a:r>
              <a:rPr lang="en-US" sz="1400" err="1">
                <a:latin typeface="Times New Roman"/>
                <a:cs typeface="Times New Roman"/>
              </a:rPr>
              <a:t>Иймээс</a:t>
            </a:r>
            <a:r>
              <a:rPr lang="en-US" sz="1400">
                <a:latin typeface="Times New Roman"/>
                <a:cs typeface="Times New Roman"/>
              </a:rPr>
              <a:t> </a:t>
            </a:r>
            <a:r>
              <a:rPr lang="en-US" sz="1400" err="1">
                <a:latin typeface="Times New Roman"/>
                <a:cs typeface="Times New Roman"/>
              </a:rPr>
              <a:t>объект</a:t>
            </a:r>
            <a:r>
              <a:rPr lang="en-US" sz="1400">
                <a:latin typeface="Times New Roman"/>
                <a:cs typeface="Times New Roman"/>
              </a:rPr>
              <a:t> </a:t>
            </a:r>
            <a:r>
              <a:rPr lang="en-US" sz="1400" err="1">
                <a:latin typeface="Times New Roman"/>
                <a:cs typeface="Times New Roman"/>
              </a:rPr>
              <a:t>үүсгэлгүйгээр</a:t>
            </a:r>
            <a:r>
              <a:rPr lang="en-US" sz="1400">
                <a:latin typeface="Times New Roman"/>
                <a:cs typeface="Times New Roman"/>
              </a:rPr>
              <a:t> </a:t>
            </a:r>
            <a:r>
              <a:rPr lang="en-US" sz="1400" err="1">
                <a:latin typeface="Times New Roman"/>
                <a:cs typeface="Times New Roman"/>
              </a:rPr>
              <a:t>классын</a:t>
            </a:r>
            <a:r>
              <a:rPr lang="en-US" sz="1400">
                <a:latin typeface="Times New Roman"/>
                <a:cs typeface="Times New Roman"/>
              </a:rPr>
              <a:t> </a:t>
            </a:r>
            <a:r>
              <a:rPr lang="en-US" sz="1400" err="1">
                <a:latin typeface="Times New Roman"/>
                <a:cs typeface="Times New Roman"/>
              </a:rPr>
              <a:t>нэрээр</a:t>
            </a:r>
            <a:r>
              <a:rPr lang="en-US" sz="1400">
                <a:latin typeface="Times New Roman"/>
                <a:cs typeface="Times New Roman"/>
              </a:rPr>
              <a:t> </a:t>
            </a:r>
            <a:r>
              <a:rPr lang="en-US" sz="1400" err="1">
                <a:latin typeface="Times New Roman"/>
                <a:cs typeface="Times New Roman"/>
              </a:rPr>
              <a:t>дуудаж</a:t>
            </a:r>
            <a:r>
              <a:rPr lang="en-US" sz="1400">
                <a:latin typeface="Times New Roman"/>
                <a:cs typeface="Times New Roman"/>
              </a:rPr>
              <a:t> </a:t>
            </a:r>
            <a:r>
              <a:rPr lang="en-US" sz="1400" err="1">
                <a:latin typeface="Times New Roman"/>
                <a:cs typeface="Times New Roman"/>
              </a:rPr>
              <a:t>болдог</a:t>
            </a:r>
            <a:r>
              <a:rPr lang="en-US" sz="1400">
                <a:latin typeface="Times New Roman"/>
                <a:cs typeface="Times New Roman"/>
              </a:rPr>
              <a:t>. </a:t>
            </a:r>
            <a:endParaRPr lang="en-US" sz="1400">
              <a:latin typeface="Times New Roman"/>
              <a:ea typeface="Calibri"/>
              <a:cs typeface="Times New Roman"/>
            </a:endParaRPr>
          </a:p>
          <a:p>
            <a:pPr algn="ctr"/>
            <a:endParaRPr lang="en-GB" sz="1400">
              <a:latin typeface="Times New Roman"/>
              <a:ea typeface="Calibri"/>
              <a:cs typeface="Times New Roman"/>
            </a:endParaRPr>
          </a:p>
        </p:txBody>
      </p:sp>
      <p:sp>
        <p:nvSpPr>
          <p:cNvPr id="34" name="Text 3">
            <a:extLst>
              <a:ext uri="{FF2B5EF4-FFF2-40B4-BE49-F238E27FC236}">
                <a16:creationId xmlns:a16="http://schemas.microsoft.com/office/drawing/2014/main" id="{C303C83D-D67B-D184-8DCA-139BBA29E823}"/>
              </a:ext>
            </a:extLst>
          </p:cNvPr>
          <p:cNvSpPr/>
          <p:nvPr/>
        </p:nvSpPr>
        <p:spPr>
          <a:xfrm>
            <a:off x="457199" y="3413646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Static </a:t>
            </a:r>
            <a:r>
              <a:rPr lang="en-US" sz="1600" b="1" err="1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гишүүн</a:t>
            </a:r>
            <a:r>
              <a:rPr lang="en-US" sz="1600" b="1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600" b="1" err="1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өгөгдөл</a:t>
            </a:r>
            <a:endParaRPr lang="en-US" sz="1600">
              <a:latin typeface="Times New Roman"/>
              <a:ea typeface="Calibri"/>
              <a:cs typeface="Times New Roman"/>
            </a:endParaRPr>
          </a:p>
        </p:txBody>
      </p:sp>
      <p:sp>
        <p:nvSpPr>
          <p:cNvPr id="35" name="Arrow: Left 34">
            <a:extLst>
              <a:ext uri="{FF2B5EF4-FFF2-40B4-BE49-F238E27FC236}">
                <a16:creationId xmlns:a16="http://schemas.microsoft.com/office/drawing/2014/main" id="{9BE20D03-BD1C-0EFA-549E-06A49E48E7FD}"/>
              </a:ext>
            </a:extLst>
          </p:cNvPr>
          <p:cNvSpPr/>
          <p:nvPr/>
        </p:nvSpPr>
        <p:spPr>
          <a:xfrm>
            <a:off x="4549541" y="1065412"/>
            <a:ext cx="159718" cy="131915"/>
          </a:xfrm>
          <a:prstGeom prst="lef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49C070-F8DA-ED3C-25F8-B92404266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9DCFF3E5-B683-E889-64C1-F089494F9CAB}"/>
              </a:ext>
            </a:extLst>
          </p:cNvPr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3957A67-AE58-E4F4-AF7B-7C8C6FB8983D}"/>
              </a:ext>
            </a:extLst>
          </p:cNvPr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>
                <a:latin typeface="Times New Roman"/>
                <a:ea typeface="Calibri"/>
                <a:cs typeface="Times New Roman"/>
              </a:rPr>
              <a:t>ОНОЛ  —  Static </a:t>
            </a:r>
            <a:r>
              <a:rPr lang="en-US" sz="2400" err="1">
                <a:latin typeface="Times New Roman"/>
                <a:ea typeface="Calibri"/>
                <a:cs typeface="Times New Roman"/>
              </a:rPr>
              <a:t>Гишүүн</a:t>
            </a:r>
            <a:r>
              <a:rPr lang="en-US" sz="2400">
                <a:latin typeface="Times New Roman"/>
                <a:ea typeface="Calibri"/>
                <a:cs typeface="Times New Roman"/>
              </a:rPr>
              <a:t> </a:t>
            </a:r>
            <a:r>
              <a:rPr lang="en-US" sz="2400" err="1">
                <a:latin typeface="Times New Roman"/>
                <a:ea typeface="Calibri"/>
                <a:cs typeface="Times New Roman"/>
              </a:rPr>
              <a:t>Өгөгдөл</a:t>
            </a:r>
            <a:r>
              <a:rPr lang="en-US" sz="2400">
                <a:latin typeface="Times New Roman"/>
                <a:ea typeface="Calibri"/>
                <a:cs typeface="Times New Roman"/>
              </a:rPr>
              <a:t> &amp; </a:t>
            </a:r>
            <a:r>
              <a:rPr lang="en-US" sz="2400" err="1">
                <a:latin typeface="Times New Roman"/>
                <a:ea typeface="Calibri"/>
                <a:cs typeface="Times New Roman"/>
              </a:rPr>
              <a:t>Функц</a:t>
            </a:r>
            <a:endParaRPr lang="en-US" sz="2400">
              <a:latin typeface="Times New Roman"/>
              <a:ea typeface="Calibri"/>
              <a:cs typeface="Times New Roman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D4C2EE6-2240-928A-E0A5-047248346AC0}"/>
              </a:ext>
            </a:extLst>
          </p:cNvPr>
          <p:cNvSpPr/>
          <p:nvPr/>
        </p:nvSpPr>
        <p:spPr>
          <a:xfrm>
            <a:off x="457200" y="9144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Static </a:t>
            </a:r>
            <a:r>
              <a:rPr lang="en-US" sz="1600" b="1" err="1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гишүүн</a:t>
            </a:r>
            <a:r>
              <a:rPr lang="en-US" sz="1600" b="1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600" b="1" err="1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өгөгдөл</a:t>
            </a:r>
            <a:endParaRPr lang="en-US" sz="1600">
              <a:latin typeface="Times New Roman"/>
              <a:ea typeface="Calibri"/>
              <a:cs typeface="Times New Roman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B2D84B2A-308B-9B5B-8D63-2FCDFA73BFDE}"/>
              </a:ext>
            </a:extLst>
          </p:cNvPr>
          <p:cNvSpPr/>
          <p:nvPr/>
        </p:nvSpPr>
        <p:spPr>
          <a:xfrm>
            <a:off x="457200" y="1325880"/>
            <a:ext cx="164592" cy="164592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765203FE-132D-4CDB-3C1E-5771401C5B2F}"/>
              </a:ext>
            </a:extLst>
          </p:cNvPr>
          <p:cNvSpPr/>
          <p:nvPr/>
        </p:nvSpPr>
        <p:spPr>
          <a:xfrm>
            <a:off x="731520" y="13075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err="1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Бүх</a:t>
            </a:r>
            <a:r>
              <a:rPr lang="en-US" sz="1400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объект</a:t>
            </a:r>
            <a:r>
              <a:rPr lang="en-US" sz="1400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дундаа</a:t>
            </a:r>
            <a:r>
              <a:rPr lang="en-US" sz="1400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нэг</a:t>
            </a:r>
            <a:r>
              <a:rPr lang="en-US" sz="1400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хувь</a:t>
            </a:r>
            <a:r>
              <a:rPr lang="en-US" sz="1400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санах</a:t>
            </a:r>
            <a:r>
              <a:rPr lang="en-US" sz="1400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ой</a:t>
            </a:r>
            <a:r>
              <a:rPr lang="en-US" sz="1400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ашигладаг</a:t>
            </a:r>
            <a:endParaRPr lang="en-US" sz="1400" err="1">
              <a:latin typeface="Times New Roman"/>
              <a:ea typeface="Calibri"/>
              <a:cs typeface="Times New Roman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6CE858F9-B1B5-EA4E-DE97-DB729DFB80FA}"/>
              </a:ext>
            </a:extLst>
          </p:cNvPr>
          <p:cNvSpPr/>
          <p:nvPr/>
        </p:nvSpPr>
        <p:spPr>
          <a:xfrm>
            <a:off x="457200" y="1737360"/>
            <a:ext cx="164592" cy="164592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B0E80647-B677-86BE-BF1E-B51F414C1484}"/>
              </a:ext>
            </a:extLst>
          </p:cNvPr>
          <p:cNvSpPr/>
          <p:nvPr/>
        </p:nvSpPr>
        <p:spPr>
          <a:xfrm>
            <a:off x="731520" y="1719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err="1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Программ</a:t>
            </a:r>
            <a:r>
              <a:rPr lang="en-US" sz="1400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эхлэхэд</a:t>
            </a:r>
            <a:r>
              <a:rPr lang="en-US" sz="1400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үүснэ</a:t>
            </a:r>
            <a:r>
              <a:rPr lang="en-US" sz="1400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 — </a:t>
            </a:r>
            <a:r>
              <a:rPr lang="en-US" sz="1400" err="1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дуусталаа</a:t>
            </a:r>
            <a:r>
              <a:rPr lang="en-US" sz="1400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оршино</a:t>
            </a:r>
            <a:endParaRPr lang="en-US" sz="1400" err="1">
              <a:latin typeface="Times New Roman"/>
              <a:ea typeface="Calibri"/>
              <a:cs typeface="Times New Roman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880F4D91-4071-571B-83A2-43E739DBE6E5}"/>
              </a:ext>
            </a:extLst>
          </p:cNvPr>
          <p:cNvSpPr/>
          <p:nvPr/>
        </p:nvSpPr>
        <p:spPr>
          <a:xfrm>
            <a:off x="457200" y="2148840"/>
            <a:ext cx="164592" cy="164592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3CCA1058-5705-EF91-E788-E66E077DE95C}"/>
              </a:ext>
            </a:extLst>
          </p:cNvPr>
          <p:cNvSpPr/>
          <p:nvPr/>
        </p:nvSpPr>
        <p:spPr>
          <a:xfrm>
            <a:off x="731520" y="21305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err="1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Объект</a:t>
            </a:r>
            <a:r>
              <a:rPr lang="en-US" sz="1400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бүхэн</a:t>
            </a:r>
            <a:r>
              <a:rPr lang="en-US" sz="1400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устсан</a:t>
            </a:r>
            <a:r>
              <a:rPr lang="en-US" sz="1400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 ч </a:t>
            </a:r>
            <a:r>
              <a:rPr lang="en-US" sz="1400" err="1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хадгалагдан</a:t>
            </a:r>
            <a:r>
              <a:rPr lang="en-US" sz="1400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үлдэнэ</a:t>
            </a:r>
            <a:endParaRPr lang="en-US" sz="1400" err="1">
              <a:latin typeface="Times New Roman"/>
              <a:ea typeface="Calibri"/>
              <a:cs typeface="Times New Roman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3CB8397C-B331-BF61-B201-BA2A927E8AD2}"/>
              </a:ext>
            </a:extLst>
          </p:cNvPr>
          <p:cNvSpPr/>
          <p:nvPr/>
        </p:nvSpPr>
        <p:spPr>
          <a:xfrm>
            <a:off x="457200" y="2560320"/>
            <a:ext cx="164592" cy="164592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133044FB-F8C9-8DBE-C1D2-FBFA76E29630}"/>
              </a:ext>
            </a:extLst>
          </p:cNvPr>
          <p:cNvSpPr/>
          <p:nvPr/>
        </p:nvSpPr>
        <p:spPr>
          <a:xfrm>
            <a:off x="731520" y="2542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err="1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Классын</a:t>
            </a:r>
            <a:r>
              <a:rPr lang="en-US" sz="1400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гадна</a:t>
            </a:r>
            <a:r>
              <a:rPr lang="en-US" sz="1400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зарлагдана</a:t>
            </a:r>
            <a:r>
              <a:rPr lang="en-US" sz="1400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: int Shape::count = 0;</a:t>
            </a:r>
            <a:endParaRPr lang="en-US" sz="1400">
              <a:latin typeface="Times New Roman"/>
              <a:ea typeface="Calibri"/>
              <a:cs typeface="Times New Roman"/>
            </a:endParaRPr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DFAA118E-AC0A-4B4B-313E-C3A39DA19606}"/>
              </a:ext>
            </a:extLst>
          </p:cNvPr>
          <p:cNvSpPr/>
          <p:nvPr/>
        </p:nvSpPr>
        <p:spPr>
          <a:xfrm>
            <a:off x="534650" y="3049250"/>
            <a:ext cx="4092623" cy="12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err="1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Объектоор</a:t>
            </a:r>
            <a:r>
              <a:rPr lang="en-US" sz="1400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болон</a:t>
            </a:r>
            <a:r>
              <a:rPr lang="en-US" sz="1400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классаар</a:t>
            </a:r>
            <a:r>
              <a:rPr lang="en-US" sz="1400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хоёуланд</a:t>
            </a:r>
            <a:r>
              <a:rPr lang="en-US" sz="1400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b="1" err="1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хандаж</a:t>
            </a:r>
            <a:r>
              <a:rPr lang="en-US" sz="1400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болно</a:t>
            </a:r>
            <a:endParaRPr lang="en-US" sz="1400" err="1">
              <a:latin typeface="Times New Roman"/>
              <a:ea typeface="Calibri"/>
              <a:cs typeface="Times New Roman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BBE86FE-0E1E-EDD3-535F-6817C474ECDE}"/>
              </a:ext>
            </a:extLst>
          </p:cNvPr>
          <p:cNvSpPr txBox="1"/>
          <p:nvPr/>
        </p:nvSpPr>
        <p:spPr>
          <a:xfrm>
            <a:off x="366784" y="3834169"/>
            <a:ext cx="4358754" cy="95410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>
                <a:latin typeface="Times New Roman"/>
                <a:cs typeface="Times New Roman"/>
              </a:rPr>
              <a:t>Static </a:t>
            </a:r>
            <a:r>
              <a:rPr lang="en-US" sz="1400" err="1">
                <a:latin typeface="Times New Roman"/>
                <a:cs typeface="Times New Roman"/>
              </a:rPr>
              <a:t>гишүүн</a:t>
            </a:r>
            <a:r>
              <a:rPr lang="en-US" sz="1400">
                <a:latin typeface="Times New Roman"/>
                <a:cs typeface="Times New Roman"/>
              </a:rPr>
              <a:t> </a:t>
            </a:r>
            <a:r>
              <a:rPr lang="en-US" sz="1400" err="1">
                <a:latin typeface="Times New Roman"/>
                <a:cs typeface="Times New Roman"/>
              </a:rPr>
              <a:t>функц</a:t>
            </a:r>
            <a:r>
              <a:rPr lang="en-US" sz="1400">
                <a:latin typeface="Times New Roman"/>
                <a:cs typeface="Times New Roman"/>
              </a:rPr>
              <a:t> </a:t>
            </a:r>
            <a:r>
              <a:rPr lang="en-US" sz="1400" err="1">
                <a:latin typeface="Times New Roman"/>
                <a:cs typeface="Times New Roman"/>
              </a:rPr>
              <a:t>гэдэг</a:t>
            </a:r>
            <a:r>
              <a:rPr lang="en-US" sz="1400">
                <a:latin typeface="Times New Roman"/>
                <a:cs typeface="Times New Roman"/>
              </a:rPr>
              <a:t> </a:t>
            </a:r>
            <a:r>
              <a:rPr lang="en-US" sz="1400" err="1">
                <a:latin typeface="Times New Roman"/>
                <a:cs typeface="Times New Roman"/>
              </a:rPr>
              <a:t>нь</a:t>
            </a:r>
            <a:r>
              <a:rPr lang="en-US" sz="1400">
                <a:latin typeface="Times New Roman"/>
                <a:cs typeface="Times New Roman"/>
              </a:rPr>
              <a:t> </a:t>
            </a:r>
            <a:r>
              <a:rPr lang="en-US" sz="1400" err="1">
                <a:latin typeface="Times New Roman"/>
                <a:cs typeface="Times New Roman"/>
              </a:rPr>
              <a:t>класст</a:t>
            </a:r>
            <a:r>
              <a:rPr lang="en-US" sz="1400">
                <a:latin typeface="Times New Roman"/>
                <a:cs typeface="Times New Roman"/>
              </a:rPr>
              <a:t> </a:t>
            </a:r>
            <a:r>
              <a:rPr lang="en-US" sz="1400" err="1">
                <a:latin typeface="Times New Roman"/>
                <a:cs typeface="Times New Roman"/>
              </a:rPr>
              <a:t>хамааралтай</a:t>
            </a:r>
            <a:r>
              <a:rPr lang="en-US" sz="1400">
                <a:latin typeface="Times New Roman"/>
                <a:cs typeface="Times New Roman"/>
              </a:rPr>
              <a:t> </a:t>
            </a:r>
            <a:r>
              <a:rPr lang="en-US" sz="1400" err="1">
                <a:latin typeface="Times New Roman"/>
                <a:cs typeface="Times New Roman"/>
              </a:rPr>
              <a:t>байдаг</a:t>
            </a:r>
            <a:r>
              <a:rPr lang="en-US" sz="1400">
                <a:latin typeface="Times New Roman"/>
                <a:cs typeface="Times New Roman"/>
              </a:rPr>
              <a:t>. </a:t>
            </a:r>
            <a:r>
              <a:rPr lang="en-US" sz="1400" err="1">
                <a:latin typeface="Times New Roman"/>
                <a:cs typeface="Times New Roman"/>
              </a:rPr>
              <a:t>Иймээс</a:t>
            </a:r>
            <a:r>
              <a:rPr lang="en-US" sz="1400">
                <a:latin typeface="Times New Roman"/>
                <a:cs typeface="Times New Roman"/>
              </a:rPr>
              <a:t> </a:t>
            </a:r>
            <a:r>
              <a:rPr lang="en-US" sz="1400" err="1">
                <a:latin typeface="Times New Roman"/>
                <a:cs typeface="Times New Roman"/>
              </a:rPr>
              <a:t>объект</a:t>
            </a:r>
            <a:r>
              <a:rPr lang="en-US" sz="1400">
                <a:latin typeface="Times New Roman"/>
                <a:cs typeface="Times New Roman"/>
              </a:rPr>
              <a:t> </a:t>
            </a:r>
            <a:r>
              <a:rPr lang="en-US" sz="1400" err="1">
                <a:latin typeface="Times New Roman"/>
                <a:cs typeface="Times New Roman"/>
              </a:rPr>
              <a:t>үүсгэлгүйгээр</a:t>
            </a:r>
            <a:r>
              <a:rPr lang="en-US" sz="1400">
                <a:latin typeface="Times New Roman"/>
                <a:cs typeface="Times New Roman"/>
              </a:rPr>
              <a:t> </a:t>
            </a:r>
            <a:r>
              <a:rPr lang="en-US" sz="1400" err="1">
                <a:latin typeface="Times New Roman"/>
                <a:cs typeface="Times New Roman"/>
              </a:rPr>
              <a:t>классын</a:t>
            </a:r>
            <a:r>
              <a:rPr lang="en-US" sz="1400">
                <a:latin typeface="Times New Roman"/>
                <a:cs typeface="Times New Roman"/>
              </a:rPr>
              <a:t> </a:t>
            </a:r>
            <a:r>
              <a:rPr lang="en-US" sz="1400" err="1">
                <a:latin typeface="Times New Roman"/>
                <a:cs typeface="Times New Roman"/>
              </a:rPr>
              <a:t>нэрээр</a:t>
            </a:r>
            <a:r>
              <a:rPr lang="en-US" sz="1400">
                <a:latin typeface="Times New Roman"/>
                <a:cs typeface="Times New Roman"/>
              </a:rPr>
              <a:t> </a:t>
            </a:r>
            <a:r>
              <a:rPr lang="en-US" sz="1400" err="1">
                <a:latin typeface="Times New Roman"/>
                <a:cs typeface="Times New Roman"/>
              </a:rPr>
              <a:t>дуудаж</a:t>
            </a:r>
            <a:r>
              <a:rPr lang="en-US" sz="1400">
                <a:latin typeface="Times New Roman"/>
                <a:cs typeface="Times New Roman"/>
              </a:rPr>
              <a:t> </a:t>
            </a:r>
            <a:r>
              <a:rPr lang="en-US" sz="1400" err="1">
                <a:latin typeface="Times New Roman"/>
                <a:cs typeface="Times New Roman"/>
              </a:rPr>
              <a:t>болдог</a:t>
            </a:r>
            <a:r>
              <a:rPr lang="en-US" sz="1400">
                <a:latin typeface="Times New Roman"/>
                <a:cs typeface="Times New Roman"/>
              </a:rPr>
              <a:t>. </a:t>
            </a:r>
            <a:endParaRPr lang="en-US" sz="1400">
              <a:latin typeface="Times New Roman"/>
              <a:ea typeface="Calibri"/>
              <a:cs typeface="Times New Roman"/>
            </a:endParaRPr>
          </a:p>
          <a:p>
            <a:pPr algn="ctr"/>
            <a:endParaRPr lang="en-GB" sz="1400">
              <a:latin typeface="Times New Roman"/>
              <a:ea typeface="Calibri"/>
              <a:cs typeface="Times New Roman"/>
            </a:endParaRPr>
          </a:p>
        </p:txBody>
      </p:sp>
      <p:sp>
        <p:nvSpPr>
          <p:cNvPr id="34" name="Text 3">
            <a:extLst>
              <a:ext uri="{FF2B5EF4-FFF2-40B4-BE49-F238E27FC236}">
                <a16:creationId xmlns:a16="http://schemas.microsoft.com/office/drawing/2014/main" id="{7156CFE5-5D4B-5B66-8C81-0D9B389D1C08}"/>
              </a:ext>
            </a:extLst>
          </p:cNvPr>
          <p:cNvSpPr/>
          <p:nvPr/>
        </p:nvSpPr>
        <p:spPr>
          <a:xfrm>
            <a:off x="457199" y="3413646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Static </a:t>
            </a:r>
            <a:r>
              <a:rPr lang="en-US" sz="1600" b="1" err="1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гишүүн</a:t>
            </a:r>
            <a:r>
              <a:rPr lang="en-US" sz="1600" b="1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600" b="1" err="1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өгөгдөл</a:t>
            </a:r>
            <a:endParaRPr lang="en-US" sz="1600">
              <a:latin typeface="Times New Roman"/>
              <a:ea typeface="Calibri"/>
              <a:cs typeface="Times New Roman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4754D9A-2920-B541-5A1A-AEAC4727AE23}"/>
              </a:ext>
            </a:extLst>
          </p:cNvPr>
          <p:cNvSpPr txBox="1"/>
          <p:nvPr/>
        </p:nvSpPr>
        <p:spPr>
          <a:xfrm>
            <a:off x="4716863" y="513382"/>
            <a:ext cx="4785246" cy="515525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100">
                <a:solidFill>
                  <a:srgbClr val="FF0000"/>
                </a:solidFill>
                <a:latin typeface="Times New Roman"/>
                <a:ea typeface="Consolas"/>
                <a:cs typeface="Times New Roman"/>
              </a:rPr>
              <a:t>class Student</a:t>
            </a:r>
            <a:r>
              <a:rPr lang="en-US" sz="1100">
                <a:latin typeface="Times New Roman"/>
                <a:ea typeface="Consolas"/>
                <a:cs typeface="Times New Roman"/>
              </a:rPr>
              <a:t> { </a:t>
            </a:r>
          </a:p>
          <a:p>
            <a:r>
              <a:rPr lang="en-US" sz="1100">
                <a:latin typeface="Times New Roman"/>
                <a:ea typeface="Consolas"/>
                <a:cs typeface="Times New Roman"/>
              </a:rPr>
              <a:t> private : </a:t>
            </a:r>
          </a:p>
          <a:p>
            <a:r>
              <a:rPr lang="en-US" sz="1100">
                <a:latin typeface="Times New Roman"/>
                <a:ea typeface="Consolas"/>
                <a:cs typeface="Times New Roman"/>
              </a:rPr>
              <a:t>  string name ;  </a:t>
            </a:r>
          </a:p>
          <a:p>
            <a:r>
              <a:rPr lang="en-US" sz="1100">
                <a:latin typeface="Times New Roman"/>
                <a:ea typeface="Consolas"/>
                <a:cs typeface="Times New Roman"/>
              </a:rPr>
              <a:t> public : </a:t>
            </a:r>
          </a:p>
          <a:p>
            <a:r>
              <a:rPr lang="en-US" sz="1100">
                <a:latin typeface="Times New Roman"/>
                <a:ea typeface="Consolas"/>
                <a:cs typeface="Times New Roman"/>
              </a:rPr>
              <a:t>  </a:t>
            </a:r>
            <a:r>
              <a:rPr lang="en-US" sz="1100">
                <a:solidFill>
                  <a:schemeClr val="accent1"/>
                </a:solidFill>
                <a:latin typeface="Times New Roman"/>
                <a:ea typeface="Consolas"/>
                <a:cs typeface="Times New Roman"/>
              </a:rPr>
              <a:t>// static </a:t>
            </a:r>
            <a:r>
              <a:rPr lang="en-US" sz="1100" err="1">
                <a:solidFill>
                  <a:schemeClr val="accent1"/>
                </a:solidFill>
                <a:latin typeface="Times New Roman"/>
                <a:ea typeface="Consolas"/>
                <a:cs typeface="Times New Roman"/>
              </a:rPr>
              <a:t>гишүүн</a:t>
            </a:r>
            <a:r>
              <a:rPr lang="en-US" sz="1100">
                <a:solidFill>
                  <a:schemeClr val="accent1"/>
                </a:solidFill>
                <a:latin typeface="Times New Roman"/>
                <a:ea typeface="Consolas"/>
                <a:cs typeface="Times New Roman"/>
              </a:rPr>
              <a:t> </a:t>
            </a:r>
            <a:r>
              <a:rPr lang="en-US" sz="1100" err="1">
                <a:solidFill>
                  <a:schemeClr val="accent1"/>
                </a:solidFill>
                <a:latin typeface="Times New Roman"/>
                <a:ea typeface="Consolas"/>
                <a:cs typeface="Times New Roman"/>
              </a:rPr>
              <a:t>өгөгдөл</a:t>
            </a:r>
            <a:r>
              <a:rPr lang="en-US" sz="1100">
                <a:solidFill>
                  <a:schemeClr val="accent1"/>
                </a:solidFill>
                <a:latin typeface="Times New Roman"/>
                <a:ea typeface="Consolas"/>
                <a:cs typeface="Times New Roman"/>
              </a:rPr>
              <a:t> </a:t>
            </a:r>
          </a:p>
          <a:p>
            <a:r>
              <a:rPr lang="en-US" sz="1100">
                <a:latin typeface="Times New Roman"/>
                <a:ea typeface="Consolas"/>
                <a:cs typeface="Times New Roman"/>
              </a:rPr>
              <a:t>  </a:t>
            </a:r>
            <a:r>
              <a:rPr lang="en-US" sz="1100">
                <a:solidFill>
                  <a:schemeClr val="accent2"/>
                </a:solidFill>
                <a:latin typeface="Times New Roman"/>
                <a:ea typeface="Consolas"/>
                <a:cs typeface="Times New Roman"/>
              </a:rPr>
              <a:t>static int count ;   </a:t>
            </a:r>
          </a:p>
          <a:p>
            <a:endParaRPr lang="en-US" sz="1100">
              <a:latin typeface="Times New Roman"/>
              <a:ea typeface="Consolas"/>
              <a:cs typeface="Times New Roman"/>
            </a:endParaRPr>
          </a:p>
          <a:p>
            <a:r>
              <a:rPr lang="en-US" sz="1100">
                <a:latin typeface="Times New Roman"/>
                <a:ea typeface="Consolas"/>
                <a:cs typeface="Times New Roman"/>
              </a:rPr>
              <a:t> Student(string name) { </a:t>
            </a:r>
          </a:p>
          <a:p>
            <a:r>
              <a:rPr lang="en-US" sz="1100">
                <a:latin typeface="Times New Roman"/>
                <a:ea typeface="Consolas"/>
                <a:cs typeface="Times New Roman"/>
              </a:rPr>
              <a:t> </a:t>
            </a:r>
            <a:r>
              <a:rPr lang="en-US" sz="1100">
                <a:solidFill>
                  <a:schemeClr val="accent6"/>
                </a:solidFill>
                <a:latin typeface="Times New Roman"/>
                <a:ea typeface="Consolas"/>
                <a:cs typeface="Times New Roman"/>
              </a:rPr>
              <a:t> </a:t>
            </a:r>
            <a:r>
              <a:rPr lang="en-US" sz="1100">
                <a:solidFill>
                  <a:schemeClr val="accent4"/>
                </a:solidFill>
                <a:latin typeface="Times New Roman"/>
                <a:ea typeface="Consolas"/>
                <a:cs typeface="Times New Roman"/>
              </a:rPr>
              <a:t>this-&gt;name = name;</a:t>
            </a:r>
            <a:r>
              <a:rPr lang="en-US" sz="1100">
                <a:solidFill>
                  <a:schemeClr val="accent6"/>
                </a:solidFill>
                <a:latin typeface="Times New Roman"/>
                <a:ea typeface="Consolas"/>
                <a:cs typeface="Times New Roman"/>
              </a:rPr>
              <a:t> </a:t>
            </a:r>
          </a:p>
          <a:p>
            <a:r>
              <a:rPr lang="en-US" sz="1100">
                <a:solidFill>
                  <a:schemeClr val="accent1"/>
                </a:solidFill>
                <a:latin typeface="Times New Roman"/>
                <a:ea typeface="Consolas"/>
                <a:cs typeface="Times New Roman"/>
              </a:rPr>
              <a:t>  // </a:t>
            </a:r>
            <a:r>
              <a:rPr lang="en-US" sz="1100" err="1">
                <a:solidFill>
                  <a:schemeClr val="accent1"/>
                </a:solidFill>
                <a:latin typeface="Times New Roman"/>
                <a:ea typeface="Consolas"/>
                <a:cs typeface="Times New Roman"/>
              </a:rPr>
              <a:t>шинэ</a:t>
            </a:r>
            <a:r>
              <a:rPr lang="en-US" sz="1100">
                <a:solidFill>
                  <a:schemeClr val="accent1"/>
                </a:solidFill>
                <a:latin typeface="Times New Roman"/>
                <a:ea typeface="Consolas"/>
                <a:cs typeface="Times New Roman"/>
              </a:rPr>
              <a:t> </a:t>
            </a:r>
            <a:r>
              <a:rPr lang="en-US" sz="1100" err="1">
                <a:solidFill>
                  <a:schemeClr val="accent1"/>
                </a:solidFill>
                <a:latin typeface="Times New Roman"/>
                <a:ea typeface="Consolas"/>
                <a:cs typeface="Times New Roman"/>
              </a:rPr>
              <a:t>объект</a:t>
            </a:r>
            <a:r>
              <a:rPr lang="en-US" sz="1100">
                <a:solidFill>
                  <a:schemeClr val="accent1"/>
                </a:solidFill>
                <a:latin typeface="Times New Roman"/>
                <a:ea typeface="Consolas"/>
                <a:cs typeface="Times New Roman"/>
              </a:rPr>
              <a:t> </a:t>
            </a:r>
            <a:r>
              <a:rPr lang="en-US" sz="1100" err="1">
                <a:solidFill>
                  <a:schemeClr val="accent1"/>
                </a:solidFill>
                <a:latin typeface="Times New Roman"/>
                <a:ea typeface="Consolas"/>
                <a:cs typeface="Times New Roman"/>
              </a:rPr>
              <a:t>үүсэх</a:t>
            </a:r>
            <a:r>
              <a:rPr lang="en-US" sz="1100">
                <a:solidFill>
                  <a:schemeClr val="accent1"/>
                </a:solidFill>
                <a:latin typeface="Times New Roman"/>
                <a:ea typeface="Consolas"/>
                <a:cs typeface="Times New Roman"/>
              </a:rPr>
              <a:t> </a:t>
            </a:r>
            <a:r>
              <a:rPr lang="en-US" sz="1100" err="1">
                <a:solidFill>
                  <a:schemeClr val="accent1"/>
                </a:solidFill>
                <a:latin typeface="Times New Roman"/>
                <a:ea typeface="Consolas"/>
                <a:cs typeface="Times New Roman"/>
              </a:rPr>
              <a:t>бүрт</a:t>
            </a:r>
            <a:r>
              <a:rPr lang="en-US" sz="1100">
                <a:solidFill>
                  <a:schemeClr val="accent1"/>
                </a:solidFill>
                <a:latin typeface="Times New Roman"/>
                <a:ea typeface="Consolas"/>
                <a:cs typeface="Times New Roman"/>
              </a:rPr>
              <a:t> </a:t>
            </a:r>
            <a:r>
              <a:rPr lang="en-US" sz="1100" err="1">
                <a:solidFill>
                  <a:schemeClr val="accent1"/>
                </a:solidFill>
                <a:latin typeface="Times New Roman"/>
                <a:ea typeface="Consolas"/>
                <a:cs typeface="Times New Roman"/>
              </a:rPr>
              <a:t>нэмэгдэнэ</a:t>
            </a:r>
            <a:r>
              <a:rPr lang="en-US" sz="1100">
                <a:solidFill>
                  <a:schemeClr val="accent1"/>
                </a:solidFill>
                <a:latin typeface="Times New Roman"/>
                <a:ea typeface="Consolas"/>
                <a:cs typeface="Times New Roman"/>
              </a:rPr>
              <a:t> </a:t>
            </a:r>
          </a:p>
          <a:p>
            <a:r>
              <a:rPr lang="en-US" sz="1100">
                <a:latin typeface="Times New Roman"/>
                <a:ea typeface="Consolas"/>
                <a:cs typeface="Times New Roman"/>
              </a:rPr>
              <a:t>  count++;  </a:t>
            </a:r>
          </a:p>
          <a:p>
            <a:r>
              <a:rPr lang="en-US" sz="1100">
                <a:latin typeface="Times New Roman"/>
                <a:ea typeface="Consolas"/>
                <a:cs typeface="Times New Roman"/>
              </a:rPr>
              <a:t> } </a:t>
            </a:r>
          </a:p>
          <a:p>
            <a:r>
              <a:rPr lang="en-US" sz="1100">
                <a:latin typeface="Times New Roman"/>
                <a:ea typeface="Consolas"/>
                <a:cs typeface="Times New Roman"/>
              </a:rPr>
              <a:t> void show() { </a:t>
            </a:r>
          </a:p>
          <a:p>
            <a:r>
              <a:rPr lang="en-US" sz="1100">
                <a:latin typeface="Times New Roman"/>
                <a:ea typeface="Consolas"/>
                <a:cs typeface="Times New Roman"/>
              </a:rPr>
              <a:t>  </a:t>
            </a:r>
            <a:r>
              <a:rPr lang="en-US" sz="1100" err="1">
                <a:latin typeface="Times New Roman"/>
                <a:ea typeface="Consolas"/>
                <a:cs typeface="Times New Roman"/>
              </a:rPr>
              <a:t>cout</a:t>
            </a:r>
            <a:r>
              <a:rPr lang="en-US" sz="1100">
                <a:latin typeface="Times New Roman"/>
                <a:ea typeface="Consolas"/>
                <a:cs typeface="Times New Roman"/>
              </a:rPr>
              <a:t> &lt;&lt; "Name: " &lt;&lt; name &lt;&lt; </a:t>
            </a:r>
            <a:r>
              <a:rPr lang="en-US" sz="1100" err="1">
                <a:latin typeface="Times New Roman"/>
                <a:ea typeface="Consolas"/>
                <a:cs typeface="Times New Roman"/>
              </a:rPr>
              <a:t>endl</a:t>
            </a:r>
            <a:r>
              <a:rPr lang="en-US" sz="1100">
                <a:latin typeface="Times New Roman"/>
                <a:ea typeface="Consolas"/>
                <a:cs typeface="Times New Roman"/>
              </a:rPr>
              <a:t>; </a:t>
            </a:r>
          </a:p>
          <a:p>
            <a:r>
              <a:rPr lang="en-US" sz="1100">
                <a:latin typeface="Times New Roman"/>
                <a:ea typeface="Consolas"/>
                <a:cs typeface="Times New Roman"/>
              </a:rPr>
              <a:t>}  }; </a:t>
            </a:r>
          </a:p>
          <a:p>
            <a:r>
              <a:rPr lang="en-US" sz="1100">
                <a:solidFill>
                  <a:schemeClr val="accent1"/>
                </a:solidFill>
                <a:latin typeface="Times New Roman"/>
                <a:ea typeface="Consolas"/>
                <a:cs typeface="Times New Roman"/>
              </a:rPr>
              <a:t>// static </a:t>
            </a:r>
            <a:r>
              <a:rPr lang="en-US" sz="1100" err="1">
                <a:solidFill>
                  <a:schemeClr val="accent1"/>
                </a:solidFill>
                <a:latin typeface="Times New Roman"/>
                <a:ea typeface="Consolas"/>
                <a:cs typeface="Times New Roman"/>
              </a:rPr>
              <a:t>хувьсагчийг</a:t>
            </a:r>
            <a:r>
              <a:rPr lang="en-US" sz="1100">
                <a:solidFill>
                  <a:schemeClr val="accent1"/>
                </a:solidFill>
                <a:latin typeface="Times New Roman"/>
                <a:ea typeface="Consolas"/>
                <a:cs typeface="Times New Roman"/>
              </a:rPr>
              <a:t> </a:t>
            </a:r>
            <a:r>
              <a:rPr lang="en-US" sz="1100" err="1">
                <a:solidFill>
                  <a:schemeClr val="accent1"/>
                </a:solidFill>
                <a:latin typeface="Times New Roman"/>
                <a:ea typeface="Consolas"/>
                <a:cs typeface="Times New Roman"/>
              </a:rPr>
              <a:t>классын</a:t>
            </a:r>
            <a:r>
              <a:rPr lang="en-US" sz="1100">
                <a:solidFill>
                  <a:schemeClr val="accent1"/>
                </a:solidFill>
                <a:latin typeface="Times New Roman"/>
                <a:ea typeface="Consolas"/>
                <a:cs typeface="Times New Roman"/>
              </a:rPr>
              <a:t> </a:t>
            </a:r>
            <a:r>
              <a:rPr lang="en-US" sz="1100" err="1">
                <a:solidFill>
                  <a:schemeClr val="accent1"/>
                </a:solidFill>
                <a:latin typeface="Times New Roman"/>
                <a:ea typeface="Consolas"/>
                <a:cs typeface="Times New Roman"/>
              </a:rPr>
              <a:t>гадна</a:t>
            </a:r>
            <a:r>
              <a:rPr lang="en-US" sz="1100">
                <a:solidFill>
                  <a:schemeClr val="accent1"/>
                </a:solidFill>
                <a:latin typeface="Times New Roman"/>
                <a:ea typeface="Consolas"/>
                <a:cs typeface="Times New Roman"/>
              </a:rPr>
              <a:t> </a:t>
            </a:r>
            <a:r>
              <a:rPr lang="en-US" sz="1100" err="1">
                <a:solidFill>
                  <a:schemeClr val="accent1"/>
                </a:solidFill>
                <a:latin typeface="Times New Roman"/>
                <a:ea typeface="Consolas"/>
                <a:cs typeface="Times New Roman"/>
              </a:rPr>
              <a:t>зарлана</a:t>
            </a:r>
            <a:r>
              <a:rPr lang="en-US" sz="1100">
                <a:solidFill>
                  <a:schemeClr val="accent1"/>
                </a:solidFill>
                <a:latin typeface="Times New Roman"/>
                <a:ea typeface="Consolas"/>
                <a:cs typeface="Times New Roman"/>
              </a:rPr>
              <a:t> </a:t>
            </a:r>
          </a:p>
          <a:p>
            <a:r>
              <a:rPr lang="en-US" sz="1100">
                <a:solidFill>
                  <a:schemeClr val="accent2"/>
                </a:solidFill>
                <a:latin typeface="Times New Roman"/>
                <a:ea typeface="Consolas"/>
                <a:cs typeface="Times New Roman"/>
              </a:rPr>
              <a:t>int Student::count = 0; </a:t>
            </a:r>
          </a:p>
          <a:p>
            <a:endParaRPr lang="en-US" sz="1100">
              <a:solidFill>
                <a:schemeClr val="accent2"/>
              </a:solidFill>
              <a:latin typeface="Times New Roman"/>
              <a:ea typeface="Consolas"/>
              <a:cs typeface="Times New Roman"/>
            </a:endParaRPr>
          </a:p>
          <a:p>
            <a:r>
              <a:rPr lang="en-US" sz="1100">
                <a:latin typeface="Times New Roman"/>
                <a:ea typeface="Consolas"/>
                <a:cs typeface="Times New Roman"/>
              </a:rPr>
              <a:t>int main() { </a:t>
            </a:r>
          </a:p>
          <a:p>
            <a:r>
              <a:rPr lang="en-US" sz="1100">
                <a:latin typeface="Times New Roman"/>
                <a:ea typeface="Consolas"/>
                <a:cs typeface="Times New Roman"/>
              </a:rPr>
              <a:t>Student s1("Bat"); </a:t>
            </a:r>
          </a:p>
          <a:p>
            <a:r>
              <a:rPr lang="en-US" sz="1100">
                <a:latin typeface="Times New Roman"/>
                <a:ea typeface="Consolas"/>
                <a:cs typeface="Times New Roman"/>
              </a:rPr>
              <a:t>Student s2("Bold"); </a:t>
            </a:r>
          </a:p>
          <a:p>
            <a:r>
              <a:rPr lang="en-US" sz="1100">
                <a:solidFill>
                  <a:schemeClr val="accent1"/>
                </a:solidFill>
                <a:latin typeface="Times New Roman"/>
                <a:ea typeface="Consolas"/>
                <a:cs typeface="Times New Roman"/>
              </a:rPr>
              <a:t>// </a:t>
            </a:r>
            <a:r>
              <a:rPr lang="en-US" sz="1100" err="1">
                <a:solidFill>
                  <a:schemeClr val="accent1"/>
                </a:solidFill>
                <a:latin typeface="Times New Roman"/>
                <a:ea typeface="Consolas"/>
                <a:cs typeface="Times New Roman"/>
              </a:rPr>
              <a:t>классаар</a:t>
            </a:r>
            <a:r>
              <a:rPr lang="en-US" sz="1100">
                <a:solidFill>
                  <a:schemeClr val="accent1"/>
                </a:solidFill>
                <a:latin typeface="Times New Roman"/>
                <a:ea typeface="Consolas"/>
                <a:cs typeface="Times New Roman"/>
              </a:rPr>
              <a:t> </a:t>
            </a:r>
            <a:r>
              <a:rPr lang="en-US" sz="1100" err="1">
                <a:solidFill>
                  <a:schemeClr val="accent1"/>
                </a:solidFill>
                <a:latin typeface="Times New Roman"/>
                <a:ea typeface="Consolas"/>
                <a:cs typeface="Times New Roman"/>
              </a:rPr>
              <a:t>хандах</a:t>
            </a:r>
            <a:r>
              <a:rPr lang="en-US" sz="1100">
                <a:solidFill>
                  <a:schemeClr val="accent1"/>
                </a:solidFill>
                <a:latin typeface="Times New Roman"/>
                <a:ea typeface="Consolas"/>
                <a:cs typeface="Times New Roman"/>
              </a:rPr>
              <a:t>  </a:t>
            </a:r>
          </a:p>
          <a:p>
            <a:r>
              <a:rPr lang="en-US" sz="1100" err="1">
                <a:solidFill>
                  <a:schemeClr val="accent2"/>
                </a:solidFill>
                <a:latin typeface="Times New Roman"/>
                <a:ea typeface="Consolas"/>
                <a:cs typeface="Times New Roman"/>
              </a:rPr>
              <a:t>cout</a:t>
            </a:r>
            <a:r>
              <a:rPr lang="en-US" sz="1100">
                <a:solidFill>
                  <a:schemeClr val="accent2"/>
                </a:solidFill>
                <a:latin typeface="Times New Roman"/>
                <a:ea typeface="Consolas"/>
                <a:cs typeface="Times New Roman"/>
              </a:rPr>
              <a:t> &lt;&lt; "Total students (class): " &lt;&lt; Student::count &lt;&lt; </a:t>
            </a:r>
          </a:p>
          <a:p>
            <a:r>
              <a:rPr lang="en-US" sz="1100" err="1">
                <a:solidFill>
                  <a:schemeClr val="accent2"/>
                </a:solidFill>
                <a:latin typeface="Times New Roman"/>
                <a:ea typeface="Consolas"/>
                <a:cs typeface="Times New Roman"/>
              </a:rPr>
              <a:t>endl</a:t>
            </a:r>
            <a:r>
              <a:rPr lang="en-US" sz="1100">
                <a:solidFill>
                  <a:schemeClr val="accent2"/>
                </a:solidFill>
                <a:latin typeface="Times New Roman"/>
                <a:ea typeface="Consolas"/>
                <a:cs typeface="Times New Roman"/>
              </a:rPr>
              <a:t>;</a:t>
            </a:r>
            <a:r>
              <a:rPr lang="en-US" sz="1100">
                <a:latin typeface="Times New Roman"/>
                <a:ea typeface="Consolas"/>
                <a:cs typeface="Times New Roman"/>
              </a:rPr>
              <a:t> </a:t>
            </a:r>
          </a:p>
          <a:p>
            <a:r>
              <a:rPr lang="en-US" sz="1100">
                <a:solidFill>
                  <a:schemeClr val="accent1"/>
                </a:solidFill>
                <a:latin typeface="Times New Roman"/>
                <a:ea typeface="Consolas"/>
                <a:cs typeface="Times New Roman"/>
              </a:rPr>
              <a:t>// </a:t>
            </a:r>
            <a:r>
              <a:rPr lang="en-US" sz="1100" err="1">
                <a:solidFill>
                  <a:schemeClr val="accent1"/>
                </a:solidFill>
                <a:latin typeface="Times New Roman"/>
                <a:ea typeface="Consolas"/>
                <a:cs typeface="Times New Roman"/>
              </a:rPr>
              <a:t>объектоор</a:t>
            </a:r>
            <a:r>
              <a:rPr lang="en-US" sz="1100">
                <a:solidFill>
                  <a:schemeClr val="accent1"/>
                </a:solidFill>
                <a:latin typeface="Times New Roman"/>
                <a:ea typeface="Consolas"/>
                <a:cs typeface="Times New Roman"/>
              </a:rPr>
              <a:t> </a:t>
            </a:r>
            <a:r>
              <a:rPr lang="en-US" sz="1100" err="1">
                <a:solidFill>
                  <a:schemeClr val="accent1"/>
                </a:solidFill>
                <a:latin typeface="Times New Roman"/>
                <a:ea typeface="Consolas"/>
                <a:cs typeface="Times New Roman"/>
              </a:rPr>
              <a:t>хандах</a:t>
            </a:r>
            <a:r>
              <a:rPr lang="en-US" sz="1100">
                <a:solidFill>
                  <a:schemeClr val="accent1"/>
                </a:solidFill>
                <a:latin typeface="Times New Roman"/>
                <a:ea typeface="Consolas"/>
                <a:cs typeface="Times New Roman"/>
              </a:rPr>
              <a:t> </a:t>
            </a:r>
          </a:p>
          <a:p>
            <a:r>
              <a:rPr lang="en-US" sz="1100" err="1">
                <a:solidFill>
                  <a:schemeClr val="accent2"/>
                </a:solidFill>
                <a:latin typeface="Times New Roman"/>
                <a:ea typeface="Consolas"/>
                <a:cs typeface="Times New Roman"/>
              </a:rPr>
              <a:t>cout</a:t>
            </a:r>
            <a:r>
              <a:rPr lang="en-US" sz="1100">
                <a:solidFill>
                  <a:schemeClr val="accent2"/>
                </a:solidFill>
                <a:latin typeface="Times New Roman"/>
                <a:ea typeface="Consolas"/>
                <a:cs typeface="Times New Roman"/>
              </a:rPr>
              <a:t> &lt;&lt; "Total students (object): " &lt;&lt; s1.count &lt;&lt; </a:t>
            </a:r>
            <a:r>
              <a:rPr lang="en-US" sz="1100" err="1">
                <a:solidFill>
                  <a:schemeClr val="accent2"/>
                </a:solidFill>
                <a:latin typeface="Times New Roman"/>
                <a:ea typeface="Consolas"/>
                <a:cs typeface="Times New Roman"/>
              </a:rPr>
              <a:t>endl</a:t>
            </a:r>
            <a:r>
              <a:rPr lang="en-US" sz="1100">
                <a:solidFill>
                  <a:schemeClr val="accent2"/>
                </a:solidFill>
                <a:latin typeface="Times New Roman"/>
                <a:ea typeface="Consolas"/>
                <a:cs typeface="Times New Roman"/>
              </a:rPr>
              <a:t>; </a:t>
            </a:r>
          </a:p>
          <a:p>
            <a:r>
              <a:rPr lang="en-US" sz="1100">
                <a:solidFill>
                  <a:schemeClr val="accent2"/>
                </a:solidFill>
                <a:latin typeface="Times New Roman"/>
                <a:ea typeface="Consolas"/>
                <a:cs typeface="Times New Roman"/>
              </a:rPr>
              <a:t>} </a:t>
            </a:r>
          </a:p>
          <a:p>
            <a:endParaRPr lang="en-US" sz="1600" b="0">
              <a:solidFill>
                <a:srgbClr val="BBBEBF"/>
              </a:solidFill>
              <a:latin typeface="Times New Roman"/>
              <a:ea typeface="Consolas"/>
              <a:cs typeface="Times New Roman"/>
            </a:endParaRPr>
          </a:p>
          <a:p>
            <a:pPr algn="ctr"/>
            <a:endParaRPr lang="en-GB" sz="1600">
              <a:latin typeface="Times New Roman"/>
              <a:ea typeface="Calibri"/>
              <a:cs typeface="Times New Roman"/>
            </a:endParaRPr>
          </a:p>
        </p:txBody>
      </p:sp>
      <p:sp>
        <p:nvSpPr>
          <p:cNvPr id="27" name="Arrow: Left 26">
            <a:extLst>
              <a:ext uri="{FF2B5EF4-FFF2-40B4-BE49-F238E27FC236}">
                <a16:creationId xmlns:a16="http://schemas.microsoft.com/office/drawing/2014/main" id="{716F7412-EF6A-7AD7-9441-94F560A3C7E0}"/>
              </a:ext>
            </a:extLst>
          </p:cNvPr>
          <p:cNvSpPr/>
          <p:nvPr/>
        </p:nvSpPr>
        <p:spPr>
          <a:xfrm>
            <a:off x="4549541" y="3042983"/>
            <a:ext cx="159718" cy="131915"/>
          </a:xfrm>
          <a:prstGeom prst="lef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036819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47FF6D-60ED-6B12-6F28-5E3159BB3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6E0EC0F2-60B9-A5A6-4338-1F56E2FFD24C}"/>
              </a:ext>
            </a:extLst>
          </p:cNvPr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E92297A-8EAF-F11D-052F-C8960CF49395}"/>
              </a:ext>
            </a:extLst>
          </p:cNvPr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>
                <a:latin typeface="Times New Roman"/>
                <a:ea typeface="Calibri"/>
                <a:cs typeface="Times New Roman"/>
              </a:rPr>
              <a:t>ОНОЛ  —  Static </a:t>
            </a:r>
            <a:r>
              <a:rPr lang="en-US" sz="2400" err="1">
                <a:latin typeface="Times New Roman"/>
                <a:ea typeface="Calibri"/>
                <a:cs typeface="Times New Roman"/>
              </a:rPr>
              <a:t>Гишүүн</a:t>
            </a:r>
            <a:r>
              <a:rPr lang="en-US" sz="2400">
                <a:latin typeface="Times New Roman"/>
                <a:ea typeface="Calibri"/>
                <a:cs typeface="Times New Roman"/>
              </a:rPr>
              <a:t> </a:t>
            </a:r>
            <a:r>
              <a:rPr lang="en-US" sz="2400" err="1">
                <a:latin typeface="Times New Roman"/>
                <a:ea typeface="Calibri"/>
                <a:cs typeface="Times New Roman"/>
              </a:rPr>
              <a:t>Өгөгдөл</a:t>
            </a:r>
            <a:r>
              <a:rPr lang="en-US" sz="2400">
                <a:latin typeface="Times New Roman"/>
                <a:ea typeface="Calibri"/>
                <a:cs typeface="Times New Roman"/>
              </a:rPr>
              <a:t> &amp; </a:t>
            </a:r>
            <a:r>
              <a:rPr lang="en-US" sz="2400" err="1">
                <a:latin typeface="Times New Roman"/>
                <a:ea typeface="Calibri"/>
                <a:cs typeface="Times New Roman"/>
              </a:rPr>
              <a:t>Функц</a:t>
            </a:r>
            <a:endParaRPr lang="en-US" sz="2400">
              <a:latin typeface="Times New Roman"/>
              <a:ea typeface="Calibri"/>
              <a:cs typeface="Times New Roman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7FFAD99-41DD-49FB-6C56-33B60C9FB3DE}"/>
              </a:ext>
            </a:extLst>
          </p:cNvPr>
          <p:cNvSpPr/>
          <p:nvPr/>
        </p:nvSpPr>
        <p:spPr>
          <a:xfrm>
            <a:off x="457200" y="9144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Static </a:t>
            </a:r>
            <a:r>
              <a:rPr lang="en-US" sz="1600" b="1" err="1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гишүүн</a:t>
            </a:r>
            <a:r>
              <a:rPr lang="en-US" sz="1600" b="1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600" b="1" err="1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өгөгдөл</a:t>
            </a:r>
            <a:endParaRPr lang="en-US" sz="1600">
              <a:latin typeface="Times New Roman"/>
              <a:ea typeface="Calibri"/>
              <a:cs typeface="Times New Roman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16D26F65-5127-2AA0-AC57-1EEA8567DB4C}"/>
              </a:ext>
            </a:extLst>
          </p:cNvPr>
          <p:cNvSpPr/>
          <p:nvPr/>
        </p:nvSpPr>
        <p:spPr>
          <a:xfrm>
            <a:off x="457200" y="1325880"/>
            <a:ext cx="164592" cy="164592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DB3036B-E582-1EE4-E868-038488C0EE1B}"/>
              </a:ext>
            </a:extLst>
          </p:cNvPr>
          <p:cNvSpPr/>
          <p:nvPr/>
        </p:nvSpPr>
        <p:spPr>
          <a:xfrm>
            <a:off x="731520" y="13075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err="1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Бүх</a:t>
            </a:r>
            <a:r>
              <a:rPr lang="en-US" sz="1400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объект</a:t>
            </a:r>
            <a:r>
              <a:rPr lang="en-US" sz="1400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дундаа</a:t>
            </a:r>
            <a:r>
              <a:rPr lang="en-US" sz="1400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нэг</a:t>
            </a:r>
            <a:r>
              <a:rPr lang="en-US" sz="1400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хувь</a:t>
            </a:r>
            <a:r>
              <a:rPr lang="en-US" sz="1400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санах</a:t>
            </a:r>
            <a:r>
              <a:rPr lang="en-US" sz="1400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ой</a:t>
            </a:r>
            <a:r>
              <a:rPr lang="en-US" sz="1400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ашигладаг</a:t>
            </a:r>
            <a:endParaRPr lang="en-US" sz="1400" err="1">
              <a:latin typeface="Times New Roman"/>
              <a:ea typeface="Calibri"/>
              <a:cs typeface="Times New Roman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4657BDE2-E16E-981C-E7FB-C8417E348A7F}"/>
              </a:ext>
            </a:extLst>
          </p:cNvPr>
          <p:cNvSpPr/>
          <p:nvPr/>
        </p:nvSpPr>
        <p:spPr>
          <a:xfrm>
            <a:off x="457200" y="1737360"/>
            <a:ext cx="164592" cy="164592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41474BD4-3120-8BB2-DB38-9A196B102562}"/>
              </a:ext>
            </a:extLst>
          </p:cNvPr>
          <p:cNvSpPr/>
          <p:nvPr/>
        </p:nvSpPr>
        <p:spPr>
          <a:xfrm>
            <a:off x="731520" y="1719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err="1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Программ</a:t>
            </a:r>
            <a:r>
              <a:rPr lang="en-US" sz="1400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эхлэхэд</a:t>
            </a:r>
            <a:r>
              <a:rPr lang="en-US" sz="1400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үүснэ</a:t>
            </a:r>
            <a:r>
              <a:rPr lang="en-US" sz="1400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 — </a:t>
            </a:r>
            <a:r>
              <a:rPr lang="en-US" sz="1400" err="1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дуусталаа</a:t>
            </a:r>
            <a:r>
              <a:rPr lang="en-US" sz="1400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оршино</a:t>
            </a:r>
            <a:endParaRPr lang="en-US" sz="1400" err="1">
              <a:latin typeface="Times New Roman"/>
              <a:ea typeface="Calibri"/>
              <a:cs typeface="Times New Roman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D07F93F0-885F-BBC3-CAD3-B53734ECF889}"/>
              </a:ext>
            </a:extLst>
          </p:cNvPr>
          <p:cNvSpPr/>
          <p:nvPr/>
        </p:nvSpPr>
        <p:spPr>
          <a:xfrm>
            <a:off x="457200" y="2148840"/>
            <a:ext cx="164592" cy="164592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15490DAB-89DA-A5D9-C49B-F88846A0212F}"/>
              </a:ext>
            </a:extLst>
          </p:cNvPr>
          <p:cNvSpPr/>
          <p:nvPr/>
        </p:nvSpPr>
        <p:spPr>
          <a:xfrm>
            <a:off x="731520" y="21305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err="1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Объект</a:t>
            </a:r>
            <a:r>
              <a:rPr lang="en-US" sz="1400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бүхэн</a:t>
            </a:r>
            <a:r>
              <a:rPr lang="en-US" sz="1400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устсан</a:t>
            </a:r>
            <a:r>
              <a:rPr lang="en-US" sz="1400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 ч </a:t>
            </a:r>
            <a:r>
              <a:rPr lang="en-US" sz="1400" err="1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хадгалагдан</a:t>
            </a:r>
            <a:r>
              <a:rPr lang="en-US" sz="1400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үлдэнэ</a:t>
            </a:r>
            <a:endParaRPr lang="en-US" sz="1400" err="1">
              <a:latin typeface="Times New Roman"/>
              <a:ea typeface="Calibri"/>
              <a:cs typeface="Times New Roman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2F44425F-624B-F913-3B9A-5A2C28503896}"/>
              </a:ext>
            </a:extLst>
          </p:cNvPr>
          <p:cNvSpPr/>
          <p:nvPr/>
        </p:nvSpPr>
        <p:spPr>
          <a:xfrm>
            <a:off x="457200" y="2560320"/>
            <a:ext cx="164592" cy="164592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CA6BFAA9-A6E6-226E-0435-54A0037BAFA5}"/>
              </a:ext>
            </a:extLst>
          </p:cNvPr>
          <p:cNvSpPr/>
          <p:nvPr/>
        </p:nvSpPr>
        <p:spPr>
          <a:xfrm>
            <a:off x="731520" y="2542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err="1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Классын</a:t>
            </a:r>
            <a:r>
              <a:rPr lang="en-US" sz="1400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гадна</a:t>
            </a:r>
            <a:r>
              <a:rPr lang="en-US" sz="1400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зарлагдана</a:t>
            </a:r>
            <a:r>
              <a:rPr lang="en-US" sz="1400">
                <a:solidFill>
                  <a:srgbClr val="1E293B"/>
                </a:solidFill>
                <a:latin typeface="Times New Roman"/>
                <a:ea typeface="Calibri"/>
                <a:cs typeface="Times New Roman"/>
              </a:rPr>
              <a:t>: int Shape::count = 0;</a:t>
            </a:r>
            <a:endParaRPr lang="en-US" sz="1400">
              <a:latin typeface="Times New Roman"/>
              <a:ea typeface="Calibri"/>
              <a:cs typeface="Times New Roman"/>
            </a:endParaRPr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88F8C445-391D-71B1-11B4-E059A36CABBE}"/>
              </a:ext>
            </a:extLst>
          </p:cNvPr>
          <p:cNvSpPr/>
          <p:nvPr/>
        </p:nvSpPr>
        <p:spPr>
          <a:xfrm>
            <a:off x="534650" y="3049250"/>
            <a:ext cx="4092623" cy="12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err="1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Объектоор</a:t>
            </a:r>
            <a:r>
              <a:rPr lang="en-US" sz="1400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болон</a:t>
            </a:r>
            <a:r>
              <a:rPr lang="en-US" sz="1400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классаар</a:t>
            </a:r>
            <a:r>
              <a:rPr lang="en-US" sz="1400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хоёуланд</a:t>
            </a:r>
            <a:r>
              <a:rPr lang="en-US" sz="1400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b="1" err="1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хандаж</a:t>
            </a:r>
            <a:r>
              <a:rPr lang="en-US" sz="1400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болно</a:t>
            </a:r>
            <a:endParaRPr lang="en-US" sz="1400" err="1">
              <a:latin typeface="Times New Roman"/>
              <a:ea typeface="Calibri"/>
              <a:cs typeface="Times New Roman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B7BD8F4-546E-FF06-041A-5834A368A418}"/>
              </a:ext>
            </a:extLst>
          </p:cNvPr>
          <p:cNvSpPr txBox="1"/>
          <p:nvPr/>
        </p:nvSpPr>
        <p:spPr>
          <a:xfrm>
            <a:off x="366784" y="3834169"/>
            <a:ext cx="4358754" cy="95410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>
                <a:latin typeface="Times New Roman"/>
                <a:cs typeface="Times New Roman"/>
              </a:rPr>
              <a:t>Static </a:t>
            </a:r>
            <a:r>
              <a:rPr lang="en-US" sz="1400" err="1">
                <a:latin typeface="Times New Roman"/>
                <a:cs typeface="Times New Roman"/>
              </a:rPr>
              <a:t>гишүүн</a:t>
            </a:r>
            <a:r>
              <a:rPr lang="en-US" sz="1400">
                <a:latin typeface="Times New Roman"/>
                <a:cs typeface="Times New Roman"/>
              </a:rPr>
              <a:t> </a:t>
            </a:r>
            <a:r>
              <a:rPr lang="en-US" sz="1400" err="1">
                <a:latin typeface="Times New Roman"/>
                <a:cs typeface="Times New Roman"/>
              </a:rPr>
              <a:t>функц</a:t>
            </a:r>
            <a:r>
              <a:rPr lang="en-US" sz="1400">
                <a:latin typeface="Times New Roman"/>
                <a:cs typeface="Times New Roman"/>
              </a:rPr>
              <a:t> </a:t>
            </a:r>
            <a:r>
              <a:rPr lang="en-US" sz="1400" err="1">
                <a:latin typeface="Times New Roman"/>
                <a:cs typeface="Times New Roman"/>
              </a:rPr>
              <a:t>гэдэг</a:t>
            </a:r>
            <a:r>
              <a:rPr lang="en-US" sz="1400">
                <a:latin typeface="Times New Roman"/>
                <a:cs typeface="Times New Roman"/>
              </a:rPr>
              <a:t> </a:t>
            </a:r>
            <a:r>
              <a:rPr lang="en-US" sz="1400" err="1">
                <a:latin typeface="Times New Roman"/>
                <a:cs typeface="Times New Roman"/>
              </a:rPr>
              <a:t>нь</a:t>
            </a:r>
            <a:r>
              <a:rPr lang="en-US" sz="1400">
                <a:latin typeface="Times New Roman"/>
                <a:cs typeface="Times New Roman"/>
              </a:rPr>
              <a:t> </a:t>
            </a:r>
            <a:r>
              <a:rPr lang="en-US" sz="1400" err="1">
                <a:latin typeface="Times New Roman"/>
                <a:cs typeface="Times New Roman"/>
              </a:rPr>
              <a:t>класст</a:t>
            </a:r>
            <a:r>
              <a:rPr lang="en-US" sz="1400">
                <a:latin typeface="Times New Roman"/>
                <a:cs typeface="Times New Roman"/>
              </a:rPr>
              <a:t> </a:t>
            </a:r>
            <a:r>
              <a:rPr lang="en-US" sz="1400" err="1">
                <a:latin typeface="Times New Roman"/>
                <a:cs typeface="Times New Roman"/>
              </a:rPr>
              <a:t>хамааралтай</a:t>
            </a:r>
            <a:r>
              <a:rPr lang="en-US" sz="1400">
                <a:latin typeface="Times New Roman"/>
                <a:cs typeface="Times New Roman"/>
              </a:rPr>
              <a:t> </a:t>
            </a:r>
            <a:r>
              <a:rPr lang="en-US" sz="1400" err="1">
                <a:latin typeface="Times New Roman"/>
                <a:cs typeface="Times New Roman"/>
              </a:rPr>
              <a:t>байдаг</a:t>
            </a:r>
            <a:r>
              <a:rPr lang="en-US" sz="1400">
                <a:latin typeface="Times New Roman"/>
                <a:cs typeface="Times New Roman"/>
              </a:rPr>
              <a:t>. </a:t>
            </a:r>
            <a:r>
              <a:rPr lang="en-US" sz="1400" err="1">
                <a:latin typeface="Times New Roman"/>
                <a:cs typeface="Times New Roman"/>
              </a:rPr>
              <a:t>Иймээс</a:t>
            </a:r>
            <a:r>
              <a:rPr lang="en-US" sz="1400">
                <a:latin typeface="Times New Roman"/>
                <a:cs typeface="Times New Roman"/>
              </a:rPr>
              <a:t> </a:t>
            </a:r>
            <a:r>
              <a:rPr lang="en-US" sz="1400" err="1">
                <a:latin typeface="Times New Roman"/>
                <a:cs typeface="Times New Roman"/>
              </a:rPr>
              <a:t>объект</a:t>
            </a:r>
            <a:r>
              <a:rPr lang="en-US" sz="1400">
                <a:latin typeface="Times New Roman"/>
                <a:cs typeface="Times New Roman"/>
              </a:rPr>
              <a:t> </a:t>
            </a:r>
            <a:r>
              <a:rPr lang="en-US" sz="1400" err="1">
                <a:latin typeface="Times New Roman"/>
                <a:cs typeface="Times New Roman"/>
              </a:rPr>
              <a:t>үүсгэлгүйгээр</a:t>
            </a:r>
            <a:r>
              <a:rPr lang="en-US" sz="1400">
                <a:latin typeface="Times New Roman"/>
                <a:cs typeface="Times New Roman"/>
              </a:rPr>
              <a:t> </a:t>
            </a:r>
            <a:r>
              <a:rPr lang="en-US" sz="1400" err="1">
                <a:latin typeface="Times New Roman"/>
                <a:cs typeface="Times New Roman"/>
              </a:rPr>
              <a:t>классын</a:t>
            </a:r>
            <a:r>
              <a:rPr lang="en-US" sz="1400">
                <a:latin typeface="Times New Roman"/>
                <a:cs typeface="Times New Roman"/>
              </a:rPr>
              <a:t> </a:t>
            </a:r>
            <a:r>
              <a:rPr lang="en-US" sz="1400" err="1">
                <a:latin typeface="Times New Roman"/>
                <a:cs typeface="Times New Roman"/>
              </a:rPr>
              <a:t>нэрээр</a:t>
            </a:r>
            <a:r>
              <a:rPr lang="en-US" sz="1400">
                <a:latin typeface="Times New Roman"/>
                <a:cs typeface="Times New Roman"/>
              </a:rPr>
              <a:t> </a:t>
            </a:r>
            <a:r>
              <a:rPr lang="en-US" sz="1400" err="1">
                <a:latin typeface="Times New Roman"/>
                <a:cs typeface="Times New Roman"/>
              </a:rPr>
              <a:t>дуудаж</a:t>
            </a:r>
            <a:r>
              <a:rPr lang="en-US" sz="1400">
                <a:latin typeface="Times New Roman"/>
                <a:cs typeface="Times New Roman"/>
              </a:rPr>
              <a:t> </a:t>
            </a:r>
            <a:r>
              <a:rPr lang="en-US" sz="1400" err="1">
                <a:latin typeface="Times New Roman"/>
                <a:cs typeface="Times New Roman"/>
              </a:rPr>
              <a:t>болдог</a:t>
            </a:r>
            <a:r>
              <a:rPr lang="en-US" sz="1400">
                <a:latin typeface="Times New Roman"/>
                <a:cs typeface="Times New Roman"/>
              </a:rPr>
              <a:t>. </a:t>
            </a:r>
            <a:endParaRPr lang="en-US" sz="1400">
              <a:latin typeface="Times New Roman"/>
              <a:ea typeface="Calibri"/>
              <a:cs typeface="Times New Roman"/>
            </a:endParaRPr>
          </a:p>
          <a:p>
            <a:pPr algn="ctr"/>
            <a:endParaRPr lang="en-GB" sz="1400">
              <a:latin typeface="Times New Roman"/>
              <a:ea typeface="Calibri"/>
              <a:cs typeface="Times New Roman"/>
            </a:endParaRPr>
          </a:p>
        </p:txBody>
      </p:sp>
      <p:sp>
        <p:nvSpPr>
          <p:cNvPr id="34" name="Text 3">
            <a:extLst>
              <a:ext uri="{FF2B5EF4-FFF2-40B4-BE49-F238E27FC236}">
                <a16:creationId xmlns:a16="http://schemas.microsoft.com/office/drawing/2014/main" id="{1E693EAB-E6A9-0BBD-DE57-BEFD9E7431D4}"/>
              </a:ext>
            </a:extLst>
          </p:cNvPr>
          <p:cNvSpPr/>
          <p:nvPr/>
        </p:nvSpPr>
        <p:spPr>
          <a:xfrm>
            <a:off x="457199" y="3413646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Static </a:t>
            </a:r>
            <a:r>
              <a:rPr lang="en-US" sz="1600" b="1" err="1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гишүүн</a:t>
            </a:r>
            <a:r>
              <a:rPr lang="en-US" sz="1600" b="1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sz="1600" b="1" err="1">
                <a:solidFill>
                  <a:srgbClr val="0F172A"/>
                </a:solidFill>
                <a:latin typeface="Times New Roman"/>
                <a:ea typeface="Calibri"/>
                <a:cs typeface="Times New Roman"/>
              </a:rPr>
              <a:t>өгөгдөл</a:t>
            </a:r>
            <a:endParaRPr lang="en-US" sz="1600">
              <a:latin typeface="Times New Roman"/>
              <a:ea typeface="Calibri"/>
              <a:cs typeface="Times New Roman"/>
            </a:endParaRPr>
          </a:p>
        </p:txBody>
      </p:sp>
      <p:sp>
        <p:nvSpPr>
          <p:cNvPr id="15" name="TextBox 13">
            <a:extLst>
              <a:ext uri="{FF2B5EF4-FFF2-40B4-BE49-F238E27FC236}">
                <a16:creationId xmlns:a16="http://schemas.microsoft.com/office/drawing/2014/main" id="{C30F3242-248B-CF8B-7C0E-AB329E6FFD9A}"/>
              </a:ext>
            </a:extLst>
          </p:cNvPr>
          <p:cNvSpPr txBox="1"/>
          <p:nvPr/>
        </p:nvSpPr>
        <p:spPr>
          <a:xfrm>
            <a:off x="4726214" y="766265"/>
            <a:ext cx="4785246" cy="4339650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>
                <a:solidFill>
                  <a:srgbClr val="FF0000"/>
                </a:solidFill>
                <a:latin typeface="Times New Roman"/>
                <a:ea typeface="Consolas"/>
                <a:cs typeface="Times New Roman"/>
              </a:rPr>
              <a:t>class Student </a:t>
            </a:r>
            <a:r>
              <a:rPr lang="en-US" sz="1200" b="0">
                <a:solidFill>
                  <a:srgbClr val="000000"/>
                </a:solidFill>
                <a:latin typeface="Times New Roman"/>
                <a:ea typeface="Consolas"/>
                <a:cs typeface="Times New Roman"/>
              </a:rPr>
              <a:t>{ </a:t>
            </a:r>
            <a:endParaRPr lang="en-US" sz="1200">
              <a:solidFill>
                <a:srgbClr val="000000"/>
              </a:solidFill>
              <a:latin typeface="Times New Roman"/>
              <a:ea typeface="Calibri"/>
              <a:cs typeface="Times New Roman"/>
            </a:endParaRPr>
          </a:p>
          <a:p>
            <a:r>
              <a:rPr lang="en-US" sz="1200">
                <a:solidFill>
                  <a:srgbClr val="000000"/>
                </a:solidFill>
                <a:latin typeface="Times New Roman"/>
                <a:ea typeface="Consolas"/>
                <a:cs typeface="Times New Roman"/>
              </a:rPr>
              <a:t> </a:t>
            </a:r>
            <a:r>
              <a:rPr lang="en-US" sz="1200" b="0">
                <a:solidFill>
                  <a:srgbClr val="000000"/>
                </a:solidFill>
                <a:latin typeface="Times New Roman"/>
                <a:ea typeface="Consolas"/>
                <a:cs typeface="Times New Roman"/>
              </a:rPr>
              <a:t>public</a:t>
            </a:r>
            <a:r>
              <a:rPr lang="en-US" sz="1200">
                <a:solidFill>
                  <a:srgbClr val="000000"/>
                </a:solidFill>
                <a:latin typeface="Times New Roman"/>
                <a:ea typeface="Consolas"/>
                <a:cs typeface="Times New Roman"/>
              </a:rPr>
              <a:t> </a:t>
            </a:r>
            <a:r>
              <a:rPr lang="en-US" sz="1200" b="0">
                <a:solidFill>
                  <a:srgbClr val="000000"/>
                </a:solidFill>
                <a:latin typeface="Times New Roman"/>
                <a:ea typeface="Consolas"/>
                <a:cs typeface="Times New Roman"/>
              </a:rPr>
              <a:t>: </a:t>
            </a:r>
            <a:endParaRPr lang="en-US" sz="1200">
              <a:solidFill>
                <a:srgbClr val="000000"/>
              </a:solidFill>
              <a:latin typeface="Times New Roman"/>
              <a:ea typeface="Calibri"/>
              <a:cs typeface="Times New Roman"/>
            </a:endParaRPr>
          </a:p>
          <a:p>
            <a:r>
              <a:rPr lang="en-US" sz="1200">
                <a:solidFill>
                  <a:srgbClr val="000000"/>
                </a:solidFill>
                <a:latin typeface="Times New Roman"/>
                <a:ea typeface="Consolas"/>
                <a:cs typeface="Times New Roman"/>
              </a:rPr>
              <a:t>  </a:t>
            </a:r>
            <a:r>
              <a:rPr lang="en-US" sz="1200" b="0">
                <a:solidFill>
                  <a:schemeClr val="accent1"/>
                </a:solidFill>
                <a:latin typeface="Times New Roman"/>
                <a:ea typeface="Consolas"/>
                <a:cs typeface="Times New Roman"/>
              </a:rPr>
              <a:t>// </a:t>
            </a:r>
            <a:r>
              <a:rPr lang="en-US" sz="1200" err="1">
                <a:solidFill>
                  <a:schemeClr val="accent1"/>
                </a:solidFill>
                <a:latin typeface="Times New Roman"/>
                <a:ea typeface="Consolas"/>
                <a:cs typeface="Times New Roman"/>
              </a:rPr>
              <a:t>статик</a:t>
            </a:r>
            <a:r>
              <a:rPr lang="en-US" sz="1200">
                <a:solidFill>
                  <a:schemeClr val="accent1"/>
                </a:solidFill>
                <a:latin typeface="Times New Roman"/>
                <a:ea typeface="Consolas"/>
                <a:cs typeface="Times New Roman"/>
              </a:rPr>
              <a:t> </a:t>
            </a:r>
            <a:r>
              <a:rPr lang="en-US" sz="1200" b="0" err="1">
                <a:solidFill>
                  <a:schemeClr val="accent1"/>
                </a:solidFill>
                <a:latin typeface="Times New Roman"/>
                <a:ea typeface="Consolas"/>
                <a:cs typeface="Times New Roman"/>
              </a:rPr>
              <a:t>гишүүн</a:t>
            </a:r>
            <a:r>
              <a:rPr lang="en-US" sz="1200" b="0">
                <a:solidFill>
                  <a:schemeClr val="accent1"/>
                </a:solidFill>
                <a:latin typeface="Times New Roman"/>
                <a:ea typeface="Consolas"/>
                <a:cs typeface="Times New Roman"/>
              </a:rPr>
              <a:t> </a:t>
            </a:r>
            <a:r>
              <a:rPr lang="en-US" sz="1200" b="0" err="1">
                <a:solidFill>
                  <a:schemeClr val="accent1"/>
                </a:solidFill>
                <a:latin typeface="Times New Roman"/>
                <a:ea typeface="Consolas"/>
                <a:cs typeface="Times New Roman"/>
              </a:rPr>
              <a:t>өгөгдөл</a:t>
            </a:r>
            <a:r>
              <a:rPr lang="en-US" sz="1200" b="0">
                <a:solidFill>
                  <a:schemeClr val="accent1"/>
                </a:solidFill>
                <a:latin typeface="Times New Roman"/>
                <a:ea typeface="Consolas"/>
                <a:cs typeface="Times New Roman"/>
              </a:rPr>
              <a:t> </a:t>
            </a:r>
            <a:r>
              <a:rPr lang="en-US" sz="1200">
                <a:solidFill>
                  <a:schemeClr val="accent1"/>
                </a:solidFill>
                <a:latin typeface="Times New Roman"/>
                <a:ea typeface="Consolas"/>
                <a:cs typeface="Times New Roman"/>
              </a:rPr>
              <a:t> </a:t>
            </a:r>
            <a:endParaRPr lang="en-US" sz="1200">
              <a:solidFill>
                <a:schemeClr val="accent1"/>
              </a:solidFill>
              <a:latin typeface="Times New Roman"/>
              <a:ea typeface="Calibri"/>
              <a:cs typeface="Times New Roman"/>
            </a:endParaRPr>
          </a:p>
          <a:p>
            <a:r>
              <a:rPr lang="en-US" sz="1200">
                <a:solidFill>
                  <a:srgbClr val="000000"/>
                </a:solidFill>
                <a:latin typeface="Times New Roman"/>
                <a:ea typeface="Consolas"/>
                <a:cs typeface="Times New Roman"/>
              </a:rPr>
              <a:t>  </a:t>
            </a:r>
            <a:r>
              <a:rPr lang="en-US" sz="1200" b="0">
                <a:solidFill>
                  <a:schemeClr val="accent2"/>
                </a:solidFill>
                <a:latin typeface="Times New Roman"/>
                <a:ea typeface="Consolas"/>
                <a:cs typeface="Times New Roman"/>
              </a:rPr>
              <a:t>static int count; </a:t>
            </a:r>
            <a:endParaRPr lang="en-US" sz="1200">
              <a:solidFill>
                <a:schemeClr val="accent2"/>
              </a:solidFill>
              <a:latin typeface="Times New Roman"/>
              <a:ea typeface="Calibri"/>
              <a:cs typeface="Times New Roman"/>
            </a:endParaRPr>
          </a:p>
          <a:p>
            <a:r>
              <a:rPr lang="en-US" sz="1200">
                <a:solidFill>
                  <a:srgbClr val="000000"/>
                </a:solidFill>
                <a:latin typeface="Times New Roman"/>
                <a:cs typeface="Times New Roman"/>
              </a:rPr>
              <a:t>  </a:t>
            </a:r>
            <a:r>
              <a:rPr lang="en-US" sz="1200">
                <a:solidFill>
                  <a:schemeClr val="accent1"/>
                </a:solidFill>
                <a:latin typeface="Times New Roman"/>
                <a:cs typeface="Times New Roman"/>
              </a:rPr>
              <a:t>// </a:t>
            </a:r>
            <a:r>
              <a:rPr lang="en-US" sz="1200" err="1">
                <a:solidFill>
                  <a:schemeClr val="accent1"/>
                </a:solidFill>
                <a:latin typeface="Times New Roman"/>
                <a:cs typeface="Times New Roman"/>
              </a:rPr>
              <a:t>байгуулагчаар</a:t>
            </a:r>
            <a:r>
              <a:rPr lang="en-US" sz="1200">
                <a:solidFill>
                  <a:schemeClr val="accent1"/>
                </a:solidFill>
                <a:latin typeface="Times New Roman"/>
                <a:cs typeface="Times New Roman"/>
              </a:rPr>
              <a:t> </a:t>
            </a:r>
            <a:r>
              <a:rPr lang="en-US" sz="1200" err="1">
                <a:solidFill>
                  <a:schemeClr val="accent1"/>
                </a:solidFill>
                <a:latin typeface="Times New Roman"/>
                <a:cs typeface="Times New Roman"/>
              </a:rPr>
              <a:t>утгыг</a:t>
            </a:r>
            <a:r>
              <a:rPr lang="en-US" sz="1200">
                <a:solidFill>
                  <a:schemeClr val="accent1"/>
                </a:solidFill>
                <a:latin typeface="Times New Roman"/>
                <a:cs typeface="Times New Roman"/>
              </a:rPr>
              <a:t> </a:t>
            </a:r>
            <a:r>
              <a:rPr lang="en-US" sz="1200" err="1">
                <a:solidFill>
                  <a:schemeClr val="accent1"/>
                </a:solidFill>
                <a:latin typeface="Times New Roman"/>
                <a:cs typeface="Times New Roman"/>
              </a:rPr>
              <a:t>нэмэгдүүлэх</a:t>
            </a:r>
            <a:r>
              <a:rPr lang="en-US" sz="1200">
                <a:solidFill>
                  <a:schemeClr val="accent1"/>
                </a:solidFill>
                <a:latin typeface="Times New Roman"/>
                <a:cs typeface="Times New Roman"/>
              </a:rPr>
              <a:t> </a:t>
            </a:r>
            <a:endParaRPr lang="en-US" sz="1200">
              <a:solidFill>
                <a:schemeClr val="accent1"/>
              </a:solidFill>
              <a:latin typeface="Times New Roman"/>
              <a:ea typeface="Calibri"/>
              <a:cs typeface="Times New Roman"/>
            </a:endParaRPr>
          </a:p>
          <a:p>
            <a:r>
              <a:rPr lang="en-US" sz="1200">
                <a:solidFill>
                  <a:srgbClr val="000000"/>
                </a:solidFill>
                <a:latin typeface="Times New Roman"/>
                <a:ea typeface="Consolas"/>
                <a:cs typeface="Times New Roman"/>
              </a:rPr>
              <a:t>  </a:t>
            </a:r>
            <a:r>
              <a:rPr lang="en-US" sz="1200" b="0">
                <a:solidFill>
                  <a:srgbClr val="000000"/>
                </a:solidFill>
                <a:latin typeface="Times New Roman"/>
                <a:ea typeface="Consolas"/>
                <a:cs typeface="Times New Roman"/>
              </a:rPr>
              <a:t>Student</a:t>
            </a:r>
            <a:r>
              <a:rPr lang="en-US" sz="1200">
                <a:solidFill>
                  <a:srgbClr val="000000"/>
                </a:solidFill>
                <a:latin typeface="Times New Roman"/>
                <a:ea typeface="Consolas"/>
                <a:cs typeface="Times New Roman"/>
              </a:rPr>
              <a:t>() </a:t>
            </a:r>
            <a:r>
              <a:rPr lang="en-US" sz="1200" b="0">
                <a:solidFill>
                  <a:srgbClr val="000000"/>
                </a:solidFill>
                <a:latin typeface="Times New Roman"/>
                <a:ea typeface="Consolas"/>
                <a:cs typeface="Times New Roman"/>
              </a:rPr>
              <a:t>{ </a:t>
            </a:r>
            <a:endParaRPr lang="en-US" sz="1200">
              <a:solidFill>
                <a:srgbClr val="000000"/>
              </a:solidFill>
              <a:latin typeface="Times New Roman"/>
              <a:ea typeface="Calibri"/>
              <a:cs typeface="Times New Roman"/>
            </a:endParaRPr>
          </a:p>
          <a:p>
            <a:r>
              <a:rPr lang="en-US" sz="1200">
                <a:solidFill>
                  <a:srgbClr val="000000"/>
                </a:solidFill>
                <a:latin typeface="Times New Roman"/>
                <a:ea typeface="Consolas"/>
                <a:cs typeface="Times New Roman"/>
              </a:rPr>
              <a:t>   </a:t>
            </a:r>
            <a:r>
              <a:rPr lang="en-US" sz="1200" b="0">
                <a:solidFill>
                  <a:srgbClr val="000000"/>
                </a:solidFill>
                <a:latin typeface="Times New Roman"/>
                <a:ea typeface="Consolas"/>
                <a:cs typeface="Times New Roman"/>
              </a:rPr>
              <a:t>count++; </a:t>
            </a:r>
            <a:endParaRPr lang="en-US" sz="1200">
              <a:solidFill>
                <a:srgbClr val="000000"/>
              </a:solidFill>
              <a:latin typeface="Times New Roman"/>
              <a:ea typeface="Calibri"/>
              <a:cs typeface="Times New Roman"/>
            </a:endParaRPr>
          </a:p>
          <a:p>
            <a:r>
              <a:rPr lang="en-US" sz="1200">
                <a:solidFill>
                  <a:srgbClr val="000000"/>
                </a:solidFill>
                <a:latin typeface="Times New Roman"/>
                <a:ea typeface="Consolas"/>
                <a:cs typeface="Times New Roman"/>
              </a:rPr>
              <a:t>  </a:t>
            </a:r>
            <a:r>
              <a:rPr lang="en-US" sz="1200" b="0">
                <a:solidFill>
                  <a:srgbClr val="000000"/>
                </a:solidFill>
                <a:latin typeface="Times New Roman"/>
                <a:ea typeface="Consolas"/>
                <a:cs typeface="Times New Roman"/>
              </a:rPr>
              <a:t>} </a:t>
            </a:r>
            <a:endParaRPr lang="en-US" sz="1200">
              <a:solidFill>
                <a:srgbClr val="000000"/>
              </a:solidFill>
              <a:latin typeface="Times New Roman"/>
              <a:ea typeface="Calibri"/>
              <a:cs typeface="Times New Roman"/>
            </a:endParaRPr>
          </a:p>
          <a:p>
            <a:r>
              <a:rPr lang="en-US" sz="1200">
                <a:solidFill>
                  <a:srgbClr val="000000"/>
                </a:solidFill>
                <a:latin typeface="Times New Roman"/>
                <a:cs typeface="Times New Roman"/>
              </a:rPr>
              <a:t>  </a:t>
            </a:r>
            <a:r>
              <a:rPr lang="en-US" sz="1200">
                <a:solidFill>
                  <a:schemeClr val="accent1"/>
                </a:solidFill>
                <a:latin typeface="Times New Roman"/>
                <a:cs typeface="Times New Roman"/>
              </a:rPr>
              <a:t>// </a:t>
            </a:r>
            <a:r>
              <a:rPr lang="en-US" sz="1200" err="1">
                <a:solidFill>
                  <a:schemeClr val="accent1"/>
                </a:solidFill>
                <a:latin typeface="Times New Roman"/>
                <a:cs typeface="Times New Roman"/>
              </a:rPr>
              <a:t>статик</a:t>
            </a:r>
            <a:r>
              <a:rPr lang="en-US" sz="1200">
                <a:solidFill>
                  <a:schemeClr val="accent1"/>
                </a:solidFill>
                <a:latin typeface="Times New Roman"/>
                <a:cs typeface="Times New Roman"/>
              </a:rPr>
              <a:t> </a:t>
            </a:r>
            <a:r>
              <a:rPr lang="en-US" sz="1200" err="1">
                <a:solidFill>
                  <a:schemeClr val="accent1"/>
                </a:solidFill>
                <a:latin typeface="Times New Roman"/>
                <a:cs typeface="Times New Roman"/>
              </a:rPr>
              <a:t>гишүүн</a:t>
            </a:r>
            <a:r>
              <a:rPr lang="en-US" sz="1200">
                <a:solidFill>
                  <a:schemeClr val="accent1"/>
                </a:solidFill>
                <a:latin typeface="Times New Roman"/>
                <a:cs typeface="Times New Roman"/>
              </a:rPr>
              <a:t> </a:t>
            </a:r>
            <a:r>
              <a:rPr lang="en-US" sz="1200" err="1">
                <a:solidFill>
                  <a:schemeClr val="accent1"/>
                </a:solidFill>
                <a:latin typeface="Times New Roman"/>
                <a:cs typeface="Times New Roman"/>
              </a:rPr>
              <a:t>функц</a:t>
            </a:r>
            <a:r>
              <a:rPr lang="en-US" sz="1200">
                <a:solidFill>
                  <a:srgbClr val="5ED1E3"/>
                </a:solidFill>
                <a:latin typeface="Times New Roman"/>
                <a:cs typeface="Times New Roman"/>
              </a:rPr>
              <a:t> </a:t>
            </a:r>
            <a:endParaRPr lang="en-US" sz="1200">
              <a:solidFill>
                <a:srgbClr val="5ED1E3"/>
              </a:solidFill>
              <a:latin typeface="Times New Roman"/>
              <a:ea typeface="Calibri"/>
              <a:cs typeface="Times New Roman"/>
            </a:endParaRPr>
          </a:p>
          <a:p>
            <a:r>
              <a:rPr lang="en-US" sz="1200">
                <a:solidFill>
                  <a:srgbClr val="000000"/>
                </a:solidFill>
                <a:latin typeface="Times New Roman"/>
                <a:ea typeface="Consolas"/>
                <a:cs typeface="Times New Roman"/>
              </a:rPr>
              <a:t> </a:t>
            </a:r>
            <a:r>
              <a:rPr lang="en-US" sz="1200">
                <a:solidFill>
                  <a:schemeClr val="accent2"/>
                </a:solidFill>
                <a:latin typeface="Times New Roman"/>
                <a:ea typeface="Consolas"/>
                <a:cs typeface="Times New Roman"/>
              </a:rPr>
              <a:t> static </a:t>
            </a:r>
            <a:r>
              <a:rPr lang="en-US" sz="1200" b="0">
                <a:solidFill>
                  <a:schemeClr val="accent2"/>
                </a:solidFill>
                <a:latin typeface="Times New Roman"/>
                <a:ea typeface="Consolas"/>
                <a:cs typeface="Times New Roman"/>
              </a:rPr>
              <a:t>void </a:t>
            </a:r>
            <a:r>
              <a:rPr lang="en-US" sz="1200" err="1">
                <a:solidFill>
                  <a:schemeClr val="accent2"/>
                </a:solidFill>
                <a:latin typeface="Times New Roman"/>
                <a:ea typeface="Consolas"/>
                <a:cs typeface="Times New Roman"/>
              </a:rPr>
              <a:t>showCount</a:t>
            </a:r>
            <a:r>
              <a:rPr lang="en-US" sz="1200" b="0">
                <a:solidFill>
                  <a:schemeClr val="accent2"/>
                </a:solidFill>
                <a:latin typeface="Times New Roman"/>
                <a:ea typeface="Consolas"/>
                <a:cs typeface="Times New Roman"/>
              </a:rPr>
              <a:t>() </a:t>
            </a:r>
            <a:r>
              <a:rPr lang="en-US" sz="1200" b="0">
                <a:solidFill>
                  <a:srgbClr val="000000"/>
                </a:solidFill>
                <a:latin typeface="Times New Roman"/>
                <a:ea typeface="Consolas"/>
                <a:cs typeface="Times New Roman"/>
              </a:rPr>
              <a:t>{ </a:t>
            </a:r>
            <a:endParaRPr lang="en-US" sz="1200">
              <a:solidFill>
                <a:srgbClr val="000000"/>
              </a:solidFill>
              <a:latin typeface="Times New Roman"/>
              <a:ea typeface="Calibri"/>
              <a:cs typeface="Times New Roman"/>
            </a:endParaRPr>
          </a:p>
          <a:p>
            <a:r>
              <a:rPr lang="en-US" sz="1200">
                <a:solidFill>
                  <a:srgbClr val="000000"/>
                </a:solidFill>
                <a:latin typeface="Times New Roman"/>
                <a:ea typeface="Consolas"/>
                <a:cs typeface="Times New Roman"/>
              </a:rPr>
              <a:t>   </a:t>
            </a:r>
            <a:r>
              <a:rPr lang="en-US" sz="1200" b="0" err="1">
                <a:solidFill>
                  <a:srgbClr val="000000"/>
                </a:solidFill>
                <a:latin typeface="Times New Roman"/>
                <a:ea typeface="Consolas"/>
                <a:cs typeface="Times New Roman"/>
              </a:rPr>
              <a:t>cout</a:t>
            </a:r>
            <a:r>
              <a:rPr lang="en-US" sz="1200" b="0">
                <a:solidFill>
                  <a:srgbClr val="000000"/>
                </a:solidFill>
                <a:latin typeface="Times New Roman"/>
                <a:ea typeface="Consolas"/>
                <a:cs typeface="Times New Roman"/>
              </a:rPr>
              <a:t> &lt;&lt; "</a:t>
            </a:r>
            <a:r>
              <a:rPr lang="en-US" sz="1200">
                <a:solidFill>
                  <a:srgbClr val="000000"/>
                </a:solidFill>
                <a:latin typeface="Times New Roman"/>
                <a:ea typeface="Consolas"/>
                <a:cs typeface="Times New Roman"/>
              </a:rPr>
              <a:t>Total students</a:t>
            </a:r>
            <a:r>
              <a:rPr lang="en-US" sz="1200" b="0">
                <a:solidFill>
                  <a:srgbClr val="000000"/>
                </a:solidFill>
                <a:latin typeface="Times New Roman"/>
                <a:ea typeface="Consolas"/>
                <a:cs typeface="Times New Roman"/>
              </a:rPr>
              <a:t>: " &lt;&lt; </a:t>
            </a:r>
            <a:r>
              <a:rPr lang="en-US" sz="1200">
                <a:solidFill>
                  <a:srgbClr val="000000"/>
                </a:solidFill>
                <a:latin typeface="Times New Roman"/>
                <a:ea typeface="Consolas"/>
                <a:cs typeface="Times New Roman"/>
              </a:rPr>
              <a:t>count </a:t>
            </a:r>
            <a:r>
              <a:rPr lang="en-US" sz="1200" b="0">
                <a:solidFill>
                  <a:srgbClr val="000000"/>
                </a:solidFill>
                <a:latin typeface="Times New Roman"/>
                <a:ea typeface="Consolas"/>
                <a:cs typeface="Times New Roman"/>
              </a:rPr>
              <a:t>&lt;&lt; </a:t>
            </a:r>
            <a:r>
              <a:rPr lang="en-US" sz="1200" b="0" err="1">
                <a:solidFill>
                  <a:srgbClr val="000000"/>
                </a:solidFill>
                <a:latin typeface="Times New Roman"/>
                <a:ea typeface="Consolas"/>
                <a:cs typeface="Times New Roman"/>
              </a:rPr>
              <a:t>endl</a:t>
            </a:r>
            <a:r>
              <a:rPr lang="en-US" sz="1200" b="0">
                <a:solidFill>
                  <a:srgbClr val="000000"/>
                </a:solidFill>
                <a:latin typeface="Times New Roman"/>
                <a:ea typeface="Consolas"/>
                <a:cs typeface="Times New Roman"/>
              </a:rPr>
              <a:t>; </a:t>
            </a:r>
            <a:endParaRPr lang="en-US" sz="1200">
              <a:solidFill>
                <a:srgbClr val="000000"/>
              </a:solidFill>
              <a:latin typeface="Times New Roman"/>
              <a:ea typeface="Calibri"/>
              <a:cs typeface="Times New Roman"/>
            </a:endParaRPr>
          </a:p>
          <a:p>
            <a:r>
              <a:rPr lang="en-US" sz="1200">
                <a:solidFill>
                  <a:srgbClr val="000000"/>
                </a:solidFill>
                <a:latin typeface="Times New Roman"/>
                <a:ea typeface="Consolas"/>
                <a:cs typeface="Times New Roman"/>
              </a:rPr>
              <a:t>  </a:t>
            </a:r>
            <a:r>
              <a:rPr lang="en-US" sz="1200" b="0">
                <a:solidFill>
                  <a:srgbClr val="000000"/>
                </a:solidFill>
                <a:latin typeface="Times New Roman"/>
                <a:ea typeface="Consolas"/>
                <a:cs typeface="Times New Roman"/>
              </a:rPr>
              <a:t>} </a:t>
            </a:r>
            <a:endParaRPr lang="en-US" sz="1200">
              <a:solidFill>
                <a:srgbClr val="000000"/>
              </a:solidFill>
              <a:latin typeface="Times New Roman"/>
              <a:ea typeface="Calibri"/>
              <a:cs typeface="Times New Roman"/>
            </a:endParaRPr>
          </a:p>
          <a:p>
            <a:r>
              <a:rPr lang="en-US" sz="1200" b="0">
                <a:solidFill>
                  <a:srgbClr val="000000"/>
                </a:solidFill>
                <a:latin typeface="Times New Roman"/>
                <a:ea typeface="Consolas"/>
                <a:cs typeface="Times New Roman"/>
              </a:rPr>
              <a:t>}; </a:t>
            </a:r>
            <a:endParaRPr lang="en-US" sz="1200">
              <a:solidFill>
                <a:srgbClr val="000000"/>
              </a:solidFill>
              <a:latin typeface="Times New Roman"/>
              <a:ea typeface="Calibri"/>
              <a:cs typeface="Times New Roman"/>
            </a:endParaRPr>
          </a:p>
          <a:p>
            <a:r>
              <a:rPr lang="en-US" sz="1200" b="0">
                <a:solidFill>
                  <a:schemeClr val="accent1"/>
                </a:solidFill>
                <a:latin typeface="Times New Roman"/>
                <a:ea typeface="Consolas"/>
                <a:cs typeface="Times New Roman"/>
              </a:rPr>
              <a:t>// </a:t>
            </a:r>
            <a:r>
              <a:rPr lang="en-US" sz="1200" b="0" err="1">
                <a:solidFill>
                  <a:schemeClr val="accent1"/>
                </a:solidFill>
                <a:latin typeface="Times New Roman"/>
                <a:ea typeface="Consolas"/>
                <a:cs typeface="Times New Roman"/>
              </a:rPr>
              <a:t>классын</a:t>
            </a:r>
            <a:r>
              <a:rPr lang="en-US" sz="1200" b="0">
                <a:solidFill>
                  <a:schemeClr val="accent1"/>
                </a:solidFill>
                <a:latin typeface="Times New Roman"/>
                <a:ea typeface="Consolas"/>
                <a:cs typeface="Times New Roman"/>
              </a:rPr>
              <a:t> </a:t>
            </a:r>
            <a:r>
              <a:rPr lang="en-US" sz="1200" b="0" err="1">
                <a:solidFill>
                  <a:schemeClr val="accent1"/>
                </a:solidFill>
                <a:latin typeface="Times New Roman"/>
                <a:ea typeface="Consolas"/>
                <a:cs typeface="Times New Roman"/>
              </a:rPr>
              <a:t>гадна</a:t>
            </a:r>
            <a:r>
              <a:rPr lang="en-US" sz="1200" b="0">
                <a:solidFill>
                  <a:schemeClr val="accent1"/>
                </a:solidFill>
                <a:latin typeface="Times New Roman"/>
                <a:ea typeface="Consolas"/>
                <a:cs typeface="Times New Roman"/>
              </a:rPr>
              <a:t> </a:t>
            </a:r>
            <a:r>
              <a:rPr lang="en-US" sz="1200" b="0" err="1">
                <a:solidFill>
                  <a:schemeClr val="accent1"/>
                </a:solidFill>
                <a:latin typeface="Times New Roman"/>
                <a:ea typeface="Consolas"/>
                <a:cs typeface="Times New Roman"/>
              </a:rPr>
              <a:t>зарлана</a:t>
            </a:r>
            <a:r>
              <a:rPr lang="en-US" sz="1200" b="0">
                <a:solidFill>
                  <a:schemeClr val="accent1"/>
                </a:solidFill>
                <a:latin typeface="Times New Roman"/>
                <a:ea typeface="Consolas"/>
                <a:cs typeface="Times New Roman"/>
              </a:rPr>
              <a:t> </a:t>
            </a:r>
            <a:endParaRPr lang="en-US" sz="1200">
              <a:solidFill>
                <a:schemeClr val="accent1"/>
              </a:solidFill>
              <a:latin typeface="Times New Roman"/>
              <a:ea typeface="Calibri"/>
              <a:cs typeface="Times New Roman"/>
            </a:endParaRPr>
          </a:p>
          <a:p>
            <a:r>
              <a:rPr lang="en-US" sz="1200" b="0">
                <a:solidFill>
                  <a:srgbClr val="000000"/>
                </a:solidFill>
                <a:latin typeface="Times New Roman"/>
                <a:ea typeface="Consolas"/>
                <a:cs typeface="Times New Roman"/>
              </a:rPr>
              <a:t>int Student::count = 0</a:t>
            </a:r>
            <a:r>
              <a:rPr lang="en-US" sz="1200">
                <a:solidFill>
                  <a:srgbClr val="000000"/>
                </a:solidFill>
                <a:latin typeface="Times New Roman"/>
                <a:ea typeface="Consolas"/>
                <a:cs typeface="Times New Roman"/>
              </a:rPr>
              <a:t> </a:t>
            </a:r>
            <a:r>
              <a:rPr lang="en-US" sz="1200" b="0">
                <a:solidFill>
                  <a:srgbClr val="000000"/>
                </a:solidFill>
                <a:latin typeface="Times New Roman"/>
                <a:ea typeface="Consolas"/>
                <a:cs typeface="Times New Roman"/>
              </a:rPr>
              <a:t>;</a:t>
            </a:r>
            <a:endParaRPr lang="en-US" sz="1200">
              <a:solidFill>
                <a:srgbClr val="000000"/>
              </a:solidFill>
              <a:latin typeface="Times New Roman"/>
              <a:ea typeface="Calibri"/>
              <a:cs typeface="Times New Roman"/>
            </a:endParaRPr>
          </a:p>
          <a:p>
            <a:endParaRPr lang="en-US" sz="1200">
              <a:solidFill>
                <a:srgbClr val="000000"/>
              </a:solidFill>
              <a:latin typeface="Times New Roman"/>
              <a:ea typeface="Calibri"/>
              <a:cs typeface="Times New Roman"/>
            </a:endParaRPr>
          </a:p>
          <a:p>
            <a:r>
              <a:rPr lang="en-US" sz="1200" b="0">
                <a:solidFill>
                  <a:srgbClr val="000000"/>
                </a:solidFill>
                <a:latin typeface="Times New Roman"/>
                <a:ea typeface="Consolas"/>
                <a:cs typeface="Times New Roman"/>
              </a:rPr>
              <a:t>int main() { </a:t>
            </a:r>
            <a:endParaRPr lang="en-US" sz="1200">
              <a:solidFill>
                <a:srgbClr val="000000"/>
              </a:solidFill>
              <a:latin typeface="Times New Roman"/>
              <a:ea typeface="Calibri"/>
              <a:cs typeface="Times New Roman"/>
            </a:endParaRPr>
          </a:p>
          <a:p>
            <a:r>
              <a:rPr lang="en-US" sz="1200">
                <a:solidFill>
                  <a:srgbClr val="000000"/>
                </a:solidFill>
                <a:latin typeface="Times New Roman"/>
                <a:ea typeface="Consolas"/>
                <a:cs typeface="Times New Roman"/>
              </a:rPr>
              <a:t> </a:t>
            </a:r>
            <a:r>
              <a:rPr lang="en-US" sz="1200" b="0">
                <a:solidFill>
                  <a:srgbClr val="000000"/>
                </a:solidFill>
                <a:latin typeface="Times New Roman"/>
                <a:ea typeface="Consolas"/>
                <a:cs typeface="Times New Roman"/>
              </a:rPr>
              <a:t>Student s1</a:t>
            </a:r>
            <a:r>
              <a:rPr lang="en-US" sz="1200">
                <a:solidFill>
                  <a:srgbClr val="000000"/>
                </a:solidFill>
                <a:latin typeface="Times New Roman"/>
                <a:ea typeface="Consolas"/>
                <a:cs typeface="Times New Roman"/>
              </a:rPr>
              <a:t>; </a:t>
            </a:r>
            <a:endParaRPr lang="en-US" sz="1200">
              <a:solidFill>
                <a:srgbClr val="000000"/>
              </a:solidFill>
              <a:latin typeface="Times New Roman"/>
              <a:ea typeface="Calibri"/>
              <a:cs typeface="Times New Roman"/>
            </a:endParaRPr>
          </a:p>
          <a:p>
            <a:r>
              <a:rPr lang="en-US" sz="1200">
                <a:solidFill>
                  <a:srgbClr val="000000"/>
                </a:solidFill>
                <a:latin typeface="Times New Roman"/>
                <a:ea typeface="Consolas"/>
                <a:cs typeface="Times New Roman"/>
              </a:rPr>
              <a:t> </a:t>
            </a:r>
            <a:r>
              <a:rPr lang="en-US" sz="1200" b="0">
                <a:solidFill>
                  <a:srgbClr val="000000"/>
                </a:solidFill>
                <a:latin typeface="Times New Roman"/>
                <a:ea typeface="Consolas"/>
                <a:cs typeface="Times New Roman"/>
              </a:rPr>
              <a:t>Student s2</a:t>
            </a:r>
            <a:r>
              <a:rPr lang="en-US" sz="1200">
                <a:solidFill>
                  <a:srgbClr val="000000"/>
                </a:solidFill>
                <a:latin typeface="Times New Roman"/>
                <a:ea typeface="Consolas"/>
                <a:cs typeface="Times New Roman"/>
              </a:rPr>
              <a:t>; </a:t>
            </a:r>
            <a:endParaRPr lang="en-US" sz="1200">
              <a:solidFill>
                <a:srgbClr val="000000"/>
              </a:solidFill>
              <a:latin typeface="Times New Roman"/>
              <a:ea typeface="Calibri"/>
              <a:cs typeface="Times New Roman"/>
            </a:endParaRPr>
          </a:p>
          <a:p>
            <a:r>
              <a:rPr lang="en-US" sz="1200">
                <a:solidFill>
                  <a:srgbClr val="000000"/>
                </a:solidFill>
                <a:latin typeface="Times New Roman"/>
                <a:ea typeface="Consolas"/>
                <a:cs typeface="Times New Roman"/>
              </a:rPr>
              <a:t> </a:t>
            </a:r>
            <a:r>
              <a:rPr lang="en-US" sz="1200" b="0">
                <a:solidFill>
                  <a:schemeClr val="accent1"/>
                </a:solidFill>
                <a:latin typeface="Times New Roman"/>
                <a:ea typeface="Consolas"/>
                <a:cs typeface="Times New Roman"/>
              </a:rPr>
              <a:t>// </a:t>
            </a:r>
            <a:r>
              <a:rPr lang="en-US" sz="1200" b="0" err="1">
                <a:solidFill>
                  <a:schemeClr val="accent1"/>
                </a:solidFill>
                <a:latin typeface="Times New Roman"/>
                <a:ea typeface="Consolas"/>
                <a:cs typeface="Times New Roman"/>
              </a:rPr>
              <a:t>классаар</a:t>
            </a:r>
            <a:r>
              <a:rPr lang="en-US" sz="1200" b="0">
                <a:solidFill>
                  <a:schemeClr val="accent1"/>
                </a:solidFill>
                <a:latin typeface="Times New Roman"/>
                <a:ea typeface="Consolas"/>
                <a:cs typeface="Times New Roman"/>
              </a:rPr>
              <a:t> </a:t>
            </a:r>
            <a:r>
              <a:rPr lang="en-US" sz="1200" err="1">
                <a:solidFill>
                  <a:schemeClr val="accent1"/>
                </a:solidFill>
                <a:latin typeface="Times New Roman"/>
                <a:ea typeface="Consolas"/>
                <a:cs typeface="Times New Roman"/>
              </a:rPr>
              <a:t>дуудах</a:t>
            </a:r>
            <a:r>
              <a:rPr lang="en-US" sz="1200">
                <a:solidFill>
                  <a:schemeClr val="accent1"/>
                </a:solidFill>
                <a:latin typeface="Times New Roman"/>
                <a:ea typeface="Consolas"/>
                <a:cs typeface="Times New Roman"/>
              </a:rPr>
              <a:t> </a:t>
            </a:r>
            <a:endParaRPr lang="en-US" sz="1200">
              <a:solidFill>
                <a:schemeClr val="accent1"/>
              </a:solidFill>
              <a:latin typeface="Times New Roman"/>
              <a:ea typeface="Calibri"/>
              <a:cs typeface="Times New Roman"/>
            </a:endParaRPr>
          </a:p>
          <a:p>
            <a:r>
              <a:rPr lang="en-US" sz="1200">
                <a:solidFill>
                  <a:srgbClr val="000000"/>
                </a:solidFill>
                <a:latin typeface="Times New Roman"/>
                <a:ea typeface="Consolas"/>
                <a:cs typeface="Times New Roman"/>
              </a:rPr>
              <a:t> </a:t>
            </a:r>
            <a:r>
              <a:rPr lang="en-US" sz="1200" b="0">
                <a:solidFill>
                  <a:schemeClr val="accent2"/>
                </a:solidFill>
                <a:latin typeface="Times New Roman"/>
                <a:ea typeface="Consolas"/>
                <a:cs typeface="Times New Roman"/>
              </a:rPr>
              <a:t>Student::</a:t>
            </a:r>
            <a:r>
              <a:rPr lang="en-US" sz="1200" err="1">
                <a:solidFill>
                  <a:schemeClr val="accent2"/>
                </a:solidFill>
                <a:latin typeface="Times New Roman"/>
                <a:ea typeface="Consolas"/>
                <a:cs typeface="Times New Roman"/>
              </a:rPr>
              <a:t>showCount</a:t>
            </a:r>
            <a:r>
              <a:rPr lang="en-US" sz="1200">
                <a:solidFill>
                  <a:schemeClr val="accent2"/>
                </a:solidFill>
                <a:latin typeface="Times New Roman"/>
                <a:ea typeface="Consolas"/>
                <a:cs typeface="Times New Roman"/>
              </a:rPr>
              <a:t>()</a:t>
            </a:r>
            <a:r>
              <a:rPr lang="en-US" sz="1200">
                <a:solidFill>
                  <a:srgbClr val="000000"/>
                </a:solidFill>
                <a:latin typeface="Times New Roman"/>
                <a:ea typeface="Consolas"/>
                <a:cs typeface="Times New Roman"/>
              </a:rPr>
              <a:t> </a:t>
            </a:r>
            <a:r>
              <a:rPr lang="en-US" sz="1200" b="0">
                <a:solidFill>
                  <a:srgbClr val="000000"/>
                </a:solidFill>
                <a:latin typeface="Times New Roman"/>
                <a:ea typeface="Consolas"/>
                <a:cs typeface="Times New Roman"/>
              </a:rPr>
              <a:t>; </a:t>
            </a:r>
            <a:endParaRPr lang="en-US" sz="1200">
              <a:solidFill>
                <a:srgbClr val="000000"/>
              </a:solidFill>
              <a:latin typeface="Times New Roman"/>
              <a:ea typeface="Calibri"/>
              <a:cs typeface="Times New Roman"/>
            </a:endParaRPr>
          </a:p>
          <a:p>
            <a:r>
              <a:rPr lang="en-US" sz="1200" b="0">
                <a:solidFill>
                  <a:srgbClr val="000000"/>
                </a:solidFill>
                <a:latin typeface="Times New Roman"/>
                <a:ea typeface="Consolas"/>
                <a:cs typeface="Times New Roman"/>
              </a:rPr>
              <a:t>}</a:t>
            </a:r>
            <a:endParaRPr lang="en-US" sz="1200">
              <a:solidFill>
                <a:srgbClr val="000000"/>
              </a:solidFill>
              <a:latin typeface="Times New Roman"/>
              <a:ea typeface="Calibri"/>
              <a:cs typeface="Times New Roman"/>
            </a:endParaRPr>
          </a:p>
          <a:p>
            <a:endParaRPr lang="en-US" sz="1200">
              <a:solidFill>
                <a:srgbClr val="000000"/>
              </a:solidFill>
              <a:latin typeface="Times New Roman"/>
              <a:ea typeface="Calibri"/>
              <a:cs typeface="Times New Roman"/>
            </a:endParaRPr>
          </a:p>
        </p:txBody>
      </p:sp>
      <p:sp>
        <p:nvSpPr>
          <p:cNvPr id="17" name="Arrow: Left 16">
            <a:extLst>
              <a:ext uri="{FF2B5EF4-FFF2-40B4-BE49-F238E27FC236}">
                <a16:creationId xmlns:a16="http://schemas.microsoft.com/office/drawing/2014/main" id="{6B661EAB-E231-C3C7-B665-7BEE20FE74B2}"/>
              </a:ext>
            </a:extLst>
          </p:cNvPr>
          <p:cNvSpPr/>
          <p:nvPr/>
        </p:nvSpPr>
        <p:spPr>
          <a:xfrm>
            <a:off x="4549541" y="3560055"/>
            <a:ext cx="159718" cy="131915"/>
          </a:xfrm>
          <a:prstGeom prst="lef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624128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>
                <a:latin typeface="Times New Roman"/>
                <a:ea typeface="Calibri"/>
                <a:cs typeface="Times New Roman"/>
              </a:rPr>
              <a:t>ОНОЛ  —  </a:t>
            </a:r>
            <a:r>
              <a:rPr lang="en-US" sz="2000" err="1">
                <a:latin typeface="Times New Roman"/>
                <a:ea typeface="Calibri"/>
                <a:cs typeface="Times New Roman"/>
              </a:rPr>
              <a:t>Хийсвэр</a:t>
            </a:r>
            <a:r>
              <a:rPr lang="en-US" sz="2000">
                <a:latin typeface="Times New Roman"/>
                <a:ea typeface="Calibri"/>
                <a:cs typeface="Times New Roman"/>
              </a:rPr>
              <a:t> </a:t>
            </a:r>
            <a:r>
              <a:rPr lang="en-US" sz="2000" err="1">
                <a:latin typeface="Times New Roman"/>
                <a:ea typeface="Calibri"/>
                <a:cs typeface="Times New Roman"/>
              </a:rPr>
              <a:t>Класс</a:t>
            </a:r>
            <a:r>
              <a:rPr lang="en-US" sz="2000">
                <a:latin typeface="Times New Roman"/>
                <a:ea typeface="Calibri"/>
                <a:cs typeface="Times New Roman"/>
              </a:rPr>
              <a:t> &amp; </a:t>
            </a:r>
            <a:r>
              <a:rPr lang="en-US" sz="2000" err="1">
                <a:latin typeface="Times New Roman"/>
                <a:ea typeface="Calibri"/>
                <a:cs typeface="Times New Roman"/>
              </a:rPr>
              <a:t>Жинхэнэ</a:t>
            </a:r>
            <a:r>
              <a:rPr lang="en-US" sz="2000">
                <a:latin typeface="Times New Roman"/>
                <a:ea typeface="Calibri"/>
                <a:cs typeface="Times New Roman"/>
              </a:rPr>
              <a:t> </a:t>
            </a:r>
            <a:r>
              <a:rPr lang="en-US" sz="2000" err="1">
                <a:latin typeface="Times New Roman"/>
                <a:ea typeface="Calibri"/>
                <a:cs typeface="Times New Roman"/>
              </a:rPr>
              <a:t>Хийсвэр</a:t>
            </a:r>
            <a:r>
              <a:rPr lang="en-US" sz="2000">
                <a:latin typeface="Times New Roman"/>
                <a:ea typeface="Calibri"/>
                <a:cs typeface="Times New Roman"/>
              </a:rPr>
              <a:t> </a:t>
            </a:r>
            <a:r>
              <a:rPr lang="en-US" sz="2000" err="1">
                <a:latin typeface="Times New Roman"/>
                <a:ea typeface="Calibri"/>
                <a:cs typeface="Times New Roman"/>
              </a:rPr>
              <a:t>Функц</a:t>
            </a:r>
            <a:endParaRPr lang="en-US" sz="2000">
              <a:latin typeface="Times New Roman"/>
              <a:ea typeface="Calibri"/>
              <a:cs typeface="Times New Roman"/>
            </a:endParaRPr>
          </a:p>
        </p:txBody>
      </p:sp>
      <p:sp>
        <p:nvSpPr>
          <p:cNvPr id="7" name="Text 5"/>
          <p:cNvSpPr/>
          <p:nvPr/>
        </p:nvSpPr>
        <p:spPr>
          <a:xfrm>
            <a:off x="694145" y="1610724"/>
            <a:ext cx="4330338" cy="964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>
              <a:buFont typeface="Arial"/>
              <a:buChar char="•"/>
            </a:pPr>
            <a:r>
              <a:rPr lang="en-US" sz="1400" err="1">
                <a:latin typeface="Times New Roman"/>
                <a:ea typeface="Calibri"/>
                <a:cs typeface="Times New Roman"/>
              </a:rPr>
              <a:t>Эх</a:t>
            </a:r>
            <a:r>
              <a:rPr lang="en-US" sz="1400"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latin typeface="Times New Roman"/>
                <a:ea typeface="Calibri"/>
                <a:cs typeface="Times New Roman"/>
              </a:rPr>
              <a:t>класст</a:t>
            </a:r>
            <a:r>
              <a:rPr lang="en-US" sz="1400"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latin typeface="Times New Roman"/>
                <a:ea typeface="Calibri"/>
                <a:cs typeface="Times New Roman"/>
              </a:rPr>
              <a:t>зарлагддаг</a:t>
            </a:r>
            <a:endParaRPr lang="en-US" sz="1400">
              <a:latin typeface="Times New Roman"/>
              <a:ea typeface="Calibri"/>
              <a:cs typeface="Times New Roman"/>
            </a:endParaRPr>
          </a:p>
          <a:p>
            <a:pPr marL="171450" indent="-171450">
              <a:buFont typeface="Arial"/>
              <a:buChar char="•"/>
            </a:pPr>
            <a:r>
              <a:rPr lang="en-US" sz="1400" err="1">
                <a:latin typeface="Times New Roman"/>
                <a:ea typeface="Calibri"/>
                <a:cs typeface="Times New Roman"/>
              </a:rPr>
              <a:t>Удамшсан</a:t>
            </a:r>
            <a:r>
              <a:rPr lang="en-US" sz="1400"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latin typeface="Times New Roman"/>
                <a:ea typeface="Calibri"/>
                <a:cs typeface="Times New Roman"/>
              </a:rPr>
              <a:t>класст</a:t>
            </a:r>
            <a:r>
              <a:rPr lang="en-US" sz="1400">
                <a:latin typeface="Times New Roman"/>
                <a:ea typeface="Calibri"/>
                <a:cs typeface="Times New Roman"/>
              </a:rPr>
              <a:t> override </a:t>
            </a:r>
            <a:r>
              <a:rPr lang="en-US" sz="1400" err="1">
                <a:latin typeface="Times New Roman"/>
                <a:ea typeface="Calibri"/>
                <a:cs typeface="Times New Roman"/>
              </a:rPr>
              <a:t>хийгддэг</a:t>
            </a:r>
            <a:endParaRPr lang="en-US" sz="1400">
              <a:latin typeface="Times New Roman"/>
              <a:ea typeface="Calibri"/>
              <a:cs typeface="Times New Roman"/>
            </a:endParaRPr>
          </a:p>
          <a:p>
            <a:pPr marL="171450" indent="-171450">
              <a:buFont typeface="Arial"/>
              <a:buChar char="•"/>
            </a:pPr>
            <a:r>
              <a:rPr lang="en-US" sz="1400" err="1">
                <a:latin typeface="Times New Roman"/>
                <a:ea typeface="Calibri"/>
                <a:cs typeface="Times New Roman"/>
              </a:rPr>
              <a:t>Өөрөө</a:t>
            </a:r>
            <a:r>
              <a:rPr lang="en-US" sz="1400"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latin typeface="Times New Roman"/>
                <a:ea typeface="Calibri"/>
                <a:cs typeface="Times New Roman"/>
              </a:rPr>
              <a:t>объект</a:t>
            </a:r>
            <a:r>
              <a:rPr lang="en-US" sz="1400">
                <a:latin typeface="Times New Roman"/>
                <a:ea typeface="Calibri"/>
                <a:cs typeface="Times New Roman"/>
              </a:rPr>
              <a:t> </a:t>
            </a:r>
            <a:r>
              <a:rPr lang="en-US" sz="1400" err="1">
                <a:latin typeface="Times New Roman"/>
                <a:ea typeface="Calibri"/>
                <a:cs typeface="Times New Roman"/>
              </a:rPr>
              <a:t>үүсгэх</a:t>
            </a:r>
            <a:r>
              <a:rPr lang="en-US" sz="1400"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latin typeface="Times New Roman"/>
                <a:ea typeface="Calibri"/>
                <a:cs typeface="Times New Roman"/>
              </a:rPr>
              <a:t>боломжгүй</a:t>
            </a:r>
            <a:endParaRPr lang="en-US" sz="1400">
              <a:latin typeface="Times New Roman"/>
              <a:ea typeface="Calibri"/>
              <a:cs typeface="Times New Roman"/>
            </a:endParaRPr>
          </a:p>
          <a:p>
            <a:pPr marL="171450" indent="-171450">
              <a:buFont typeface="Arial"/>
              <a:buChar char="•"/>
            </a:pPr>
            <a:r>
              <a:rPr lang="en-US" sz="1400" err="1">
                <a:latin typeface="Times New Roman"/>
                <a:ea typeface="Calibri"/>
                <a:cs typeface="Times New Roman"/>
              </a:rPr>
              <a:t>Тухайн</a:t>
            </a:r>
            <a:r>
              <a:rPr lang="en-US" sz="1400"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latin typeface="Times New Roman"/>
                <a:ea typeface="Calibri"/>
                <a:cs typeface="Times New Roman"/>
              </a:rPr>
              <a:t>классыг</a:t>
            </a:r>
            <a:r>
              <a:rPr lang="en-US" sz="1400"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latin typeface="Times New Roman"/>
                <a:ea typeface="Calibri"/>
                <a:cs typeface="Times New Roman"/>
              </a:rPr>
              <a:t>хийсвэр</a:t>
            </a:r>
            <a:r>
              <a:rPr lang="en-US" sz="1400"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latin typeface="Times New Roman"/>
                <a:ea typeface="Calibri"/>
                <a:cs typeface="Times New Roman"/>
              </a:rPr>
              <a:t>класс</a:t>
            </a:r>
            <a:r>
              <a:rPr lang="en-US" sz="1400">
                <a:latin typeface="Times New Roman"/>
                <a:ea typeface="Calibri"/>
                <a:cs typeface="Times New Roman"/>
              </a:rPr>
              <a:t> </a:t>
            </a:r>
            <a:r>
              <a:rPr lang="en-US" sz="1400" err="1">
                <a:latin typeface="Times New Roman"/>
                <a:ea typeface="Calibri"/>
                <a:cs typeface="Times New Roman"/>
              </a:rPr>
              <a:t>болгодог</a:t>
            </a:r>
            <a:endParaRPr lang="en-US" sz="1400">
              <a:latin typeface="Times New Roman"/>
              <a:ea typeface="Calibri"/>
              <a:cs typeface="Times New Roman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30795" y="2557417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FF0000"/>
                </a:solidFill>
                <a:latin typeface="Times New Roman"/>
                <a:ea typeface="Consolas" pitchFamily="34" charset="-122"/>
                <a:cs typeface="Times New Roman"/>
              </a:rPr>
              <a:t>class Animal {  virtual void sound() = 0; };</a:t>
            </a:r>
            <a:r>
              <a:rPr lang="en-US" sz="1200">
                <a:solidFill>
                  <a:srgbClr val="67E8F9"/>
                </a:solidFill>
                <a:latin typeface="Times New Roman"/>
                <a:ea typeface="Consolas" pitchFamily="34" charset="-122"/>
                <a:cs typeface="Times New Roman"/>
              </a:rPr>
              <a:t> </a:t>
            </a:r>
            <a:r>
              <a:rPr lang="en-US" sz="1200">
                <a:solidFill>
                  <a:schemeClr val="accent1"/>
                </a:solidFill>
                <a:latin typeface="Times New Roman"/>
                <a:ea typeface="Consolas" pitchFamily="34" charset="-122"/>
                <a:cs typeface="Times New Roman"/>
              </a:rPr>
              <a:t> // </a:t>
            </a:r>
            <a:r>
              <a:rPr lang="en-US" sz="1200" err="1">
                <a:solidFill>
                  <a:schemeClr val="accent1"/>
                </a:solidFill>
                <a:latin typeface="Times New Roman"/>
                <a:ea typeface="Consolas" pitchFamily="34" charset="-122"/>
                <a:cs typeface="Times New Roman"/>
              </a:rPr>
              <a:t>хийсвэр</a:t>
            </a:r>
            <a:r>
              <a:rPr lang="en-US" sz="1200">
                <a:solidFill>
                  <a:schemeClr val="accent1"/>
                </a:solidFill>
                <a:latin typeface="Times New Roman"/>
                <a:ea typeface="Consolas" pitchFamily="34" charset="-122"/>
                <a:cs typeface="Times New Roman"/>
              </a:rPr>
              <a:t> </a:t>
            </a:r>
            <a:r>
              <a:rPr lang="en-US" sz="1200" err="1">
                <a:solidFill>
                  <a:schemeClr val="accent1"/>
                </a:solidFill>
                <a:latin typeface="Times New Roman"/>
                <a:ea typeface="Consolas" pitchFamily="34" charset="-122"/>
                <a:cs typeface="Times New Roman"/>
              </a:rPr>
              <a:t>класс</a:t>
            </a:r>
            <a:endParaRPr lang="en-US" sz="1200">
              <a:solidFill>
                <a:schemeClr val="accent1"/>
              </a:solidFill>
              <a:latin typeface="Times New Roman"/>
              <a:ea typeface="Calibri"/>
              <a:cs typeface="Times New Roman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730795" y="283188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latin typeface="Times New Roman"/>
                <a:ea typeface="Consolas" pitchFamily="34" charset="-122"/>
                <a:cs typeface="Times New Roman"/>
              </a:rPr>
              <a:t>class Dog : public Animal {</a:t>
            </a:r>
            <a:endParaRPr lang="en-US" sz="1200">
              <a:latin typeface="Times New Roman"/>
              <a:ea typeface="Calibri"/>
              <a:cs typeface="Times New Roman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739866" y="3106347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>
                <a:solidFill>
                  <a:srgbClr val="10B981"/>
                </a:solidFill>
                <a:latin typeface="Times New Roman"/>
                <a:ea typeface="Consolas" pitchFamily="34" charset="-122"/>
                <a:cs typeface="Times New Roman"/>
              </a:rPr>
              <a:t>  void sound() override { </a:t>
            </a:r>
            <a:r>
              <a:rPr lang="en-US" sz="1200" err="1">
                <a:solidFill>
                  <a:srgbClr val="10B981"/>
                </a:solidFill>
                <a:latin typeface="Times New Roman"/>
                <a:ea typeface="Consolas" pitchFamily="34" charset="-122"/>
                <a:cs typeface="Times New Roman"/>
              </a:rPr>
              <a:t>cout</a:t>
            </a:r>
            <a:r>
              <a:rPr lang="en-US" sz="1200">
                <a:solidFill>
                  <a:srgbClr val="10B981"/>
                </a:solidFill>
                <a:latin typeface="Times New Roman"/>
                <a:ea typeface="Consolas" pitchFamily="34" charset="-122"/>
                <a:cs typeface="Times New Roman"/>
              </a:rPr>
              <a:t> &lt;&lt; "Hov </a:t>
            </a:r>
            <a:r>
              <a:rPr lang="en-US" sz="1200" err="1">
                <a:solidFill>
                  <a:srgbClr val="10B981"/>
                </a:solidFill>
                <a:latin typeface="Times New Roman"/>
                <a:ea typeface="Consolas" pitchFamily="34" charset="-122"/>
                <a:cs typeface="Times New Roman"/>
              </a:rPr>
              <a:t>Hov</a:t>
            </a:r>
            <a:r>
              <a:rPr lang="en-US" sz="1200">
                <a:solidFill>
                  <a:srgbClr val="10B981"/>
                </a:solidFill>
                <a:latin typeface="Times New Roman"/>
                <a:ea typeface="Consolas" pitchFamily="34" charset="-122"/>
                <a:cs typeface="Times New Roman"/>
              </a:rPr>
              <a:t>!"; }  </a:t>
            </a:r>
            <a:r>
              <a:rPr lang="en-US" sz="1200">
                <a:solidFill>
                  <a:schemeClr val="accent1"/>
                </a:solidFill>
                <a:latin typeface="Times New Roman"/>
                <a:ea typeface="Consolas" pitchFamily="34" charset="-122"/>
                <a:cs typeface="Times New Roman"/>
              </a:rPr>
              <a:t>// override</a:t>
            </a:r>
            <a:endParaRPr lang="en-US" sz="1200">
              <a:solidFill>
                <a:schemeClr val="accent1"/>
              </a:solidFill>
              <a:latin typeface="Times New Roman"/>
              <a:cs typeface="Times New Roman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685438" y="4614527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latin typeface="Times New Roman"/>
                <a:ea typeface="Consolas" pitchFamily="34" charset="-122"/>
                <a:cs typeface="Times New Roman"/>
              </a:rPr>
              <a:t>}; </a:t>
            </a:r>
            <a:r>
              <a:rPr lang="en-US" sz="1200">
                <a:solidFill>
                  <a:srgbClr val="0070C0"/>
                </a:solidFill>
                <a:latin typeface="Times New Roman"/>
                <a:ea typeface="Consolas" pitchFamily="34" charset="-122"/>
                <a:cs typeface="Times New Roman"/>
              </a:rPr>
              <a:t> // Dog, Cat, Lion — </a:t>
            </a:r>
            <a:r>
              <a:rPr lang="en-US" sz="1200" err="1">
                <a:solidFill>
                  <a:srgbClr val="0070C0"/>
                </a:solidFill>
                <a:latin typeface="Times New Roman"/>
                <a:ea typeface="Consolas" pitchFamily="34" charset="-122"/>
                <a:cs typeface="Times New Roman"/>
              </a:rPr>
              <a:t>бүгд</a:t>
            </a:r>
            <a:r>
              <a:rPr lang="en-US" sz="1200">
                <a:solidFill>
                  <a:srgbClr val="0070C0"/>
                </a:solidFill>
                <a:latin typeface="Times New Roman"/>
                <a:ea typeface="Consolas" pitchFamily="34" charset="-122"/>
                <a:cs typeface="Times New Roman"/>
              </a:rPr>
              <a:t> Animal-</a:t>
            </a:r>
            <a:r>
              <a:rPr lang="en-US" sz="1200" err="1">
                <a:solidFill>
                  <a:srgbClr val="0070C0"/>
                </a:solidFill>
                <a:latin typeface="Times New Roman"/>
                <a:ea typeface="Consolas" pitchFamily="34" charset="-122"/>
                <a:cs typeface="Times New Roman"/>
              </a:rPr>
              <a:t>аас</a:t>
            </a:r>
            <a:r>
              <a:rPr lang="en-US" sz="1200">
                <a:solidFill>
                  <a:srgbClr val="0070C0"/>
                </a:solidFill>
                <a:latin typeface="Times New Roman"/>
                <a:ea typeface="Consolas" pitchFamily="34" charset="-122"/>
                <a:cs typeface="Times New Roman"/>
              </a:rPr>
              <a:t> </a:t>
            </a:r>
            <a:r>
              <a:rPr lang="en-US" sz="1200" err="1">
                <a:solidFill>
                  <a:srgbClr val="0070C0"/>
                </a:solidFill>
                <a:latin typeface="Times New Roman"/>
                <a:ea typeface="Consolas" pitchFamily="34" charset="-122"/>
                <a:cs typeface="Times New Roman"/>
              </a:rPr>
              <a:t>удамшиж</a:t>
            </a:r>
            <a:r>
              <a:rPr lang="en-US" sz="1200">
                <a:solidFill>
                  <a:srgbClr val="0070C0"/>
                </a:solidFill>
                <a:latin typeface="Times New Roman"/>
                <a:ea typeface="Consolas" pitchFamily="34" charset="-122"/>
                <a:cs typeface="Times New Roman"/>
              </a:rPr>
              <a:t> sound()-</a:t>
            </a:r>
            <a:r>
              <a:rPr lang="en-US" sz="1200" err="1">
                <a:solidFill>
                  <a:srgbClr val="0070C0"/>
                </a:solidFill>
                <a:latin typeface="Times New Roman"/>
                <a:ea typeface="Consolas" pitchFamily="34" charset="-122"/>
                <a:cs typeface="Times New Roman"/>
              </a:rPr>
              <a:t>ийг</a:t>
            </a:r>
            <a:r>
              <a:rPr lang="en-US" sz="1200">
                <a:solidFill>
                  <a:srgbClr val="0070C0"/>
                </a:solidFill>
                <a:latin typeface="Times New Roman"/>
                <a:ea typeface="Consolas" pitchFamily="34" charset="-122"/>
                <a:cs typeface="Times New Roman"/>
              </a:rPr>
              <a:t> </a:t>
            </a:r>
            <a:r>
              <a:rPr lang="en-US" sz="1200" err="1">
                <a:solidFill>
                  <a:srgbClr val="0070C0"/>
                </a:solidFill>
                <a:latin typeface="Times New Roman"/>
                <a:ea typeface="Consolas" pitchFamily="34" charset="-122"/>
                <a:cs typeface="Times New Roman"/>
              </a:rPr>
              <a:t>тодорхойлно</a:t>
            </a:r>
            <a:endParaRPr lang="en-US" sz="1200">
              <a:solidFill>
                <a:srgbClr val="0070C0"/>
              </a:solidFill>
              <a:latin typeface="Times New Roman"/>
              <a:ea typeface="Calibri"/>
              <a:cs typeface="Times New Roman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2CDB086-8B85-BCB4-9C09-2DD201B4A985}"/>
              </a:ext>
            </a:extLst>
          </p:cNvPr>
          <p:cNvSpPr txBox="1"/>
          <p:nvPr/>
        </p:nvSpPr>
        <p:spPr>
          <a:xfrm>
            <a:off x="698500" y="802821"/>
            <a:ext cx="4572000" cy="95410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err="1">
                <a:latin typeface="Times New Roman"/>
                <a:cs typeface="Times New Roman"/>
              </a:rPr>
              <a:t>Жинхэнэ</a:t>
            </a:r>
            <a:r>
              <a:rPr lang="en-US" sz="1400">
                <a:latin typeface="Times New Roman"/>
                <a:cs typeface="Times New Roman"/>
              </a:rPr>
              <a:t> </a:t>
            </a:r>
            <a:r>
              <a:rPr lang="en-US" sz="1400" err="1">
                <a:latin typeface="Times New Roman"/>
                <a:cs typeface="Times New Roman"/>
              </a:rPr>
              <a:t>хийсвэр</a:t>
            </a:r>
            <a:r>
              <a:rPr lang="en-US" sz="1400">
                <a:latin typeface="Times New Roman"/>
                <a:cs typeface="Times New Roman"/>
              </a:rPr>
              <a:t> </a:t>
            </a:r>
            <a:r>
              <a:rPr lang="en-US" sz="1400" err="1">
                <a:latin typeface="Times New Roman"/>
                <a:cs typeface="Times New Roman"/>
              </a:rPr>
              <a:t>функцийг</a:t>
            </a:r>
            <a:r>
              <a:rPr lang="en-US" sz="1400">
                <a:latin typeface="Times New Roman"/>
                <a:cs typeface="Times New Roman"/>
              </a:rPr>
              <a:t> </a:t>
            </a:r>
            <a:r>
              <a:rPr lang="en-US" sz="1400" err="1">
                <a:latin typeface="Times New Roman"/>
                <a:cs typeface="Times New Roman"/>
              </a:rPr>
              <a:t>ашигласнаар</a:t>
            </a:r>
            <a:r>
              <a:rPr lang="en-US" sz="1400">
                <a:latin typeface="Times New Roman"/>
                <a:cs typeface="Times New Roman"/>
              </a:rPr>
              <a:t> </a:t>
            </a:r>
            <a:r>
              <a:rPr lang="en-US" sz="1400" err="1">
                <a:latin typeface="Times New Roman"/>
                <a:cs typeface="Times New Roman"/>
              </a:rPr>
              <a:t>программыг</a:t>
            </a:r>
            <a:r>
              <a:rPr lang="en-US" sz="1400">
                <a:latin typeface="Times New Roman"/>
                <a:cs typeface="Times New Roman"/>
              </a:rPr>
              <a:t> </a:t>
            </a:r>
            <a:r>
              <a:rPr lang="en-US" sz="1400" err="1">
                <a:latin typeface="Times New Roman"/>
                <a:cs typeface="Times New Roman"/>
              </a:rPr>
              <a:t>илүү</a:t>
            </a:r>
            <a:r>
              <a:rPr lang="en-US" sz="1400">
                <a:latin typeface="Times New Roman"/>
                <a:cs typeface="Times New Roman"/>
              </a:rPr>
              <a:t> </a:t>
            </a:r>
            <a:r>
              <a:rPr lang="en-US" sz="1400" err="1">
                <a:latin typeface="Times New Roman"/>
                <a:cs typeface="Times New Roman"/>
              </a:rPr>
              <a:t>уян</a:t>
            </a:r>
            <a:r>
              <a:rPr lang="en-US" sz="1400">
                <a:latin typeface="Times New Roman"/>
                <a:cs typeface="Times New Roman"/>
              </a:rPr>
              <a:t> </a:t>
            </a:r>
            <a:r>
              <a:rPr lang="en-US" sz="1400" err="1">
                <a:latin typeface="Times New Roman"/>
                <a:cs typeface="Times New Roman"/>
              </a:rPr>
              <a:t>хатан</a:t>
            </a:r>
            <a:r>
              <a:rPr lang="en-US" sz="1400">
                <a:latin typeface="Times New Roman"/>
                <a:cs typeface="Times New Roman"/>
              </a:rPr>
              <a:t> </a:t>
            </a:r>
            <a:r>
              <a:rPr lang="en-US" sz="1400" err="1">
                <a:latin typeface="Times New Roman"/>
                <a:cs typeface="Times New Roman"/>
              </a:rPr>
              <a:t>болгож</a:t>
            </a:r>
            <a:r>
              <a:rPr lang="en-US" sz="1400">
                <a:latin typeface="Times New Roman"/>
                <a:cs typeface="Times New Roman"/>
              </a:rPr>
              <a:t>, </a:t>
            </a:r>
            <a:r>
              <a:rPr lang="en-US" sz="1400" err="1">
                <a:latin typeface="Times New Roman"/>
                <a:cs typeface="Times New Roman"/>
              </a:rPr>
              <a:t>кодыг</a:t>
            </a:r>
            <a:r>
              <a:rPr lang="en-US" sz="1400">
                <a:latin typeface="Times New Roman"/>
                <a:cs typeface="Times New Roman"/>
              </a:rPr>
              <a:t> </a:t>
            </a:r>
            <a:r>
              <a:rPr lang="en-US" sz="1400" err="1">
                <a:latin typeface="Times New Roman"/>
                <a:cs typeface="Times New Roman"/>
              </a:rPr>
              <a:t>давтан</a:t>
            </a:r>
            <a:r>
              <a:rPr lang="en-US" sz="1400">
                <a:latin typeface="Times New Roman"/>
                <a:cs typeface="Times New Roman"/>
              </a:rPr>
              <a:t> </a:t>
            </a:r>
            <a:r>
              <a:rPr lang="en-US" sz="1400" err="1">
                <a:latin typeface="Times New Roman"/>
                <a:cs typeface="Times New Roman"/>
              </a:rPr>
              <a:t>бичихээс</a:t>
            </a:r>
            <a:r>
              <a:rPr lang="en-US" sz="1400">
                <a:latin typeface="Times New Roman"/>
                <a:cs typeface="Times New Roman"/>
              </a:rPr>
              <a:t> </a:t>
            </a:r>
            <a:r>
              <a:rPr lang="en-US" sz="1400" err="1">
                <a:latin typeface="Times New Roman"/>
                <a:cs typeface="Times New Roman"/>
              </a:rPr>
              <a:t>сэргийлнэ</a:t>
            </a:r>
            <a:r>
              <a:rPr lang="en-US" sz="1400">
                <a:latin typeface="Times New Roman"/>
                <a:cs typeface="Times New Roman"/>
              </a:rPr>
              <a:t>. </a:t>
            </a:r>
            <a:r>
              <a:rPr lang="en-US" sz="1400" err="1">
                <a:latin typeface="Times New Roman"/>
                <a:cs typeface="Times New Roman"/>
              </a:rPr>
              <a:t>Мөн</a:t>
            </a:r>
            <a:r>
              <a:rPr lang="en-US" sz="1400">
                <a:latin typeface="Times New Roman"/>
                <a:cs typeface="Times New Roman"/>
              </a:rPr>
              <a:t> </a:t>
            </a:r>
            <a:r>
              <a:rPr lang="en-US" sz="1400" err="1">
                <a:latin typeface="Times New Roman"/>
                <a:cs typeface="Times New Roman"/>
              </a:rPr>
              <a:t>программыг</a:t>
            </a:r>
            <a:r>
              <a:rPr lang="en-US" sz="1400">
                <a:latin typeface="Times New Roman"/>
                <a:cs typeface="Times New Roman"/>
              </a:rPr>
              <a:t> </a:t>
            </a:r>
            <a:r>
              <a:rPr lang="en-US" sz="1400" err="1">
                <a:latin typeface="Times New Roman"/>
                <a:cs typeface="Times New Roman"/>
              </a:rPr>
              <a:t>өргөтгөхөд</a:t>
            </a:r>
            <a:r>
              <a:rPr lang="en-US" sz="1400">
                <a:latin typeface="Times New Roman"/>
                <a:cs typeface="Times New Roman"/>
              </a:rPr>
              <a:t> </a:t>
            </a:r>
            <a:r>
              <a:rPr lang="en-US" sz="1400" err="1">
                <a:latin typeface="Times New Roman"/>
                <a:cs typeface="Times New Roman"/>
              </a:rPr>
              <a:t>илүү</a:t>
            </a:r>
            <a:r>
              <a:rPr lang="en-US" sz="1400">
                <a:latin typeface="Times New Roman"/>
                <a:cs typeface="Times New Roman"/>
              </a:rPr>
              <a:t> </a:t>
            </a:r>
            <a:r>
              <a:rPr lang="en-US" sz="1400" err="1">
                <a:latin typeface="Times New Roman"/>
                <a:cs typeface="Times New Roman"/>
              </a:rPr>
              <a:t>хялбар</a:t>
            </a:r>
            <a:r>
              <a:rPr lang="en-US" sz="1400">
                <a:latin typeface="Times New Roman"/>
                <a:cs typeface="Times New Roman"/>
              </a:rPr>
              <a:t> </a:t>
            </a:r>
            <a:r>
              <a:rPr lang="en-US" sz="1400" err="1">
                <a:latin typeface="Times New Roman"/>
                <a:cs typeface="Times New Roman"/>
              </a:rPr>
              <a:t>болно</a:t>
            </a:r>
            <a:r>
              <a:rPr lang="en-US" sz="1400">
                <a:latin typeface="Times New Roman"/>
                <a:cs typeface="Times New Roman"/>
              </a:rPr>
              <a:t>. </a:t>
            </a:r>
            <a:endParaRPr lang="en-US" sz="1400">
              <a:latin typeface="Times New Roman"/>
              <a:ea typeface="Calibri"/>
              <a:cs typeface="Times New Roman"/>
            </a:endParaRPr>
          </a:p>
          <a:p>
            <a:pPr algn="ctr"/>
            <a:endParaRPr lang="en-GB" sz="1400">
              <a:latin typeface="Times New Roman"/>
              <a:ea typeface="Calibri"/>
              <a:cs typeface="Times New Roman"/>
            </a:endParaRPr>
          </a:p>
        </p:txBody>
      </p:sp>
      <p:sp>
        <p:nvSpPr>
          <p:cNvPr id="22" name="Text 14">
            <a:extLst>
              <a:ext uri="{FF2B5EF4-FFF2-40B4-BE49-F238E27FC236}">
                <a16:creationId xmlns:a16="http://schemas.microsoft.com/office/drawing/2014/main" id="{A5BAFCA1-6587-614A-F2B2-09232C85BA4F}"/>
              </a:ext>
            </a:extLst>
          </p:cNvPr>
          <p:cNvSpPr/>
          <p:nvPr/>
        </p:nvSpPr>
        <p:spPr>
          <a:xfrm>
            <a:off x="739866" y="3385239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>
                <a:latin typeface="Times New Roman"/>
                <a:ea typeface="Consolas" pitchFamily="34" charset="-122"/>
                <a:cs typeface="Times New Roman"/>
              </a:rPr>
              <a:t>class Cat : public Animal {</a:t>
            </a:r>
            <a:endParaRPr lang="en-US" sz="1200">
              <a:latin typeface="Times New Roman"/>
              <a:ea typeface="Calibri"/>
              <a:cs typeface="Times New Roman"/>
            </a:endParaRPr>
          </a:p>
        </p:txBody>
      </p:sp>
      <p:sp>
        <p:nvSpPr>
          <p:cNvPr id="23" name="Text 15">
            <a:extLst>
              <a:ext uri="{FF2B5EF4-FFF2-40B4-BE49-F238E27FC236}">
                <a16:creationId xmlns:a16="http://schemas.microsoft.com/office/drawing/2014/main" id="{35AED9C9-8EF3-4309-88AE-A40B8E8B3213}"/>
              </a:ext>
            </a:extLst>
          </p:cNvPr>
          <p:cNvSpPr/>
          <p:nvPr/>
        </p:nvSpPr>
        <p:spPr>
          <a:xfrm>
            <a:off x="730795" y="365970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>
                <a:solidFill>
                  <a:srgbClr val="10B981"/>
                </a:solidFill>
                <a:latin typeface="Times New Roman"/>
                <a:ea typeface="Consolas" pitchFamily="34" charset="-122"/>
                <a:cs typeface="Times New Roman"/>
              </a:rPr>
              <a:t>  void sound() override { </a:t>
            </a:r>
            <a:r>
              <a:rPr lang="en-US" sz="1200" err="1">
                <a:solidFill>
                  <a:srgbClr val="10B981"/>
                </a:solidFill>
                <a:latin typeface="Times New Roman"/>
                <a:ea typeface="Consolas" pitchFamily="34" charset="-122"/>
                <a:cs typeface="Times New Roman"/>
              </a:rPr>
              <a:t>cout</a:t>
            </a:r>
            <a:r>
              <a:rPr lang="en-US" sz="1200">
                <a:solidFill>
                  <a:srgbClr val="10B981"/>
                </a:solidFill>
                <a:latin typeface="Times New Roman"/>
                <a:ea typeface="Consolas" pitchFamily="34" charset="-122"/>
                <a:cs typeface="Times New Roman"/>
              </a:rPr>
              <a:t> &lt;&lt; "Meow!"; }  </a:t>
            </a:r>
            <a:r>
              <a:rPr lang="en-US" sz="1200">
                <a:solidFill>
                  <a:schemeClr val="accent1"/>
                </a:solidFill>
                <a:latin typeface="Times New Roman"/>
                <a:ea typeface="Consolas" pitchFamily="34" charset="-122"/>
                <a:cs typeface="Times New Roman"/>
              </a:rPr>
              <a:t>// override</a:t>
            </a:r>
            <a:endParaRPr lang="en-US" sz="1200">
              <a:solidFill>
                <a:schemeClr val="accent1"/>
              </a:solidFill>
              <a:latin typeface="Times New Roman"/>
              <a:cs typeface="Times New Roman"/>
            </a:endParaRPr>
          </a:p>
        </p:txBody>
      </p:sp>
      <p:sp>
        <p:nvSpPr>
          <p:cNvPr id="26" name="Text 14">
            <a:extLst>
              <a:ext uri="{FF2B5EF4-FFF2-40B4-BE49-F238E27FC236}">
                <a16:creationId xmlns:a16="http://schemas.microsoft.com/office/drawing/2014/main" id="{444A7F6F-F455-4943-B165-9DD0111214B1}"/>
              </a:ext>
            </a:extLst>
          </p:cNvPr>
          <p:cNvSpPr/>
          <p:nvPr/>
        </p:nvSpPr>
        <p:spPr>
          <a:xfrm>
            <a:off x="703580" y="3983953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>
                <a:latin typeface="Times New Roman"/>
                <a:ea typeface="Consolas" pitchFamily="34" charset="-122"/>
                <a:cs typeface="Times New Roman"/>
              </a:rPr>
              <a:t>class Lion : public Animal {</a:t>
            </a:r>
            <a:endParaRPr lang="en-US" sz="1200">
              <a:latin typeface="Times New Roman"/>
              <a:ea typeface="Calibri"/>
              <a:cs typeface="Times New Roman"/>
            </a:endParaRPr>
          </a:p>
        </p:txBody>
      </p:sp>
      <p:sp>
        <p:nvSpPr>
          <p:cNvPr id="27" name="Text 15">
            <a:extLst>
              <a:ext uri="{FF2B5EF4-FFF2-40B4-BE49-F238E27FC236}">
                <a16:creationId xmlns:a16="http://schemas.microsoft.com/office/drawing/2014/main" id="{29FAAFEE-ED34-18FE-CFA8-423383C85ADA}"/>
              </a:ext>
            </a:extLst>
          </p:cNvPr>
          <p:cNvSpPr/>
          <p:nvPr/>
        </p:nvSpPr>
        <p:spPr>
          <a:xfrm>
            <a:off x="694509" y="425841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>
                <a:solidFill>
                  <a:srgbClr val="10B981"/>
                </a:solidFill>
                <a:latin typeface="Times New Roman"/>
                <a:ea typeface="Consolas" pitchFamily="34" charset="-122"/>
                <a:cs typeface="Times New Roman"/>
              </a:rPr>
              <a:t>  void sound() override { </a:t>
            </a:r>
            <a:r>
              <a:rPr lang="en-US" sz="1200" err="1">
                <a:solidFill>
                  <a:srgbClr val="10B981"/>
                </a:solidFill>
                <a:latin typeface="Times New Roman"/>
                <a:ea typeface="Consolas" pitchFamily="34" charset="-122"/>
                <a:cs typeface="Times New Roman"/>
              </a:rPr>
              <a:t>cout</a:t>
            </a:r>
            <a:r>
              <a:rPr lang="en-US" sz="1200">
                <a:solidFill>
                  <a:srgbClr val="10B981"/>
                </a:solidFill>
                <a:latin typeface="Times New Roman"/>
                <a:ea typeface="Consolas" pitchFamily="34" charset="-122"/>
                <a:cs typeface="Times New Roman"/>
              </a:rPr>
              <a:t> &lt;&lt; "Arr </a:t>
            </a:r>
            <a:r>
              <a:rPr lang="en-US" sz="1200" err="1">
                <a:solidFill>
                  <a:srgbClr val="10B981"/>
                </a:solidFill>
                <a:latin typeface="Times New Roman"/>
                <a:ea typeface="Consolas" pitchFamily="34" charset="-122"/>
                <a:cs typeface="Times New Roman"/>
              </a:rPr>
              <a:t>Arr</a:t>
            </a:r>
            <a:r>
              <a:rPr lang="en-US" sz="1200">
                <a:solidFill>
                  <a:srgbClr val="10B981"/>
                </a:solidFill>
                <a:latin typeface="Times New Roman"/>
                <a:ea typeface="Consolas" pitchFamily="34" charset="-122"/>
                <a:cs typeface="Times New Roman"/>
              </a:rPr>
              <a:t> </a:t>
            </a:r>
            <a:r>
              <a:rPr lang="en-US" sz="1200" err="1">
                <a:solidFill>
                  <a:srgbClr val="10B981"/>
                </a:solidFill>
                <a:latin typeface="Times New Roman"/>
                <a:ea typeface="Consolas" pitchFamily="34" charset="-122"/>
                <a:cs typeface="Times New Roman"/>
              </a:rPr>
              <a:t>Arr</a:t>
            </a:r>
            <a:r>
              <a:rPr lang="en-US" sz="1200">
                <a:solidFill>
                  <a:srgbClr val="10B981"/>
                </a:solidFill>
                <a:latin typeface="Times New Roman"/>
                <a:ea typeface="Consolas" pitchFamily="34" charset="-122"/>
                <a:cs typeface="Times New Roman"/>
              </a:rPr>
              <a:t>!"; }  </a:t>
            </a:r>
            <a:r>
              <a:rPr lang="en-US" sz="1200">
                <a:solidFill>
                  <a:schemeClr val="accent1"/>
                </a:solidFill>
                <a:latin typeface="Times New Roman"/>
                <a:ea typeface="Consolas" pitchFamily="34" charset="-122"/>
                <a:cs typeface="Times New Roman"/>
              </a:rPr>
              <a:t>// override</a:t>
            </a:r>
            <a:endParaRPr lang="en-US" sz="1200">
              <a:solidFill>
                <a:schemeClr val="accent1"/>
              </a:solidFill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>
                <a:latin typeface="Times New Roman"/>
                <a:ea typeface="Calibri"/>
                <a:cs typeface="Times New Roman"/>
              </a:rPr>
              <a:t>ХЭРЭГЖҮҮЛЭЛТ  — ӨГӨГДСӨН БОДЛОГУУД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518492A-4745-2543-443F-DDED39C8AF4E}"/>
              </a:ext>
            </a:extLst>
          </p:cNvPr>
          <p:cNvSpPr txBox="1"/>
          <p:nvPr/>
        </p:nvSpPr>
        <p:spPr>
          <a:xfrm>
            <a:off x="1714499" y="1029607"/>
            <a:ext cx="5724071" cy="307776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en-US" b="0" i="0">
              <a:latin typeface="Times New Roman"/>
              <a:ea typeface="Calibri"/>
              <a:cs typeface="Times New Roman"/>
            </a:endParaRPr>
          </a:p>
          <a:p>
            <a:pPr algn="l"/>
            <a:endParaRPr lang="en-US" b="0" i="0">
              <a:latin typeface="Times New Roman"/>
              <a:ea typeface="Calibri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en-US" b="0" i="0">
                <a:latin typeface="Times New Roman"/>
                <a:ea typeface="+mn-lt"/>
                <a:cs typeface="Times New Roman"/>
              </a:rPr>
              <a:t>Shape </a:t>
            </a:r>
            <a:r>
              <a:rPr lang="en-US" err="1">
                <a:latin typeface="Times New Roman"/>
                <a:ea typeface="+mn-lt"/>
                <a:cs typeface="Times New Roman"/>
              </a:rPr>
              <a:t>класс</a:t>
            </a:r>
            <a:r>
              <a:rPr lang="en-US">
                <a:latin typeface="Times New Roman"/>
                <a:ea typeface="+mn-lt"/>
                <a:cs typeface="Times New Roman"/>
              </a:rPr>
              <a:t> </a:t>
            </a:r>
            <a:r>
              <a:rPr lang="en-US" b="0" i="0" err="1">
                <a:latin typeface="Times New Roman"/>
                <a:ea typeface="+mn-lt"/>
                <a:cs typeface="Times New Roman"/>
              </a:rPr>
              <a:t>бүх</a:t>
            </a:r>
            <a:r>
              <a:rPr lang="en-US" b="0" i="0">
                <a:latin typeface="Times New Roman"/>
                <a:ea typeface="+mn-lt"/>
                <a:cs typeface="Times New Roman"/>
              </a:rPr>
              <a:t> </a:t>
            </a:r>
            <a:r>
              <a:rPr lang="en-US" err="1">
                <a:latin typeface="Times New Roman"/>
                <a:ea typeface="+mn-lt"/>
                <a:cs typeface="Times New Roman"/>
              </a:rPr>
              <a:t>объектын</a:t>
            </a:r>
            <a:r>
              <a:rPr lang="en-US">
                <a:latin typeface="Times New Roman"/>
                <a:ea typeface="+mn-lt"/>
                <a:cs typeface="Times New Roman"/>
              </a:rPr>
              <a:t> </a:t>
            </a:r>
            <a:r>
              <a:rPr lang="en-US" err="1">
                <a:latin typeface="Times New Roman"/>
                <a:ea typeface="+mn-lt"/>
                <a:cs typeface="Times New Roman"/>
              </a:rPr>
              <a:t>тоог</a:t>
            </a:r>
            <a:r>
              <a:rPr lang="en-US">
                <a:latin typeface="Times New Roman"/>
                <a:ea typeface="+mn-lt"/>
                <a:cs typeface="Times New Roman"/>
              </a:rPr>
              <a:t> </a:t>
            </a:r>
            <a:r>
              <a:rPr lang="en-US" b="0" i="0" err="1">
                <a:latin typeface="Times New Roman"/>
                <a:ea typeface="+mn-lt"/>
                <a:cs typeface="Times New Roman"/>
              </a:rPr>
              <a:t>статик</a:t>
            </a:r>
            <a:r>
              <a:rPr lang="en-US" b="0" i="0">
                <a:latin typeface="Times New Roman"/>
                <a:ea typeface="+mn-lt"/>
                <a:cs typeface="Times New Roman"/>
              </a:rPr>
              <a:t> </a:t>
            </a:r>
            <a:r>
              <a:rPr lang="en-US" err="1">
                <a:latin typeface="Times New Roman"/>
                <a:ea typeface="+mn-lt"/>
                <a:cs typeface="Times New Roman"/>
              </a:rPr>
              <a:t>хувьсагчаар</a:t>
            </a:r>
            <a:r>
              <a:rPr lang="en-US">
                <a:latin typeface="Times New Roman"/>
                <a:ea typeface="+mn-lt"/>
                <a:cs typeface="Times New Roman"/>
              </a:rPr>
              <a:t> </a:t>
            </a:r>
            <a:r>
              <a:rPr lang="en-US" err="1">
                <a:latin typeface="Times New Roman"/>
                <a:ea typeface="+mn-lt"/>
                <a:cs typeface="Times New Roman"/>
              </a:rPr>
              <a:t>тоолно</a:t>
            </a:r>
            <a:r>
              <a:rPr lang="en-US" b="0" i="0">
                <a:latin typeface="Times New Roman"/>
                <a:ea typeface="+mn-lt"/>
                <a:cs typeface="Times New Roman"/>
              </a:rPr>
              <a:t>.</a:t>
            </a:r>
            <a:r>
              <a:rPr lang="en-US">
                <a:latin typeface="Times New Roman"/>
                <a:ea typeface="+mn-lt"/>
                <a:cs typeface="Times New Roman"/>
              </a:rPr>
              <a:t> </a:t>
            </a:r>
            <a:endParaRPr lang="en-US">
              <a:latin typeface="Times New Roman"/>
              <a:ea typeface="Calibri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en-US">
                <a:latin typeface="Times New Roman"/>
                <a:ea typeface="+mn-lt"/>
                <a:cs typeface="Times New Roman"/>
              </a:rPr>
              <a:t>Static </a:t>
            </a:r>
            <a:r>
              <a:rPr lang="en-US" b="0" i="0" err="1">
                <a:latin typeface="Times New Roman"/>
                <a:ea typeface="+mn-lt"/>
                <a:cs typeface="Times New Roman"/>
              </a:rPr>
              <a:t>хувьсагчид</a:t>
            </a:r>
            <a:r>
              <a:rPr lang="en-US" b="0" i="0">
                <a:latin typeface="Times New Roman"/>
                <a:ea typeface="+mn-lt"/>
                <a:cs typeface="Times New Roman"/>
              </a:rPr>
              <a:t> </a:t>
            </a:r>
            <a:r>
              <a:rPr lang="en-US" b="0" i="0" err="1">
                <a:latin typeface="Times New Roman"/>
                <a:ea typeface="+mn-lt"/>
                <a:cs typeface="Times New Roman"/>
              </a:rPr>
              <a:t>утга</a:t>
            </a:r>
            <a:r>
              <a:rPr lang="en-US" b="0" i="0">
                <a:latin typeface="Times New Roman"/>
                <a:ea typeface="+mn-lt"/>
                <a:cs typeface="Times New Roman"/>
              </a:rPr>
              <a:t> </a:t>
            </a:r>
            <a:r>
              <a:rPr lang="en-US" b="0" i="0" err="1">
                <a:latin typeface="Times New Roman"/>
                <a:ea typeface="+mn-lt"/>
                <a:cs typeface="Times New Roman"/>
              </a:rPr>
              <a:t>оноох</a:t>
            </a:r>
            <a:r>
              <a:rPr lang="en-US" b="0" i="0">
                <a:latin typeface="Times New Roman"/>
                <a:ea typeface="+mn-lt"/>
                <a:cs typeface="Times New Roman"/>
              </a:rPr>
              <a:t>, </a:t>
            </a:r>
            <a:r>
              <a:rPr lang="en-US" b="0" i="0" err="1">
                <a:latin typeface="Times New Roman"/>
                <a:ea typeface="+mn-lt"/>
                <a:cs typeface="Times New Roman"/>
              </a:rPr>
              <a:t>авах</a:t>
            </a:r>
            <a:r>
              <a:rPr lang="en-US" b="0" i="0">
                <a:latin typeface="Times New Roman"/>
                <a:ea typeface="+mn-lt"/>
                <a:cs typeface="Times New Roman"/>
              </a:rPr>
              <a:t> </a:t>
            </a:r>
            <a:r>
              <a:rPr lang="en-US" b="0" i="0" err="1">
                <a:latin typeface="Times New Roman"/>
                <a:ea typeface="+mn-lt"/>
                <a:cs typeface="Times New Roman"/>
              </a:rPr>
              <a:t>функц</a:t>
            </a:r>
            <a:r>
              <a:rPr lang="en-US" b="0" i="0">
                <a:latin typeface="Times New Roman"/>
                <a:ea typeface="+mn-lt"/>
                <a:cs typeface="Times New Roman"/>
              </a:rPr>
              <a:t> </a:t>
            </a:r>
            <a:r>
              <a:rPr lang="en-US" err="1">
                <a:latin typeface="Times New Roman"/>
                <a:ea typeface="+mn-lt"/>
                <a:cs typeface="Times New Roman"/>
              </a:rPr>
              <a:t>бичнэ</a:t>
            </a:r>
            <a:r>
              <a:rPr lang="en-US" b="0" i="0">
                <a:latin typeface="Times New Roman"/>
                <a:ea typeface="+mn-lt"/>
                <a:cs typeface="Times New Roman"/>
              </a:rPr>
              <a:t>.</a:t>
            </a:r>
            <a:r>
              <a:rPr lang="en-US">
                <a:latin typeface="Times New Roman"/>
                <a:ea typeface="+mn-lt"/>
                <a:cs typeface="Times New Roman"/>
              </a:rPr>
              <a:t> </a:t>
            </a:r>
            <a:endParaRPr lang="en-US">
              <a:latin typeface="Times New Roman"/>
              <a:ea typeface="Calibri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en-US" err="1">
                <a:latin typeface="Times New Roman"/>
                <a:ea typeface="+mn-lt"/>
                <a:cs typeface="Times New Roman"/>
              </a:rPr>
              <a:t>Гишүүдэд</a:t>
            </a:r>
            <a:r>
              <a:rPr lang="en-US">
                <a:latin typeface="Times New Roman"/>
                <a:ea typeface="+mn-lt"/>
                <a:cs typeface="Times New Roman"/>
              </a:rPr>
              <a:t> </a:t>
            </a:r>
            <a:r>
              <a:rPr lang="en-US" b="0" i="0" err="1">
                <a:latin typeface="Times New Roman"/>
                <a:ea typeface="+mn-lt"/>
                <a:cs typeface="Times New Roman"/>
              </a:rPr>
              <a:t>хандахдаа</a:t>
            </a:r>
            <a:r>
              <a:rPr lang="en-US" b="0" i="0">
                <a:latin typeface="Times New Roman"/>
                <a:ea typeface="+mn-lt"/>
                <a:cs typeface="Times New Roman"/>
              </a:rPr>
              <a:t> this </a:t>
            </a:r>
            <a:r>
              <a:rPr lang="en-US" err="1">
                <a:latin typeface="Times New Roman"/>
                <a:ea typeface="+mn-lt"/>
                <a:cs typeface="Times New Roman"/>
              </a:rPr>
              <a:t>ашиглана</a:t>
            </a:r>
            <a:r>
              <a:rPr lang="en-US" b="0" i="0">
                <a:latin typeface="Times New Roman"/>
                <a:ea typeface="+mn-lt"/>
                <a:cs typeface="Times New Roman"/>
              </a:rPr>
              <a:t>.</a:t>
            </a:r>
            <a:r>
              <a:rPr lang="en-US">
                <a:latin typeface="Times New Roman"/>
                <a:ea typeface="+mn-lt"/>
                <a:cs typeface="Times New Roman"/>
              </a:rPr>
              <a:t> </a:t>
            </a:r>
            <a:endParaRPr lang="en-US">
              <a:latin typeface="Times New Roman"/>
              <a:ea typeface="Calibri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en-US" err="1">
                <a:latin typeface="Times New Roman"/>
                <a:ea typeface="+mn-lt"/>
                <a:cs typeface="Times New Roman"/>
              </a:rPr>
              <a:t>Дүрс</a:t>
            </a:r>
            <a:r>
              <a:rPr lang="en-US">
                <a:latin typeface="Times New Roman"/>
                <a:ea typeface="+mn-lt"/>
                <a:cs typeface="Times New Roman"/>
              </a:rPr>
              <a:t> </a:t>
            </a:r>
            <a:r>
              <a:rPr lang="en-US" b="0" i="0" err="1">
                <a:latin typeface="Times New Roman"/>
                <a:ea typeface="+mn-lt"/>
                <a:cs typeface="Times New Roman"/>
              </a:rPr>
              <a:t>классд</a:t>
            </a:r>
            <a:r>
              <a:rPr lang="en-US" b="0" i="0">
                <a:latin typeface="Times New Roman"/>
                <a:ea typeface="+mn-lt"/>
                <a:cs typeface="Times New Roman"/>
              </a:rPr>
              <a:t> </a:t>
            </a:r>
            <a:r>
              <a:rPr lang="en-US" b="0" i="0" err="1">
                <a:latin typeface="Times New Roman"/>
                <a:ea typeface="+mn-lt"/>
                <a:cs typeface="Times New Roman"/>
              </a:rPr>
              <a:t>талбай</a:t>
            </a:r>
            <a:r>
              <a:rPr lang="en-US">
                <a:latin typeface="Times New Roman"/>
                <a:ea typeface="+mn-lt"/>
                <a:cs typeface="Times New Roman"/>
              </a:rPr>
              <a:t>, </a:t>
            </a:r>
            <a:r>
              <a:rPr lang="en-US" err="1">
                <a:latin typeface="Times New Roman"/>
                <a:ea typeface="+mn-lt"/>
                <a:cs typeface="Times New Roman"/>
              </a:rPr>
              <a:t>периметрийг</a:t>
            </a:r>
            <a:r>
              <a:rPr lang="en-US">
                <a:latin typeface="Times New Roman"/>
                <a:ea typeface="+mn-lt"/>
                <a:cs typeface="Times New Roman"/>
              </a:rPr>
              <a:t> </a:t>
            </a:r>
            <a:r>
              <a:rPr lang="en-US" err="1">
                <a:latin typeface="Times New Roman"/>
                <a:ea typeface="+mn-lt"/>
                <a:cs typeface="Times New Roman"/>
              </a:rPr>
              <a:t>хийсвэр</a:t>
            </a:r>
            <a:r>
              <a:rPr lang="en-US">
                <a:latin typeface="Times New Roman"/>
                <a:ea typeface="+mn-lt"/>
                <a:cs typeface="Times New Roman"/>
              </a:rPr>
              <a:t> </a:t>
            </a:r>
            <a:r>
              <a:rPr lang="en-US" err="1">
                <a:latin typeface="Times New Roman"/>
                <a:ea typeface="+mn-lt"/>
                <a:cs typeface="Times New Roman"/>
              </a:rPr>
              <a:t>функцээр</a:t>
            </a:r>
            <a:r>
              <a:rPr lang="en-US">
                <a:latin typeface="Times New Roman"/>
                <a:ea typeface="+mn-lt"/>
                <a:cs typeface="Times New Roman"/>
              </a:rPr>
              <a:t> </a:t>
            </a:r>
            <a:r>
              <a:rPr lang="en-US" err="1">
                <a:latin typeface="Times New Roman"/>
                <a:ea typeface="+mn-lt"/>
                <a:cs typeface="Times New Roman"/>
              </a:rPr>
              <a:t>зарлана</a:t>
            </a:r>
            <a:r>
              <a:rPr lang="en-US" b="0" i="0">
                <a:latin typeface="Times New Roman"/>
                <a:ea typeface="+mn-lt"/>
                <a:cs typeface="Times New Roman"/>
              </a:rPr>
              <a:t>.</a:t>
            </a:r>
            <a:r>
              <a:rPr lang="en-US">
                <a:latin typeface="Times New Roman"/>
                <a:ea typeface="+mn-lt"/>
                <a:cs typeface="Times New Roman"/>
              </a:rPr>
              <a:t> </a:t>
            </a:r>
            <a:endParaRPr lang="en-US">
              <a:latin typeface="Times New Roman"/>
              <a:ea typeface="Calibri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en-US" err="1">
                <a:latin typeface="Times New Roman"/>
                <a:ea typeface="+mn-lt"/>
                <a:cs typeface="Times New Roman"/>
              </a:rPr>
              <a:t>Дүрсүүдийг</a:t>
            </a:r>
            <a:r>
              <a:rPr lang="en-US">
                <a:latin typeface="Times New Roman"/>
                <a:ea typeface="+mn-lt"/>
                <a:cs typeface="Times New Roman"/>
              </a:rPr>
              <a:t> </a:t>
            </a:r>
            <a:r>
              <a:rPr lang="en-US" b="0" i="0" err="1">
                <a:latin typeface="Times New Roman"/>
                <a:ea typeface="+mn-lt"/>
                <a:cs typeface="Times New Roman"/>
              </a:rPr>
              <a:t>талбай</a:t>
            </a:r>
            <a:r>
              <a:rPr lang="en-US">
                <a:latin typeface="Times New Roman"/>
                <a:ea typeface="+mn-lt"/>
                <a:cs typeface="Times New Roman"/>
              </a:rPr>
              <a:t>, </a:t>
            </a:r>
            <a:r>
              <a:rPr lang="en-US" err="1">
                <a:latin typeface="Times New Roman"/>
                <a:ea typeface="+mn-lt"/>
                <a:cs typeface="Times New Roman"/>
              </a:rPr>
              <a:t>периметрээр</a:t>
            </a:r>
            <a:r>
              <a:rPr lang="en-US" b="0" i="0">
                <a:latin typeface="Times New Roman"/>
                <a:ea typeface="+mn-lt"/>
                <a:cs typeface="Times New Roman"/>
              </a:rPr>
              <a:t> </a:t>
            </a:r>
            <a:r>
              <a:rPr lang="en-US" b="0" i="0" err="1">
                <a:latin typeface="Times New Roman"/>
                <a:ea typeface="+mn-lt"/>
                <a:cs typeface="Times New Roman"/>
              </a:rPr>
              <a:t>нь</a:t>
            </a:r>
            <a:r>
              <a:rPr lang="en-US" b="0" i="0">
                <a:latin typeface="Times New Roman"/>
                <a:ea typeface="+mn-lt"/>
                <a:cs typeface="Times New Roman"/>
              </a:rPr>
              <a:t> </a:t>
            </a:r>
            <a:r>
              <a:rPr lang="en-US" b="0" i="0" err="1">
                <a:latin typeface="Times New Roman"/>
                <a:ea typeface="+mn-lt"/>
                <a:cs typeface="Times New Roman"/>
              </a:rPr>
              <a:t>эрэмбэлнэ</a:t>
            </a:r>
            <a:r>
              <a:rPr lang="en-US" b="0" i="0">
                <a:latin typeface="Times New Roman"/>
                <a:ea typeface="+mn-lt"/>
                <a:cs typeface="Times New Roman"/>
              </a:rPr>
              <a:t>.</a:t>
            </a:r>
            <a:endParaRPr lang="en-US">
              <a:latin typeface="Times New Roman"/>
              <a:ea typeface="+mn-lt"/>
              <a:cs typeface="Times New Roman"/>
            </a:endParaRPr>
          </a:p>
          <a:p>
            <a:pPr algn="l"/>
            <a:endParaRPr lang="en-US" sz="1600" b="0" i="0">
              <a:latin typeface="Times New Roman"/>
              <a:ea typeface="-apple-system"/>
              <a:cs typeface="Times New Roman"/>
            </a:endParaRPr>
          </a:p>
          <a:p>
            <a:pPr algn="ctr"/>
            <a:endParaRPr lang="en-GB" sz="1600">
              <a:latin typeface="Times New Roman"/>
              <a:ea typeface="Calibri"/>
              <a:cs typeface="Times New Roman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969477" y="-175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>
                <a:latin typeface="Times New Roman"/>
                <a:ea typeface="Calibri"/>
                <a:cs typeface="Times New Roman"/>
              </a:rPr>
              <a:t>ХЭРЭГЖҮҮЛЭЛТ  —  </a:t>
            </a:r>
            <a:r>
              <a:rPr lang="en-US" sz="2000" b="1" err="1">
                <a:latin typeface="Times New Roman"/>
                <a:ea typeface="Calibri"/>
                <a:cs typeface="Times New Roman"/>
              </a:rPr>
              <a:t>Үндсэн</a:t>
            </a:r>
            <a:r>
              <a:rPr lang="en-US" sz="2000" b="1">
                <a:latin typeface="Times New Roman"/>
                <a:ea typeface="Calibri"/>
                <a:cs typeface="Times New Roman"/>
              </a:rPr>
              <a:t> </a:t>
            </a:r>
            <a:r>
              <a:rPr lang="en-US" sz="2000" b="1" err="1">
                <a:latin typeface="Times New Roman"/>
                <a:ea typeface="Calibri"/>
                <a:cs typeface="Times New Roman"/>
              </a:rPr>
              <a:t>Кодын</a:t>
            </a:r>
            <a:r>
              <a:rPr lang="en-US" sz="2000" b="1">
                <a:latin typeface="Times New Roman"/>
                <a:ea typeface="Calibri"/>
                <a:cs typeface="Times New Roman"/>
              </a:rPr>
              <a:t> </a:t>
            </a:r>
            <a:r>
              <a:rPr lang="en-US" sz="2000" b="1" err="1">
                <a:latin typeface="Times New Roman"/>
                <a:ea typeface="Calibri"/>
                <a:cs typeface="Times New Roman"/>
              </a:rPr>
              <a:t>Тайлбар</a:t>
            </a:r>
            <a:r>
              <a:rPr lang="en-US" sz="2000" b="1">
                <a:latin typeface="Times New Roman"/>
                <a:ea typeface="Calibri"/>
                <a:cs typeface="Times New Roman"/>
              </a:rPr>
              <a:t> 1</a:t>
            </a:r>
            <a:endParaRPr lang="en-US" sz="2000" err="1">
              <a:latin typeface="Times New Roman"/>
              <a:ea typeface="Calibri"/>
              <a:cs typeface="Times New Roman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5DCA4F-E8D5-24BC-70DB-ED2CBEF4C4F3}"/>
              </a:ext>
            </a:extLst>
          </p:cNvPr>
          <p:cNvSpPr txBox="1"/>
          <p:nvPr/>
        </p:nvSpPr>
        <p:spPr>
          <a:xfrm>
            <a:off x="226850" y="303413"/>
            <a:ext cx="3485119" cy="489364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 b="0">
                <a:latin typeface="Consolas"/>
                <a:ea typeface="Consolas"/>
                <a:cs typeface="Consolas"/>
              </a:rPr>
              <a:t>#include&lt;bits/stdc++.h&gt;</a:t>
            </a:r>
          </a:p>
          <a:p>
            <a:r>
              <a:rPr lang="en-US" sz="1200" b="0">
                <a:latin typeface="Consolas"/>
                <a:ea typeface="Consolas"/>
                <a:cs typeface="Consolas"/>
              </a:rPr>
              <a:t>#include&lt;cmath&gt;</a:t>
            </a:r>
          </a:p>
          <a:p>
            <a:r>
              <a:rPr lang="en-US" sz="1200" b="0">
                <a:latin typeface="Consolas"/>
                <a:ea typeface="Consolas"/>
                <a:cs typeface="Consolas"/>
              </a:rPr>
              <a:t>using namespace std;</a:t>
            </a:r>
            <a:br>
              <a:rPr lang="en-US" sz="1200" b="0">
                <a:latin typeface="Consolas"/>
                <a:ea typeface="Consolas"/>
                <a:cs typeface="Consolas"/>
              </a:rPr>
            </a:br>
            <a:r>
              <a:rPr lang="en-US" sz="1200" b="0">
                <a:latin typeface="Consolas"/>
                <a:ea typeface="Consolas"/>
                <a:cs typeface="Consolas"/>
              </a:rPr>
              <a:t>struct Point{</a:t>
            </a:r>
          </a:p>
          <a:p>
            <a:r>
              <a:rPr lang="en-US" sz="1200" b="0">
                <a:latin typeface="Consolas"/>
                <a:ea typeface="Consolas"/>
                <a:cs typeface="Consolas"/>
              </a:rPr>
              <a:t>    float x;</a:t>
            </a:r>
          </a:p>
          <a:p>
            <a:r>
              <a:rPr lang="en-US" sz="1200" b="0">
                <a:latin typeface="Consolas"/>
                <a:ea typeface="Consolas"/>
                <a:cs typeface="Consolas"/>
              </a:rPr>
              <a:t>    float y;</a:t>
            </a:r>
          </a:p>
          <a:p>
            <a:r>
              <a:rPr lang="en-US" sz="1200" b="0">
                <a:latin typeface="Consolas"/>
                <a:ea typeface="Consolas"/>
                <a:cs typeface="Consolas"/>
              </a:rPr>
              <a:t>} ;</a:t>
            </a:r>
            <a:br>
              <a:rPr lang="en-US" sz="1200" b="0">
                <a:latin typeface="Consolas"/>
                <a:ea typeface="Consolas"/>
                <a:cs typeface="Consolas"/>
              </a:rPr>
            </a:br>
            <a:r>
              <a:rPr lang="en-US" sz="1200" b="0">
                <a:solidFill>
                  <a:srgbClr val="FF0000"/>
                </a:solidFill>
                <a:latin typeface="Consolas"/>
                <a:ea typeface="Consolas"/>
                <a:cs typeface="Consolas"/>
              </a:rPr>
              <a:t>class</a:t>
            </a:r>
            <a:r>
              <a:rPr lang="en-US" sz="1200" b="0">
                <a:latin typeface="Consolas"/>
                <a:ea typeface="Consolas"/>
                <a:cs typeface="Consolas"/>
              </a:rPr>
              <a:t> </a:t>
            </a:r>
            <a:r>
              <a:rPr lang="en-US" sz="1200" b="0">
                <a:solidFill>
                  <a:srgbClr val="FF0000"/>
                </a:solidFill>
                <a:latin typeface="Consolas"/>
                <a:ea typeface="Consolas"/>
                <a:cs typeface="Consolas"/>
              </a:rPr>
              <a:t>Shape</a:t>
            </a:r>
            <a:r>
              <a:rPr lang="en-US" sz="1200">
                <a:solidFill>
                  <a:srgbClr val="FF0000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en-US" sz="1200" b="0">
                <a:latin typeface="Consolas"/>
                <a:ea typeface="Consolas"/>
                <a:cs typeface="Consolas"/>
              </a:rPr>
              <a:t>{</a:t>
            </a:r>
          </a:p>
          <a:p>
            <a:r>
              <a:rPr lang="en-US" sz="1200" b="0">
                <a:latin typeface="Consolas"/>
                <a:ea typeface="Consolas"/>
                <a:cs typeface="Consolas"/>
              </a:rPr>
              <a:t>    protected :</a:t>
            </a:r>
          </a:p>
          <a:p>
            <a:r>
              <a:rPr lang="en-US" sz="1200" b="0">
                <a:latin typeface="Consolas"/>
                <a:ea typeface="Consolas"/>
                <a:cs typeface="Consolas"/>
              </a:rPr>
              <a:t>       </a:t>
            </a:r>
            <a:r>
              <a:rPr lang="en-US" sz="1200" b="0">
                <a:solidFill>
                  <a:srgbClr val="B082E0"/>
                </a:solidFill>
                <a:latin typeface="Consolas"/>
                <a:ea typeface="Consolas"/>
                <a:cs typeface="Consolas"/>
              </a:rPr>
              <a:t> static int counter ;</a:t>
            </a:r>
          </a:p>
          <a:p>
            <a:r>
              <a:rPr lang="en-US" sz="1200" b="0">
                <a:latin typeface="Consolas"/>
                <a:ea typeface="Consolas"/>
                <a:cs typeface="Consolas"/>
              </a:rPr>
              <a:t>    public :</a:t>
            </a:r>
          </a:p>
          <a:p>
            <a:r>
              <a:rPr lang="en-US" sz="1200" b="0">
                <a:latin typeface="Consolas"/>
                <a:ea typeface="Consolas"/>
                <a:cs typeface="Consolas"/>
              </a:rPr>
              <a:t>        Shape(){</a:t>
            </a:r>
          </a:p>
          <a:p>
            <a:r>
              <a:rPr lang="en-US" sz="1200" b="0">
                <a:latin typeface="Consolas"/>
                <a:ea typeface="Consolas"/>
                <a:cs typeface="Consolas"/>
              </a:rPr>
              <a:t>            </a:t>
            </a:r>
            <a:r>
              <a:rPr lang="en-US" sz="1200" b="0">
                <a:solidFill>
                  <a:srgbClr val="4FBBC4"/>
                </a:solidFill>
                <a:latin typeface="Consolas"/>
                <a:ea typeface="Consolas"/>
                <a:cs typeface="Consolas"/>
              </a:rPr>
              <a:t>counter++ ;</a:t>
            </a:r>
          </a:p>
          <a:p>
            <a:r>
              <a:rPr lang="en-US" sz="1200" b="0">
                <a:latin typeface="Consolas"/>
                <a:ea typeface="Consolas"/>
                <a:cs typeface="Consolas"/>
              </a:rPr>
              <a:t>        }</a:t>
            </a:r>
            <a:br>
              <a:rPr lang="en-US" sz="1200" b="0">
                <a:latin typeface="Consolas"/>
                <a:ea typeface="Consolas"/>
                <a:cs typeface="Consolas"/>
              </a:rPr>
            </a:br>
            <a:r>
              <a:rPr lang="en-US" sz="1200" b="0">
                <a:latin typeface="Consolas"/>
                <a:ea typeface="Consolas"/>
                <a:cs typeface="Consolas"/>
              </a:rPr>
              <a:t>        virtual ~Shape(){</a:t>
            </a:r>
          </a:p>
          <a:p>
            <a:r>
              <a:rPr lang="en-US" sz="1200" b="0">
                <a:latin typeface="Consolas"/>
                <a:ea typeface="Consolas"/>
                <a:cs typeface="Consolas"/>
              </a:rPr>
              <a:t>            </a:t>
            </a:r>
            <a:r>
              <a:rPr lang="en-US" sz="1200" b="0">
                <a:solidFill>
                  <a:srgbClr val="4FBBC4"/>
                </a:solidFill>
                <a:latin typeface="Consolas"/>
                <a:ea typeface="Consolas"/>
                <a:cs typeface="Consolas"/>
              </a:rPr>
              <a:t>counter-- ;</a:t>
            </a:r>
          </a:p>
          <a:p>
            <a:r>
              <a:rPr lang="en-US" sz="1200" b="0">
                <a:latin typeface="Consolas"/>
                <a:ea typeface="Consolas"/>
                <a:cs typeface="Consolas"/>
              </a:rPr>
              <a:t>        }</a:t>
            </a:r>
            <a:br>
              <a:rPr lang="en-US" sz="1200" b="0">
                <a:latin typeface="Consolas"/>
                <a:ea typeface="Consolas"/>
                <a:cs typeface="Consolas"/>
              </a:rPr>
            </a:br>
            <a:r>
              <a:rPr lang="en-US" sz="1200" b="0">
                <a:latin typeface="Consolas"/>
                <a:ea typeface="Consolas"/>
                <a:cs typeface="Consolas"/>
              </a:rPr>
              <a:t>      </a:t>
            </a:r>
            <a:r>
              <a:rPr lang="en-US" sz="1200" b="0">
                <a:solidFill>
                  <a:srgbClr val="4FBBC4"/>
                </a:solidFill>
                <a:latin typeface="Consolas"/>
                <a:ea typeface="Consolas"/>
                <a:cs typeface="Consolas"/>
              </a:rPr>
              <a:t>  static int </a:t>
            </a:r>
            <a:r>
              <a:rPr lang="en-US" sz="1200" b="0" err="1">
                <a:solidFill>
                  <a:srgbClr val="4FBBC4"/>
                </a:solidFill>
                <a:latin typeface="Consolas"/>
                <a:ea typeface="Consolas"/>
                <a:cs typeface="Consolas"/>
              </a:rPr>
              <a:t>getCounter</a:t>
            </a:r>
            <a:r>
              <a:rPr lang="en-US" sz="1200" b="0">
                <a:solidFill>
                  <a:srgbClr val="4FBBC4"/>
                </a:solidFill>
                <a:latin typeface="Consolas"/>
                <a:ea typeface="Consolas"/>
                <a:cs typeface="Consolas"/>
              </a:rPr>
              <a:t>(){</a:t>
            </a:r>
          </a:p>
          <a:p>
            <a:r>
              <a:rPr lang="en-US" sz="1200" b="0">
                <a:solidFill>
                  <a:srgbClr val="4FBBC4"/>
                </a:solidFill>
                <a:latin typeface="Consolas"/>
                <a:ea typeface="Consolas"/>
                <a:cs typeface="Consolas"/>
              </a:rPr>
              <a:t>            return counter ;</a:t>
            </a:r>
          </a:p>
          <a:p>
            <a:r>
              <a:rPr lang="en-US" sz="1200" b="0">
                <a:latin typeface="Consolas"/>
                <a:ea typeface="Consolas"/>
                <a:cs typeface="Consolas"/>
              </a:rPr>
              <a:t>        }</a:t>
            </a:r>
            <a:br>
              <a:rPr lang="en-US" sz="1200" b="0">
                <a:latin typeface="Consolas"/>
                <a:ea typeface="Consolas"/>
                <a:cs typeface="Consolas"/>
              </a:rPr>
            </a:br>
            <a:r>
              <a:rPr lang="en-US" sz="1200" b="0">
                <a:latin typeface="Consolas"/>
                <a:ea typeface="Consolas"/>
                <a:cs typeface="Consolas"/>
              </a:rPr>
              <a:t>       </a:t>
            </a:r>
            <a:r>
              <a:rPr lang="en-US" sz="1200" b="0">
                <a:solidFill>
                  <a:schemeClr val="accent2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en-US" sz="1200" b="0">
                <a:solidFill>
                  <a:srgbClr val="4FBBC4"/>
                </a:solidFill>
                <a:latin typeface="Consolas"/>
                <a:ea typeface="Consolas"/>
                <a:cs typeface="Consolas"/>
              </a:rPr>
              <a:t>static void </a:t>
            </a:r>
            <a:r>
              <a:rPr lang="en-US" sz="1200" b="0" err="1">
                <a:solidFill>
                  <a:srgbClr val="4FBBC4"/>
                </a:solidFill>
                <a:latin typeface="Consolas"/>
                <a:ea typeface="Consolas"/>
                <a:cs typeface="Consolas"/>
              </a:rPr>
              <a:t>setCounter</a:t>
            </a:r>
            <a:r>
              <a:rPr lang="en-US" sz="1200" b="0">
                <a:solidFill>
                  <a:srgbClr val="4FBBC4"/>
                </a:solidFill>
                <a:latin typeface="Consolas"/>
                <a:ea typeface="Consolas"/>
                <a:cs typeface="Consolas"/>
              </a:rPr>
              <a:t>(int c){</a:t>
            </a:r>
          </a:p>
          <a:p>
            <a:r>
              <a:rPr lang="en-US" sz="1200" b="0">
                <a:solidFill>
                  <a:srgbClr val="4FBBC4"/>
                </a:solidFill>
                <a:latin typeface="Consolas"/>
                <a:ea typeface="Consolas"/>
                <a:cs typeface="Consolas"/>
              </a:rPr>
              <a:t>            counter = c ;</a:t>
            </a:r>
          </a:p>
          <a:p>
            <a:r>
              <a:rPr lang="en-US" sz="1200" b="0">
                <a:solidFill>
                  <a:srgbClr val="00B0F0"/>
                </a:solidFill>
                <a:latin typeface="Consolas"/>
                <a:ea typeface="Consolas"/>
                <a:cs typeface="Consolas"/>
              </a:rPr>
              <a:t>        </a:t>
            </a:r>
            <a:r>
              <a:rPr lang="en-US" sz="1200" b="0">
                <a:solidFill>
                  <a:srgbClr val="4FBBC4"/>
                </a:solidFill>
                <a:latin typeface="Consolas"/>
                <a:ea typeface="Consolas"/>
                <a:cs typeface="Consolas"/>
              </a:rPr>
              <a:t>}</a:t>
            </a:r>
          </a:p>
          <a:p>
            <a:r>
              <a:rPr lang="en-US" sz="1200" b="0">
                <a:latin typeface="Consolas"/>
                <a:ea typeface="Consolas"/>
                <a:cs typeface="Consolas"/>
              </a:rPr>
              <a:t>} ;</a:t>
            </a:r>
            <a:br>
              <a:rPr lang="en-US" sz="1200" b="0">
                <a:solidFill>
                  <a:srgbClr val="00B0F0"/>
                </a:solidFill>
                <a:latin typeface="Consolas"/>
                <a:ea typeface="Consolas"/>
                <a:cs typeface="Consolas"/>
              </a:rPr>
            </a:br>
            <a:r>
              <a:rPr lang="en-US" sz="1200" b="0">
                <a:solidFill>
                  <a:srgbClr val="4FBBC4"/>
                </a:solidFill>
                <a:latin typeface="Consolas"/>
                <a:ea typeface="Consolas"/>
                <a:cs typeface="Consolas"/>
              </a:rPr>
              <a:t>int Shape::counter = 0 ;</a:t>
            </a:r>
          </a:p>
        </p:txBody>
      </p:sp>
      <p:sp>
        <p:nvSpPr>
          <p:cNvPr id="9" name="Text 16">
            <a:extLst>
              <a:ext uri="{FF2B5EF4-FFF2-40B4-BE49-F238E27FC236}">
                <a16:creationId xmlns:a16="http://schemas.microsoft.com/office/drawing/2014/main" id="{76CF08BA-8E99-8301-FE34-30E37172D098}"/>
              </a:ext>
            </a:extLst>
          </p:cNvPr>
          <p:cNvSpPr/>
          <p:nvPr/>
        </p:nvSpPr>
        <p:spPr>
          <a:xfrm>
            <a:off x="4567932" y="916347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>
                <a:latin typeface="Times New Roman"/>
                <a:ea typeface="Calibri"/>
                <a:cs typeface="Times New Roman"/>
              </a:rPr>
              <a:t>Static </a:t>
            </a:r>
            <a:r>
              <a:rPr lang="en-US" err="1">
                <a:latin typeface="Times New Roman"/>
                <a:ea typeface="Calibri"/>
                <a:cs typeface="Times New Roman"/>
              </a:rPr>
              <a:t>хувьсагчийг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классын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гадна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утга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оноож</a:t>
            </a:r>
            <a:r>
              <a:rPr lang="en-US">
                <a:latin typeface="Times New Roman"/>
                <a:ea typeface="Calibri"/>
                <a:cs typeface="Times New Roman"/>
              </a:rPr>
              <a:t> , </a:t>
            </a:r>
            <a:r>
              <a:rPr lang="en-US" err="1">
                <a:latin typeface="Times New Roman"/>
                <a:ea typeface="Calibri"/>
                <a:cs typeface="Times New Roman"/>
              </a:rPr>
              <a:t>утгыг</a:t>
            </a:r>
            <a:r>
              <a:rPr lang="en-US">
                <a:latin typeface="Times New Roman"/>
                <a:ea typeface="Calibri"/>
                <a:cs typeface="Times New Roman"/>
              </a:rPr>
              <a:t> </a:t>
            </a:r>
            <a:r>
              <a:rPr lang="en-US" err="1">
                <a:latin typeface="Times New Roman"/>
                <a:ea typeface="Calibri"/>
                <a:cs typeface="Times New Roman"/>
              </a:rPr>
              <a:t>харуулах</a:t>
            </a:r>
            <a:r>
              <a:rPr lang="en-US">
                <a:solidFill>
                  <a:srgbClr val="4FBBC4"/>
                </a:solidFill>
                <a:latin typeface="Times New Roman"/>
                <a:ea typeface="Calibri"/>
                <a:cs typeface="Times New Roman"/>
              </a:rPr>
              <a:t> static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гишүүн</a:t>
            </a:r>
            <a:r>
              <a:rPr lang="en-US">
                <a:latin typeface="Times New Roman"/>
                <a:ea typeface="Calibri"/>
                <a:cs typeface="Times New Roman"/>
              </a:rPr>
              <a:t> </a:t>
            </a:r>
            <a:r>
              <a:rPr lang="en-US" err="1">
                <a:latin typeface="Times New Roman"/>
                <a:ea typeface="Calibri"/>
                <a:cs typeface="Times New Roman"/>
              </a:rPr>
              <a:t>функц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бичнэ</a:t>
            </a:r>
            <a:r>
              <a:rPr lang="en-US">
                <a:latin typeface="Times New Roman"/>
                <a:ea typeface="Calibri"/>
                <a:cs typeface="Times New Roman"/>
              </a:rPr>
              <a:t>.</a:t>
            </a:r>
          </a:p>
        </p:txBody>
      </p:sp>
      <p:sp>
        <p:nvSpPr>
          <p:cNvPr id="13" name="Text 16">
            <a:extLst>
              <a:ext uri="{FF2B5EF4-FFF2-40B4-BE49-F238E27FC236}">
                <a16:creationId xmlns:a16="http://schemas.microsoft.com/office/drawing/2014/main" id="{638437A5-C0B6-FD2A-021D-E03CD27BA45B}"/>
              </a:ext>
            </a:extLst>
          </p:cNvPr>
          <p:cNvSpPr/>
          <p:nvPr/>
        </p:nvSpPr>
        <p:spPr>
          <a:xfrm>
            <a:off x="4574629" y="22938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err="1">
                <a:latin typeface="Times New Roman"/>
                <a:ea typeface="Calibri"/>
                <a:cs typeface="Times New Roman"/>
              </a:rPr>
              <a:t>Объект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шинээр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үүсэх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үед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статик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гишүүн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өгөгдлийн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утга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нэмэгдэх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бөгөөд</a:t>
            </a:r>
            <a:r>
              <a:rPr lang="en-US">
                <a:latin typeface="Times New Roman"/>
                <a:ea typeface="Calibri"/>
                <a:cs typeface="Times New Roman"/>
              </a:rPr>
              <a:t> </a:t>
            </a:r>
            <a:r>
              <a:rPr lang="en-US" err="1">
                <a:latin typeface="Times New Roman"/>
                <a:ea typeface="Calibri"/>
                <a:cs typeface="Times New Roman"/>
              </a:rPr>
              <a:t>объект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устах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үед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багасна</a:t>
            </a:r>
            <a:r>
              <a:rPr lang="en-US">
                <a:latin typeface="Times New Roman"/>
                <a:ea typeface="Calibri"/>
                <a:cs typeface="Times New Roman"/>
              </a:rPr>
              <a:t>. </a:t>
            </a:r>
            <a:endParaRPr lang="en-US">
              <a:latin typeface="Times New Roman"/>
              <a:cs typeface="Times New Roman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15B6F4-0100-99BC-F967-F97FE5003249}"/>
              </a:ext>
            </a:extLst>
          </p:cNvPr>
          <p:cNvSpPr txBox="1"/>
          <p:nvPr/>
        </p:nvSpPr>
        <p:spPr>
          <a:xfrm>
            <a:off x="4264269" y="514350"/>
            <a:ext cx="307731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="0" i="0" u="none" strike="noStrike" baseline="0">
                <a:solidFill>
                  <a:srgbClr val="000000"/>
                </a:solidFill>
                <a:latin typeface="Calibri"/>
              </a:rPr>
              <a:t>•</a:t>
            </a:r>
            <a:endParaRPr lang="en-US"/>
          </a:p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A254C46-9307-D400-06DC-12B52BCE51E6}"/>
              </a:ext>
            </a:extLst>
          </p:cNvPr>
          <p:cNvSpPr txBox="1"/>
          <p:nvPr/>
        </p:nvSpPr>
        <p:spPr>
          <a:xfrm>
            <a:off x="4264269" y="1885950"/>
            <a:ext cx="307731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="0" i="0" u="none" strike="noStrike" baseline="0">
                <a:solidFill>
                  <a:srgbClr val="000000"/>
                </a:solidFill>
                <a:latin typeface="Calibri"/>
              </a:rPr>
              <a:t>•</a:t>
            </a:r>
            <a:endParaRPr lang="en-US"/>
          </a:p>
          <a:p>
            <a:pPr algn="ctr"/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3B67E23-9946-F8EE-8C5F-6A23D3F034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AC5D4E7-8CA2-82D6-41CC-5C6C7BCDEC31}"/>
              </a:ext>
            </a:extLst>
          </p:cNvPr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8691401-1304-5A31-C78E-0EA764C38079}"/>
              </a:ext>
            </a:extLst>
          </p:cNvPr>
          <p:cNvSpPr/>
          <p:nvPr/>
        </p:nvSpPr>
        <p:spPr>
          <a:xfrm>
            <a:off x="1591408" y="-98473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>
                <a:latin typeface="Times New Roman"/>
                <a:ea typeface="Calibri"/>
                <a:cs typeface="Times New Roman"/>
              </a:rPr>
              <a:t>ХЭРЭГЖҮҮЛЭЛТ  —  </a:t>
            </a:r>
            <a:r>
              <a:rPr lang="en-US" sz="2000" b="1" err="1">
                <a:latin typeface="Times New Roman"/>
                <a:ea typeface="Calibri"/>
                <a:cs typeface="Times New Roman"/>
              </a:rPr>
              <a:t>Үндсэн</a:t>
            </a:r>
            <a:r>
              <a:rPr lang="en-US" sz="2000" b="1">
                <a:latin typeface="Times New Roman"/>
                <a:ea typeface="Calibri"/>
                <a:cs typeface="Times New Roman"/>
              </a:rPr>
              <a:t> </a:t>
            </a:r>
            <a:r>
              <a:rPr lang="en-US" sz="2000" b="1" err="1">
                <a:latin typeface="Times New Roman"/>
                <a:ea typeface="Calibri"/>
                <a:cs typeface="Times New Roman"/>
              </a:rPr>
              <a:t>Кодын</a:t>
            </a:r>
            <a:r>
              <a:rPr lang="en-US" sz="2000" b="1">
                <a:latin typeface="Times New Roman"/>
                <a:ea typeface="Calibri"/>
                <a:cs typeface="Times New Roman"/>
              </a:rPr>
              <a:t> </a:t>
            </a:r>
            <a:r>
              <a:rPr lang="en-US" sz="2000" b="1" err="1">
                <a:latin typeface="Times New Roman"/>
                <a:ea typeface="Calibri"/>
                <a:cs typeface="Times New Roman"/>
              </a:rPr>
              <a:t>Тайлбар</a:t>
            </a:r>
            <a:r>
              <a:rPr lang="en-US" sz="2000" b="1">
                <a:latin typeface="Times New Roman"/>
                <a:ea typeface="Calibri"/>
                <a:cs typeface="Times New Roman"/>
              </a:rPr>
              <a:t> 2</a:t>
            </a:r>
            <a:endParaRPr lang="en-US" sz="2000" err="1">
              <a:latin typeface="Times New Roman"/>
              <a:ea typeface="Calibri"/>
              <a:cs typeface="Times New Roman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AE180B8-73D3-15BA-138D-FAD827373250}"/>
              </a:ext>
            </a:extLst>
          </p:cNvPr>
          <p:cNvSpPr txBox="1"/>
          <p:nvPr/>
        </p:nvSpPr>
        <p:spPr>
          <a:xfrm>
            <a:off x="173986" y="312098"/>
            <a:ext cx="4825998" cy="5143646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100">
                <a:solidFill>
                  <a:srgbClr val="FF0000"/>
                </a:solidFill>
                <a:latin typeface="Consolas"/>
              </a:rPr>
              <a:t>class Shape2D : public Shape</a:t>
            </a:r>
            <a:r>
              <a:rPr lang="en-US" sz="1100">
                <a:latin typeface="Consolas"/>
              </a:rPr>
              <a:t> {</a:t>
            </a:r>
            <a:endParaRPr lang="en-US">
              <a:ea typeface="Calibri"/>
              <a:cs typeface="Calibri"/>
            </a:endParaRPr>
          </a:p>
          <a:p>
            <a:r>
              <a:rPr lang="en-US" sz="1100">
                <a:latin typeface="Consolas"/>
              </a:rPr>
              <a:t>    protected :</a:t>
            </a:r>
            <a:endParaRPr lang="en-US">
              <a:ea typeface="Calibri"/>
              <a:cs typeface="Calibri"/>
            </a:endParaRPr>
          </a:p>
          <a:p>
            <a:r>
              <a:rPr lang="en-US" sz="1100">
                <a:latin typeface="Consolas"/>
                <a:ea typeface="Consolas"/>
                <a:cs typeface="Consolas"/>
              </a:rPr>
              <a:t>        string name</a:t>
            </a:r>
            <a:r>
              <a:rPr lang="en-US" sz="1100" b="0">
                <a:latin typeface="Consolas"/>
                <a:ea typeface="Consolas"/>
                <a:cs typeface="Consolas"/>
              </a:rPr>
              <a:t>;</a:t>
            </a:r>
            <a:endParaRPr lang="en-US" sz="1100">
              <a:ea typeface="Calibri"/>
              <a:cs typeface="Calibri"/>
            </a:endParaRPr>
          </a:p>
          <a:p>
            <a:r>
              <a:rPr lang="en-US" sz="1100">
                <a:latin typeface="Consolas"/>
                <a:ea typeface="Consolas"/>
                <a:cs typeface="Consolas"/>
              </a:rPr>
              <a:t>    public :</a:t>
            </a:r>
            <a:endParaRPr lang="en-US">
              <a:ea typeface="Calibri"/>
              <a:cs typeface="Calibri"/>
            </a:endParaRPr>
          </a:p>
          <a:p>
            <a:r>
              <a:rPr lang="en-US" sz="1100">
                <a:latin typeface="Consolas"/>
                <a:ea typeface="Consolas"/>
                <a:cs typeface="Consolas"/>
              </a:rPr>
              <a:t>        Shape2D(string name) : Shape() </a:t>
            </a:r>
            <a:r>
              <a:rPr lang="en-US" sz="1100" b="0">
                <a:latin typeface="Consolas"/>
                <a:ea typeface="Consolas"/>
                <a:cs typeface="Consolas"/>
              </a:rPr>
              <a:t>{</a:t>
            </a:r>
            <a:endParaRPr lang="en-US" sz="1100">
              <a:ea typeface="Calibri"/>
              <a:cs typeface="Calibri"/>
            </a:endParaRPr>
          </a:p>
          <a:p>
            <a:r>
              <a:rPr lang="en-US" sz="1100" b="0">
                <a:latin typeface="Consolas"/>
                <a:ea typeface="Consolas"/>
                <a:cs typeface="Consolas"/>
              </a:rPr>
              <a:t>    </a:t>
            </a:r>
            <a:r>
              <a:rPr lang="en-US" sz="1100">
                <a:latin typeface="Consolas"/>
                <a:ea typeface="Consolas"/>
                <a:cs typeface="Consolas"/>
              </a:rPr>
              <a:t>        </a:t>
            </a:r>
            <a:r>
              <a:rPr lang="en-US" sz="1100">
                <a:solidFill>
                  <a:schemeClr val="accent2"/>
                </a:solidFill>
                <a:latin typeface="Consolas"/>
                <a:ea typeface="Consolas"/>
                <a:cs typeface="Consolas"/>
              </a:rPr>
              <a:t>this</a:t>
            </a:r>
            <a:r>
              <a:rPr lang="en-US" sz="1100">
                <a:latin typeface="Consolas"/>
                <a:ea typeface="Consolas"/>
                <a:cs typeface="Consolas"/>
              </a:rPr>
              <a:t>-&gt;name = name ;</a:t>
            </a:r>
            <a:endParaRPr lang="en-US">
              <a:ea typeface="Calibri"/>
              <a:cs typeface="Calibri"/>
            </a:endParaRPr>
          </a:p>
          <a:p>
            <a:r>
              <a:rPr lang="en-US" sz="1100">
                <a:latin typeface="Consolas"/>
                <a:ea typeface="Consolas"/>
                <a:cs typeface="Consolas"/>
              </a:rPr>
              <a:t>        }</a:t>
            </a:r>
            <a:endParaRPr lang="en-US">
              <a:ea typeface="Calibri"/>
              <a:cs typeface="Calibri"/>
            </a:endParaRPr>
          </a:p>
          <a:p>
            <a:r>
              <a:rPr lang="en-US" sz="1100">
                <a:latin typeface="Consolas"/>
                <a:ea typeface="Consolas"/>
                <a:cs typeface="Consolas"/>
              </a:rPr>
              <a:t>       </a:t>
            </a:r>
            <a:r>
              <a:rPr lang="en-US" sz="110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 virtual </a:t>
            </a:r>
            <a:r>
              <a:rPr lang="en-US" sz="1100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float </a:t>
            </a:r>
            <a:r>
              <a:rPr lang="en-US" sz="1100" err="1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talbai</a:t>
            </a:r>
            <a:r>
              <a:rPr lang="en-US" sz="110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() = 0 </a:t>
            </a:r>
            <a:r>
              <a:rPr lang="en-US" sz="1100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;</a:t>
            </a:r>
            <a:endParaRPr lang="en-US" sz="1100">
              <a:solidFill>
                <a:srgbClr val="0070C0"/>
              </a:solidFill>
              <a:ea typeface="Calibri"/>
              <a:cs typeface="Calibri"/>
            </a:endParaRPr>
          </a:p>
          <a:p>
            <a:r>
              <a:rPr lang="en-US" sz="1100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    </a:t>
            </a:r>
            <a:r>
              <a:rPr lang="en-US" sz="110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    virtual </a:t>
            </a:r>
            <a:r>
              <a:rPr lang="en-US" sz="1100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float </a:t>
            </a:r>
            <a:r>
              <a:rPr lang="en-US" sz="1100" err="1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perimetr</a:t>
            </a:r>
            <a:r>
              <a:rPr lang="en-US" sz="110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() = 0 ;</a:t>
            </a:r>
            <a:endParaRPr lang="en-US">
              <a:solidFill>
                <a:srgbClr val="0070C0"/>
              </a:solidFill>
              <a:ea typeface="Calibri"/>
              <a:cs typeface="Calibri"/>
            </a:endParaRPr>
          </a:p>
          <a:p>
            <a:r>
              <a:rPr lang="en-US" sz="1100">
                <a:latin typeface="Consolas"/>
                <a:ea typeface="Consolas"/>
                <a:cs typeface="Consolas"/>
              </a:rPr>
              <a:t>        string </a:t>
            </a:r>
            <a:r>
              <a:rPr lang="en-US" sz="1100" err="1">
                <a:latin typeface="Consolas"/>
                <a:ea typeface="Consolas"/>
                <a:cs typeface="Consolas"/>
              </a:rPr>
              <a:t>getName</a:t>
            </a:r>
            <a:r>
              <a:rPr lang="en-US" sz="1100">
                <a:latin typeface="Consolas"/>
                <a:ea typeface="Consolas"/>
                <a:cs typeface="Consolas"/>
              </a:rPr>
              <a:t>(){</a:t>
            </a:r>
            <a:endParaRPr lang="en-US">
              <a:ea typeface="Calibri"/>
              <a:cs typeface="Calibri"/>
            </a:endParaRPr>
          </a:p>
          <a:p>
            <a:r>
              <a:rPr lang="en-US" sz="1100">
                <a:latin typeface="Consolas"/>
                <a:ea typeface="Consolas"/>
                <a:cs typeface="Consolas"/>
              </a:rPr>
              <a:t>            return </a:t>
            </a:r>
            <a:r>
              <a:rPr lang="en-US" sz="1100">
                <a:solidFill>
                  <a:schemeClr val="accent2"/>
                </a:solidFill>
                <a:latin typeface="Consolas"/>
                <a:ea typeface="Consolas"/>
                <a:cs typeface="Consolas"/>
              </a:rPr>
              <a:t>this</a:t>
            </a:r>
            <a:r>
              <a:rPr lang="en-US" sz="1100">
                <a:latin typeface="Consolas"/>
                <a:ea typeface="Consolas"/>
                <a:cs typeface="Consolas"/>
              </a:rPr>
              <a:t>-&gt;name </a:t>
            </a:r>
            <a:r>
              <a:rPr lang="en-US" sz="1100" b="0">
                <a:latin typeface="Consolas"/>
                <a:ea typeface="Consolas"/>
                <a:cs typeface="Consolas"/>
              </a:rPr>
              <a:t>;</a:t>
            </a:r>
            <a:endParaRPr lang="en-US" sz="1100">
              <a:ea typeface="Calibri"/>
              <a:cs typeface="Calibri"/>
            </a:endParaRPr>
          </a:p>
          <a:p>
            <a:r>
              <a:rPr lang="en-US" sz="1100">
                <a:latin typeface="Consolas"/>
              </a:rPr>
              <a:t>        }</a:t>
            </a:r>
            <a:endParaRPr lang="en-US">
              <a:ea typeface="Calibri"/>
              <a:cs typeface="Calibri"/>
            </a:endParaRPr>
          </a:p>
          <a:p>
            <a:r>
              <a:rPr lang="en-US" sz="1100">
                <a:latin typeface="Consolas"/>
              </a:rPr>
              <a:t>        </a:t>
            </a:r>
            <a:r>
              <a:rPr lang="en-US" sz="1100">
                <a:solidFill>
                  <a:srgbClr val="0070C0"/>
                </a:solidFill>
                <a:latin typeface="Consolas"/>
              </a:rPr>
              <a:t>~Shape2D() override {}</a:t>
            </a:r>
            <a:endParaRPr lang="en-US">
              <a:solidFill>
                <a:srgbClr val="0070C0"/>
              </a:solidFill>
              <a:ea typeface="Calibri"/>
              <a:cs typeface="Calibri"/>
            </a:endParaRPr>
          </a:p>
          <a:p>
            <a:r>
              <a:rPr lang="en-US" sz="1100" b="0">
                <a:latin typeface="Consolas"/>
                <a:ea typeface="Consolas"/>
                <a:cs typeface="Consolas"/>
              </a:rPr>
              <a:t>} ;</a:t>
            </a:r>
            <a:endParaRPr lang="en-US" sz="1100">
              <a:ea typeface="Calibri"/>
              <a:cs typeface="Calibri"/>
            </a:endParaRPr>
          </a:p>
          <a:p>
            <a:r>
              <a:rPr lang="en-US" sz="1100" b="0">
                <a:solidFill>
                  <a:srgbClr val="FF0000"/>
                </a:solidFill>
                <a:latin typeface="Consolas"/>
                <a:ea typeface="Consolas"/>
                <a:cs typeface="Consolas"/>
              </a:rPr>
              <a:t>class </a:t>
            </a:r>
            <a:r>
              <a:rPr lang="en-US" sz="1100">
                <a:solidFill>
                  <a:srgbClr val="FF0000"/>
                </a:solidFill>
                <a:latin typeface="Consolas"/>
                <a:ea typeface="Consolas"/>
                <a:cs typeface="Consolas"/>
              </a:rPr>
              <a:t>Circle : public Shape2D</a:t>
            </a:r>
            <a:r>
              <a:rPr lang="en-US" sz="1100">
                <a:latin typeface="Consolas"/>
                <a:ea typeface="Consolas"/>
                <a:cs typeface="Consolas"/>
              </a:rPr>
              <a:t> </a:t>
            </a:r>
            <a:r>
              <a:rPr lang="en-US" sz="1100" b="0">
                <a:latin typeface="Consolas"/>
                <a:ea typeface="Consolas"/>
                <a:cs typeface="Consolas"/>
              </a:rPr>
              <a:t>{</a:t>
            </a:r>
            <a:endParaRPr lang="en-US" sz="1100">
              <a:ea typeface="Calibri"/>
              <a:cs typeface="Calibri"/>
            </a:endParaRPr>
          </a:p>
          <a:p>
            <a:r>
              <a:rPr lang="en-US" sz="1100" b="0">
                <a:latin typeface="Consolas"/>
                <a:ea typeface="Consolas"/>
                <a:cs typeface="Consolas"/>
              </a:rPr>
              <a:t>    protected :</a:t>
            </a:r>
            <a:endParaRPr lang="en-US" sz="1100">
              <a:ea typeface="Calibri"/>
              <a:cs typeface="Calibri"/>
            </a:endParaRPr>
          </a:p>
          <a:p>
            <a:r>
              <a:rPr lang="en-US" sz="1100" b="0">
                <a:latin typeface="Consolas"/>
                <a:ea typeface="Consolas"/>
                <a:cs typeface="Consolas"/>
              </a:rPr>
              <a:t>        </a:t>
            </a:r>
            <a:r>
              <a:rPr lang="en-US" sz="1100">
                <a:latin typeface="Consolas"/>
                <a:ea typeface="Consolas"/>
                <a:cs typeface="Consolas"/>
              </a:rPr>
              <a:t>Point p1 ;</a:t>
            </a:r>
            <a:endParaRPr lang="en-US">
              <a:ea typeface="Calibri"/>
              <a:cs typeface="Calibri"/>
            </a:endParaRPr>
          </a:p>
          <a:p>
            <a:r>
              <a:rPr lang="en-US" sz="1100">
                <a:latin typeface="Consolas"/>
                <a:ea typeface="Consolas"/>
                <a:cs typeface="Consolas"/>
              </a:rPr>
              <a:t>        float radius </a:t>
            </a:r>
            <a:r>
              <a:rPr lang="en-US" sz="1100" b="0">
                <a:latin typeface="Consolas"/>
                <a:ea typeface="Consolas"/>
                <a:cs typeface="Consolas"/>
              </a:rPr>
              <a:t>;</a:t>
            </a:r>
            <a:endParaRPr lang="en-US" sz="1100">
              <a:ea typeface="Calibri"/>
              <a:cs typeface="Calibri"/>
            </a:endParaRPr>
          </a:p>
          <a:p>
            <a:r>
              <a:rPr lang="en-US" sz="1100" b="0">
                <a:latin typeface="Consolas"/>
                <a:ea typeface="Consolas"/>
                <a:cs typeface="Consolas"/>
              </a:rPr>
              <a:t>    public :</a:t>
            </a:r>
            <a:endParaRPr lang="en-US" sz="1100">
              <a:ea typeface="Calibri"/>
              <a:cs typeface="Calibri"/>
            </a:endParaRPr>
          </a:p>
          <a:p>
            <a:r>
              <a:rPr lang="en-US" sz="1100" b="0">
                <a:latin typeface="Consolas"/>
                <a:ea typeface="Consolas"/>
                <a:cs typeface="Consolas"/>
              </a:rPr>
              <a:t>        </a:t>
            </a:r>
            <a:r>
              <a:rPr lang="en-US" sz="1100">
                <a:latin typeface="Consolas"/>
                <a:ea typeface="Consolas"/>
                <a:cs typeface="Consolas"/>
              </a:rPr>
              <a:t>Circle(Point p1 , float radius , string name) : Shape2D(name) {</a:t>
            </a:r>
            <a:endParaRPr lang="en-US">
              <a:ea typeface="Calibri"/>
              <a:cs typeface="Calibri"/>
            </a:endParaRPr>
          </a:p>
          <a:p>
            <a:r>
              <a:rPr lang="en-US" sz="1100" b="0">
                <a:latin typeface="Consolas"/>
                <a:ea typeface="Consolas"/>
                <a:cs typeface="Consolas"/>
              </a:rPr>
              <a:t>            </a:t>
            </a:r>
            <a:r>
              <a:rPr lang="en-US" sz="1100">
                <a:solidFill>
                  <a:schemeClr val="accent2"/>
                </a:solidFill>
                <a:latin typeface="Consolas"/>
                <a:ea typeface="Consolas"/>
                <a:cs typeface="Consolas"/>
              </a:rPr>
              <a:t>this</a:t>
            </a:r>
            <a:r>
              <a:rPr lang="en-US" sz="1100">
                <a:latin typeface="Consolas"/>
                <a:ea typeface="Consolas"/>
                <a:cs typeface="Consolas"/>
              </a:rPr>
              <a:t>-&gt;p1 = p1 </a:t>
            </a:r>
            <a:r>
              <a:rPr lang="en-US" sz="1100" b="0">
                <a:latin typeface="Consolas"/>
                <a:ea typeface="Consolas"/>
                <a:cs typeface="Consolas"/>
              </a:rPr>
              <a:t>;</a:t>
            </a:r>
            <a:endParaRPr lang="en-US" sz="1100">
              <a:ea typeface="Calibri"/>
              <a:cs typeface="Calibri"/>
            </a:endParaRPr>
          </a:p>
          <a:p>
            <a:r>
              <a:rPr lang="en-US" sz="1100" b="0">
                <a:latin typeface="Consolas"/>
                <a:ea typeface="Consolas"/>
                <a:cs typeface="Consolas"/>
              </a:rPr>
              <a:t>        </a:t>
            </a:r>
            <a:r>
              <a:rPr lang="en-US" sz="1100">
                <a:latin typeface="Consolas"/>
                <a:ea typeface="Consolas"/>
                <a:cs typeface="Consolas"/>
              </a:rPr>
              <a:t>    </a:t>
            </a:r>
            <a:r>
              <a:rPr lang="en-US" sz="1100">
                <a:solidFill>
                  <a:schemeClr val="accent2"/>
                </a:solidFill>
                <a:latin typeface="Consolas"/>
                <a:ea typeface="Consolas"/>
                <a:cs typeface="Consolas"/>
              </a:rPr>
              <a:t>this</a:t>
            </a:r>
            <a:r>
              <a:rPr lang="en-US" sz="1100">
                <a:latin typeface="Consolas"/>
                <a:ea typeface="Consolas"/>
                <a:cs typeface="Consolas"/>
              </a:rPr>
              <a:t>-&gt;radius = radius </a:t>
            </a:r>
            <a:r>
              <a:rPr lang="en-US" sz="1100" b="0">
                <a:latin typeface="Consolas"/>
                <a:ea typeface="Consolas"/>
                <a:cs typeface="Consolas"/>
              </a:rPr>
              <a:t>;</a:t>
            </a:r>
            <a:endParaRPr lang="en-US" sz="1100">
              <a:ea typeface="Calibri"/>
              <a:cs typeface="Calibri"/>
            </a:endParaRPr>
          </a:p>
          <a:p>
            <a:r>
              <a:rPr lang="en-US" sz="1100" b="0">
                <a:latin typeface="Consolas"/>
                <a:ea typeface="Consolas"/>
                <a:cs typeface="Consolas"/>
              </a:rPr>
              <a:t>        }</a:t>
            </a:r>
            <a:endParaRPr lang="en-US" sz="1100">
              <a:ea typeface="Calibri"/>
              <a:cs typeface="Calibri"/>
            </a:endParaRPr>
          </a:p>
          <a:p>
            <a:r>
              <a:rPr lang="en-US" sz="1100" b="0">
                <a:latin typeface="Consolas"/>
                <a:ea typeface="Consolas"/>
                <a:cs typeface="Consolas"/>
              </a:rPr>
              <a:t>       </a:t>
            </a:r>
            <a:r>
              <a:rPr lang="en-US" sz="1100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en-US" sz="110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float </a:t>
            </a:r>
            <a:r>
              <a:rPr lang="en-US" sz="1100" err="1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talbai</a:t>
            </a:r>
            <a:r>
              <a:rPr lang="en-US" sz="110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() override {</a:t>
            </a:r>
            <a:endParaRPr lang="en-US">
              <a:solidFill>
                <a:srgbClr val="0070C0"/>
              </a:solidFill>
              <a:ea typeface="Calibri"/>
              <a:cs typeface="Calibri"/>
            </a:endParaRPr>
          </a:p>
          <a:p>
            <a:r>
              <a:rPr lang="en-US" sz="110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        </a:t>
            </a:r>
            <a:r>
              <a:rPr lang="en-US" sz="1100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    return </a:t>
            </a:r>
            <a:r>
              <a:rPr lang="en-US" sz="110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3.14 * this-&gt;radius * this-&gt;radius ;}</a:t>
            </a:r>
            <a:endParaRPr lang="en-US" sz="1100">
              <a:solidFill>
                <a:srgbClr val="0070C0"/>
              </a:solidFill>
              <a:ea typeface="Calibri"/>
              <a:cs typeface="Calibri"/>
            </a:endParaRPr>
          </a:p>
          <a:p>
            <a:r>
              <a:rPr lang="en-US" sz="1100">
                <a:solidFill>
                  <a:srgbClr val="0070C0"/>
                </a:solidFill>
                <a:latin typeface="Consolas"/>
              </a:rPr>
              <a:t>        float </a:t>
            </a:r>
            <a:r>
              <a:rPr lang="en-US" sz="1100" err="1">
                <a:solidFill>
                  <a:srgbClr val="0070C0"/>
                </a:solidFill>
                <a:latin typeface="Consolas"/>
              </a:rPr>
              <a:t>perimetr</a:t>
            </a:r>
            <a:r>
              <a:rPr lang="en-US" sz="1100">
                <a:solidFill>
                  <a:srgbClr val="0070C0"/>
                </a:solidFill>
                <a:latin typeface="Consolas"/>
              </a:rPr>
              <a:t>() override {</a:t>
            </a:r>
            <a:endParaRPr lang="en-US">
              <a:solidFill>
                <a:srgbClr val="0070C0"/>
              </a:solidFill>
              <a:ea typeface="Calibri"/>
              <a:cs typeface="Calibri"/>
            </a:endParaRPr>
          </a:p>
          <a:p>
            <a:r>
              <a:rPr lang="en-US" sz="1100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            </a:t>
            </a:r>
            <a:r>
              <a:rPr lang="en-US" sz="110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return 2 * 3.14 * this-&gt;radius ;}</a:t>
            </a:r>
            <a:endParaRPr lang="en-US" sz="1100">
              <a:solidFill>
                <a:srgbClr val="0070C0"/>
              </a:solidFill>
              <a:ea typeface="Calibri"/>
              <a:cs typeface="Calibri"/>
            </a:endParaRPr>
          </a:p>
          <a:p>
            <a:endParaRPr lang="en-US" sz="1200" b="0">
              <a:solidFill>
                <a:srgbClr val="A5D6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1" name="Text 16">
            <a:extLst>
              <a:ext uri="{FF2B5EF4-FFF2-40B4-BE49-F238E27FC236}">
                <a16:creationId xmlns:a16="http://schemas.microsoft.com/office/drawing/2014/main" id="{3989EE2A-6C05-47B5-DC43-078981A402B0}"/>
              </a:ext>
            </a:extLst>
          </p:cNvPr>
          <p:cNvSpPr/>
          <p:nvPr/>
        </p:nvSpPr>
        <p:spPr>
          <a:xfrm>
            <a:off x="5148224" y="110098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err="1">
                <a:latin typeface="Times New Roman"/>
                <a:ea typeface="Calibri"/>
                <a:cs typeface="Times New Roman"/>
              </a:rPr>
              <a:t>Эх</a:t>
            </a:r>
            <a:r>
              <a:rPr lang="en-US">
                <a:latin typeface="Times New Roman"/>
                <a:ea typeface="Calibri"/>
                <a:cs typeface="Times New Roman"/>
              </a:rPr>
              <a:t> </a:t>
            </a:r>
            <a:r>
              <a:rPr lang="en-US" err="1">
                <a:latin typeface="Times New Roman"/>
                <a:ea typeface="Calibri"/>
                <a:cs typeface="Times New Roman"/>
              </a:rPr>
              <a:t>классаас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хийсвэр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функцийг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авч</a:t>
            </a:r>
            <a:r>
              <a:rPr lang="en-US">
                <a:latin typeface="Times New Roman"/>
                <a:ea typeface="Calibri"/>
                <a:cs typeface="Times New Roman"/>
              </a:rPr>
              <a:t> </a:t>
            </a:r>
            <a:r>
              <a:rPr lang="en-US">
                <a:solidFill>
                  <a:schemeClr val="accent1"/>
                </a:solidFill>
                <a:latin typeface="Times New Roman"/>
                <a:ea typeface="Calibri"/>
                <a:cs typeface="Times New Roman"/>
              </a:rPr>
              <a:t>override </a:t>
            </a:r>
            <a:r>
              <a:rPr lang="en-US" err="1">
                <a:latin typeface="Times New Roman"/>
                <a:ea typeface="Calibri"/>
                <a:cs typeface="Times New Roman"/>
              </a:rPr>
              <a:t>буюу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дахин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программчилж</a:t>
            </a:r>
            <a:r>
              <a:rPr lang="en-US">
                <a:latin typeface="Times New Roman"/>
                <a:ea typeface="Calibri"/>
                <a:cs typeface="Times New Roman"/>
              </a:rPr>
              <a:t> </a:t>
            </a:r>
            <a:r>
              <a:rPr lang="en-US" err="1">
                <a:latin typeface="Times New Roman"/>
                <a:ea typeface="Calibri"/>
                <a:cs typeface="Times New Roman"/>
              </a:rPr>
              <a:t>удамшсан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классуудад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хэрэгжүүлнэ</a:t>
            </a:r>
            <a:r>
              <a:rPr lang="en-US">
                <a:latin typeface="Times New Roman"/>
                <a:ea typeface="Calibri"/>
                <a:cs typeface="Times New Roman"/>
              </a:rPr>
              <a:t>., </a:t>
            </a:r>
            <a:r>
              <a:rPr lang="en-US" err="1">
                <a:latin typeface="Times New Roman"/>
                <a:ea typeface="Calibri"/>
                <a:cs typeface="Times New Roman"/>
              </a:rPr>
              <a:t>утгыг</a:t>
            </a:r>
            <a:r>
              <a:rPr lang="en-US">
                <a:latin typeface="Times New Roman"/>
                <a:ea typeface="Calibri"/>
                <a:cs typeface="Times New Roman"/>
              </a:rPr>
              <a:t> </a:t>
            </a:r>
            <a:r>
              <a:rPr lang="en-US" err="1">
                <a:latin typeface="Times New Roman"/>
                <a:ea typeface="Calibri"/>
                <a:cs typeface="Times New Roman"/>
              </a:rPr>
              <a:t>харуулах</a:t>
            </a:r>
            <a:r>
              <a:rPr lang="en-US">
                <a:latin typeface="Times New Roman"/>
                <a:ea typeface="Calibri"/>
                <a:cs typeface="Times New Roman"/>
              </a:rPr>
              <a:t> static </a:t>
            </a:r>
            <a:r>
              <a:rPr lang="en-US" err="1">
                <a:latin typeface="Times New Roman"/>
                <a:ea typeface="Calibri"/>
                <a:cs typeface="Times New Roman"/>
              </a:rPr>
              <a:t>гишүүн</a:t>
            </a:r>
            <a:r>
              <a:rPr lang="en-US">
                <a:latin typeface="Times New Roman"/>
                <a:ea typeface="Calibri"/>
                <a:cs typeface="Times New Roman"/>
              </a:rPr>
              <a:t> </a:t>
            </a:r>
            <a:r>
              <a:rPr lang="en-US" err="1">
                <a:latin typeface="Times New Roman"/>
                <a:ea typeface="Calibri"/>
                <a:cs typeface="Times New Roman"/>
              </a:rPr>
              <a:t>функц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бичнэ</a:t>
            </a:r>
            <a:r>
              <a:rPr lang="en-US">
                <a:latin typeface="Times New Roman"/>
                <a:ea typeface="Calibri"/>
                <a:cs typeface="Times New Roman"/>
              </a:rPr>
              <a:t>.</a:t>
            </a:r>
          </a:p>
        </p:txBody>
      </p:sp>
      <p:sp>
        <p:nvSpPr>
          <p:cNvPr id="13" name="Text 16">
            <a:extLst>
              <a:ext uri="{FF2B5EF4-FFF2-40B4-BE49-F238E27FC236}">
                <a16:creationId xmlns:a16="http://schemas.microsoft.com/office/drawing/2014/main" id="{1F4592B5-A491-4936-608A-2A099EE0B979}"/>
              </a:ext>
            </a:extLst>
          </p:cNvPr>
          <p:cNvSpPr/>
          <p:nvPr/>
        </p:nvSpPr>
        <p:spPr>
          <a:xfrm>
            <a:off x="5147866" y="2997193"/>
            <a:ext cx="3200400" cy="2740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err="1">
                <a:latin typeface="Times New Roman"/>
                <a:ea typeface="Calibri"/>
                <a:cs typeface="Times New Roman"/>
              </a:rPr>
              <a:t>Параметртэй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байгуулагч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функц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болон</a:t>
            </a:r>
            <a:r>
              <a:rPr lang="en-US">
                <a:latin typeface="Times New Roman"/>
                <a:ea typeface="Calibri"/>
                <a:cs typeface="Times New Roman"/>
              </a:rPr>
              <a:t> </a:t>
            </a:r>
            <a:r>
              <a:rPr lang="en-US" err="1">
                <a:latin typeface="Times New Roman"/>
                <a:ea typeface="Calibri"/>
                <a:cs typeface="Times New Roman"/>
              </a:rPr>
              <a:t>хийсвэр</a:t>
            </a:r>
            <a:r>
              <a:rPr lang="en-US">
                <a:latin typeface="Times New Roman"/>
                <a:ea typeface="Calibri"/>
                <a:cs typeface="Times New Roman"/>
              </a:rPr>
              <a:t> </a:t>
            </a:r>
            <a:r>
              <a:rPr lang="en-US" err="1">
                <a:latin typeface="Times New Roman"/>
                <a:ea typeface="Calibri"/>
                <a:cs typeface="Times New Roman"/>
              </a:rPr>
              <a:t>функцийг</a:t>
            </a:r>
            <a:r>
              <a:rPr lang="en-US">
                <a:latin typeface="Times New Roman"/>
                <a:ea typeface="Calibri"/>
                <a:cs typeface="Times New Roman"/>
              </a:rPr>
              <a:t> </a:t>
            </a:r>
            <a:r>
              <a:rPr lang="en-US" err="1">
                <a:latin typeface="Times New Roman"/>
                <a:ea typeface="Calibri"/>
                <a:cs typeface="Times New Roman"/>
              </a:rPr>
              <a:t>эх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классаас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удамшуулан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авч</a:t>
            </a:r>
            <a:r>
              <a:rPr lang="en-US">
                <a:latin typeface="Times New Roman"/>
                <a:ea typeface="Calibri"/>
                <a:cs typeface="Times New Roman"/>
              </a:rPr>
              <a:t> </a:t>
            </a:r>
            <a:r>
              <a:rPr lang="en-US" err="1">
                <a:latin typeface="Times New Roman"/>
                <a:ea typeface="Calibri"/>
                <a:cs typeface="Times New Roman"/>
              </a:rPr>
              <a:t>хэргжүүлэхдээ</a:t>
            </a:r>
            <a:r>
              <a:rPr lang="en-US">
                <a:latin typeface="Times New Roman"/>
                <a:ea typeface="Calibri"/>
                <a:cs typeface="Times New Roman"/>
              </a:rPr>
              <a:t> this </a:t>
            </a:r>
            <a:r>
              <a:rPr lang="en-US" err="1">
                <a:latin typeface="Times New Roman"/>
                <a:ea typeface="Calibri"/>
                <a:cs typeface="Times New Roman"/>
              </a:rPr>
              <a:t>хувьсагчийг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ашиглана</a:t>
            </a:r>
            <a:r>
              <a:rPr lang="en-US">
                <a:latin typeface="Times New Roman"/>
                <a:ea typeface="Calibri"/>
                <a:cs typeface="Times New Roman"/>
              </a:rPr>
              <a:t>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7FC6990-F1CF-41CF-D49E-549FF1DA801F}"/>
              </a:ext>
            </a:extLst>
          </p:cNvPr>
          <p:cNvSpPr txBox="1"/>
          <p:nvPr/>
        </p:nvSpPr>
        <p:spPr>
          <a:xfrm>
            <a:off x="4844562" y="400050"/>
            <a:ext cx="307731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="0" i="0" u="none" strike="noStrike" baseline="0">
                <a:solidFill>
                  <a:srgbClr val="000000"/>
                </a:solidFill>
                <a:latin typeface="Calibri"/>
              </a:rPr>
              <a:t>•</a:t>
            </a:r>
            <a:endParaRPr lang="en-US"/>
          </a:p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1B1B662-453C-41B0-FAAF-6165391627B0}"/>
              </a:ext>
            </a:extLst>
          </p:cNvPr>
          <p:cNvSpPr txBox="1"/>
          <p:nvPr/>
        </p:nvSpPr>
        <p:spPr>
          <a:xfrm>
            <a:off x="4844562" y="2413489"/>
            <a:ext cx="307731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="0" i="0" u="none" strike="noStrike" baseline="0">
                <a:solidFill>
                  <a:srgbClr val="000000"/>
                </a:solidFill>
                <a:latin typeface="Calibri"/>
              </a:rPr>
              <a:t>•</a:t>
            </a:r>
            <a:endParaRPr lang="en-US"/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8291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1AB0A9-0E5B-8B8E-63C0-F95F5E28F7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E1B48479-DAEA-79F7-02A9-61D7D7F37033}"/>
              </a:ext>
            </a:extLst>
          </p:cNvPr>
          <p:cNvSpPr/>
          <p:nvPr/>
        </p:nvSpPr>
        <p:spPr>
          <a:xfrm>
            <a:off x="1802423" y="-133643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>
                <a:latin typeface="Times New Roman"/>
                <a:ea typeface="Calibri"/>
                <a:cs typeface="Times New Roman"/>
              </a:rPr>
              <a:t>ХЭРЭГЖҮҮЛЭЛТ  —  </a:t>
            </a:r>
            <a:r>
              <a:rPr lang="en-US" sz="2000" b="1" err="1">
                <a:latin typeface="Times New Roman"/>
                <a:ea typeface="Calibri"/>
                <a:cs typeface="Times New Roman"/>
              </a:rPr>
              <a:t>Үндсэн</a:t>
            </a:r>
            <a:r>
              <a:rPr lang="en-US" sz="2000" b="1">
                <a:latin typeface="Times New Roman"/>
                <a:ea typeface="Calibri"/>
                <a:cs typeface="Times New Roman"/>
              </a:rPr>
              <a:t> </a:t>
            </a:r>
            <a:r>
              <a:rPr lang="en-US" sz="2000" b="1" err="1">
                <a:latin typeface="Times New Roman"/>
                <a:ea typeface="Calibri"/>
                <a:cs typeface="Times New Roman"/>
              </a:rPr>
              <a:t>Кодын</a:t>
            </a:r>
            <a:r>
              <a:rPr lang="en-US" sz="2000" b="1">
                <a:latin typeface="Times New Roman"/>
                <a:ea typeface="Calibri"/>
                <a:cs typeface="Times New Roman"/>
              </a:rPr>
              <a:t> </a:t>
            </a:r>
            <a:r>
              <a:rPr lang="en-US" sz="2000" b="1" err="1">
                <a:latin typeface="Times New Roman"/>
                <a:ea typeface="Calibri"/>
                <a:cs typeface="Times New Roman"/>
              </a:rPr>
              <a:t>Тайлбар</a:t>
            </a:r>
            <a:r>
              <a:rPr lang="en-US" sz="2000" b="1">
                <a:latin typeface="Times New Roman"/>
                <a:ea typeface="Calibri"/>
                <a:cs typeface="Times New Roman"/>
              </a:rPr>
              <a:t> 3</a:t>
            </a:r>
            <a:endParaRPr lang="en-US" sz="2000" err="1">
              <a:latin typeface="Times New Roman"/>
              <a:ea typeface="Calibri"/>
              <a:cs typeface="Times New Roman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C6A42F-13D8-8727-7A49-45E76093A010}"/>
              </a:ext>
            </a:extLst>
          </p:cNvPr>
          <p:cNvSpPr txBox="1"/>
          <p:nvPr/>
        </p:nvSpPr>
        <p:spPr>
          <a:xfrm>
            <a:off x="-66710" y="288"/>
            <a:ext cx="4572000" cy="533992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100">
                <a:latin typeface="Consolas"/>
              </a:rPr>
              <a:t>  }</a:t>
            </a:r>
            <a:endParaRPr lang="en-US">
              <a:ea typeface="Calibri"/>
              <a:cs typeface="Calibri"/>
            </a:endParaRPr>
          </a:p>
          <a:p>
            <a:r>
              <a:rPr lang="en-US" sz="1100">
                <a:latin typeface="Consolas"/>
              </a:rPr>
              <a:t>        </a:t>
            </a:r>
            <a:r>
              <a:rPr lang="en-US" sz="1100">
                <a:solidFill>
                  <a:srgbClr val="0070C0"/>
                </a:solidFill>
                <a:latin typeface="Consolas"/>
              </a:rPr>
              <a:t>~Circle() override {}</a:t>
            </a:r>
            <a:endParaRPr lang="en-US">
              <a:solidFill>
                <a:srgbClr val="0070C0"/>
              </a:solidFill>
              <a:ea typeface="Calibri"/>
              <a:cs typeface="Calibri"/>
            </a:endParaRPr>
          </a:p>
          <a:p>
            <a:r>
              <a:rPr lang="en-US" sz="1100" b="0">
                <a:latin typeface="Consolas"/>
                <a:ea typeface="Consolas"/>
                <a:cs typeface="Consolas"/>
              </a:rPr>
              <a:t>} ;</a:t>
            </a:r>
            <a:endParaRPr lang="en-US">
              <a:ea typeface="Calibri"/>
              <a:cs typeface="Calibri"/>
            </a:endParaRPr>
          </a:p>
          <a:p>
            <a:r>
              <a:rPr lang="en-US" sz="1100" b="0">
                <a:solidFill>
                  <a:srgbClr val="FF0000"/>
                </a:solidFill>
                <a:latin typeface="Consolas"/>
                <a:ea typeface="Consolas"/>
                <a:cs typeface="Consolas"/>
              </a:rPr>
              <a:t>class </a:t>
            </a:r>
            <a:r>
              <a:rPr lang="en-US" sz="1100">
                <a:solidFill>
                  <a:srgbClr val="FF0000"/>
                </a:solidFill>
                <a:latin typeface="Consolas"/>
                <a:ea typeface="Consolas"/>
                <a:cs typeface="Consolas"/>
              </a:rPr>
              <a:t>Square : public Shape2D</a:t>
            </a:r>
            <a:r>
              <a:rPr lang="en-US" sz="1100">
                <a:latin typeface="Consolas"/>
                <a:ea typeface="Consolas"/>
                <a:cs typeface="Consolas"/>
              </a:rPr>
              <a:t> </a:t>
            </a:r>
            <a:r>
              <a:rPr lang="en-US" sz="1100" b="0">
                <a:latin typeface="Consolas"/>
                <a:ea typeface="Consolas"/>
                <a:cs typeface="Consolas"/>
              </a:rPr>
              <a:t>{</a:t>
            </a:r>
            <a:endParaRPr lang="en-US">
              <a:ea typeface="Calibri"/>
              <a:cs typeface="Calibri"/>
            </a:endParaRPr>
          </a:p>
          <a:p>
            <a:r>
              <a:rPr lang="en-US" sz="1100" b="0">
                <a:latin typeface="Consolas"/>
                <a:ea typeface="Consolas"/>
                <a:cs typeface="Consolas"/>
              </a:rPr>
              <a:t>    protected :</a:t>
            </a:r>
            <a:endParaRPr lang="en-US">
              <a:ea typeface="Calibri"/>
              <a:cs typeface="Calibri"/>
            </a:endParaRPr>
          </a:p>
          <a:p>
            <a:r>
              <a:rPr lang="en-US" sz="1100" b="0">
                <a:latin typeface="Consolas"/>
                <a:ea typeface="Consolas"/>
                <a:cs typeface="Consolas"/>
              </a:rPr>
              <a:t>        </a:t>
            </a:r>
            <a:r>
              <a:rPr lang="en-US" sz="1100">
                <a:latin typeface="Consolas"/>
                <a:ea typeface="Consolas"/>
                <a:cs typeface="Consolas"/>
              </a:rPr>
              <a:t>Point p1 , p2 , p3 , p4 ;</a:t>
            </a:r>
            <a:endParaRPr lang="en-US">
              <a:ea typeface="Calibri"/>
              <a:cs typeface="Calibri"/>
            </a:endParaRPr>
          </a:p>
          <a:p>
            <a:r>
              <a:rPr lang="en-US" sz="1100">
                <a:latin typeface="Consolas"/>
                <a:ea typeface="Consolas"/>
                <a:cs typeface="Consolas"/>
              </a:rPr>
              <a:t>        float </a:t>
            </a:r>
            <a:r>
              <a:rPr lang="en-US" sz="1100" err="1">
                <a:latin typeface="Consolas"/>
                <a:ea typeface="Consolas"/>
                <a:cs typeface="Consolas"/>
              </a:rPr>
              <a:t>tal</a:t>
            </a:r>
            <a:r>
              <a:rPr lang="en-US" sz="1100">
                <a:latin typeface="Consolas"/>
                <a:ea typeface="Consolas"/>
                <a:cs typeface="Consolas"/>
              </a:rPr>
              <a:t> </a:t>
            </a:r>
            <a:r>
              <a:rPr lang="en-US" sz="1100" b="0">
                <a:latin typeface="Consolas"/>
                <a:ea typeface="Consolas"/>
                <a:cs typeface="Consolas"/>
              </a:rPr>
              <a:t>;</a:t>
            </a:r>
            <a:endParaRPr lang="en-US">
              <a:ea typeface="Calibri"/>
              <a:cs typeface="Calibri"/>
            </a:endParaRPr>
          </a:p>
          <a:p>
            <a:r>
              <a:rPr lang="en-US" sz="1100" b="0">
                <a:latin typeface="Consolas"/>
                <a:ea typeface="Consolas"/>
                <a:cs typeface="Consolas"/>
              </a:rPr>
              <a:t>    public :</a:t>
            </a:r>
            <a:endParaRPr lang="en-US">
              <a:ea typeface="Calibri"/>
              <a:cs typeface="Calibri"/>
            </a:endParaRPr>
          </a:p>
          <a:p>
            <a:r>
              <a:rPr lang="en-US" sz="1100" b="0">
                <a:latin typeface="Consolas"/>
                <a:ea typeface="Consolas"/>
                <a:cs typeface="Consolas"/>
              </a:rPr>
              <a:t>        </a:t>
            </a:r>
            <a:r>
              <a:rPr lang="en-US" sz="1100">
                <a:latin typeface="Consolas"/>
                <a:ea typeface="Consolas"/>
                <a:cs typeface="Consolas"/>
              </a:rPr>
              <a:t>Square(Point </a:t>
            </a:r>
            <a:r>
              <a:rPr lang="en-US" sz="1100" err="1">
                <a:latin typeface="Consolas"/>
                <a:ea typeface="Consolas"/>
                <a:cs typeface="Consolas"/>
              </a:rPr>
              <a:t>topLeft</a:t>
            </a:r>
            <a:r>
              <a:rPr lang="en-US" sz="1100">
                <a:latin typeface="Consolas"/>
                <a:ea typeface="Consolas"/>
                <a:cs typeface="Consolas"/>
              </a:rPr>
              <a:t>, float length, string name) : Shape2D(name) {</a:t>
            </a:r>
            <a:endParaRPr lang="en-US">
              <a:ea typeface="Calibri"/>
              <a:cs typeface="Calibri"/>
            </a:endParaRPr>
          </a:p>
          <a:p>
            <a:r>
              <a:rPr lang="en-US" sz="1100" b="0">
                <a:latin typeface="Consolas"/>
                <a:ea typeface="Consolas"/>
                <a:cs typeface="Consolas"/>
              </a:rPr>
              <a:t>            </a:t>
            </a:r>
            <a:r>
              <a:rPr lang="en-US" sz="1100">
                <a:solidFill>
                  <a:schemeClr val="accent2"/>
                </a:solidFill>
                <a:latin typeface="Consolas"/>
                <a:ea typeface="Consolas"/>
                <a:cs typeface="Consolas"/>
              </a:rPr>
              <a:t>this</a:t>
            </a:r>
            <a:r>
              <a:rPr lang="en-US" sz="1100">
                <a:latin typeface="Consolas"/>
                <a:ea typeface="Consolas"/>
                <a:cs typeface="Consolas"/>
              </a:rPr>
              <a:t>-&gt;p1 = </a:t>
            </a:r>
            <a:r>
              <a:rPr lang="en-US" sz="1100" err="1">
                <a:latin typeface="Consolas"/>
                <a:ea typeface="Consolas"/>
                <a:cs typeface="Consolas"/>
              </a:rPr>
              <a:t>topLeft</a:t>
            </a:r>
            <a:r>
              <a:rPr lang="en-US" sz="1100" b="0">
                <a:latin typeface="Consolas"/>
                <a:ea typeface="Consolas"/>
                <a:cs typeface="Consolas"/>
              </a:rPr>
              <a:t>;</a:t>
            </a:r>
            <a:endParaRPr lang="en-US">
              <a:ea typeface="Calibri"/>
              <a:cs typeface="Calibri"/>
            </a:endParaRPr>
          </a:p>
          <a:p>
            <a:r>
              <a:rPr lang="en-US" sz="1100" b="0">
                <a:latin typeface="Consolas"/>
                <a:ea typeface="Consolas"/>
                <a:cs typeface="Consolas"/>
              </a:rPr>
              <a:t>        </a:t>
            </a:r>
            <a:r>
              <a:rPr lang="en-US" sz="1100">
                <a:latin typeface="Consolas"/>
                <a:ea typeface="Consolas"/>
                <a:cs typeface="Consolas"/>
              </a:rPr>
              <a:t>    </a:t>
            </a:r>
            <a:r>
              <a:rPr lang="en-US" sz="1100">
                <a:solidFill>
                  <a:schemeClr val="accent2"/>
                </a:solidFill>
                <a:latin typeface="Consolas"/>
                <a:ea typeface="Consolas"/>
                <a:cs typeface="Consolas"/>
              </a:rPr>
              <a:t>this</a:t>
            </a:r>
            <a:r>
              <a:rPr lang="en-US" sz="1100">
                <a:latin typeface="Consolas"/>
                <a:ea typeface="Consolas"/>
                <a:cs typeface="Consolas"/>
              </a:rPr>
              <a:t>-&gt;p2 = {</a:t>
            </a:r>
            <a:r>
              <a:rPr lang="en-US" sz="1100" err="1">
                <a:latin typeface="Consolas"/>
                <a:ea typeface="Consolas"/>
                <a:cs typeface="Consolas"/>
              </a:rPr>
              <a:t>topLeft.x</a:t>
            </a:r>
            <a:r>
              <a:rPr lang="en-US" sz="1100">
                <a:latin typeface="Consolas"/>
                <a:ea typeface="Consolas"/>
                <a:cs typeface="Consolas"/>
              </a:rPr>
              <a:t> + length, </a:t>
            </a:r>
            <a:r>
              <a:rPr lang="en-US" sz="1100" err="1">
                <a:latin typeface="Consolas"/>
                <a:ea typeface="Consolas"/>
                <a:cs typeface="Consolas"/>
              </a:rPr>
              <a:t>topLeft.y</a:t>
            </a:r>
            <a:r>
              <a:rPr lang="en-US" sz="1100">
                <a:latin typeface="Consolas"/>
                <a:ea typeface="Consolas"/>
                <a:cs typeface="Consolas"/>
              </a:rPr>
              <a:t>};</a:t>
            </a:r>
            <a:endParaRPr lang="en-US">
              <a:ea typeface="Calibri"/>
              <a:cs typeface="Calibri"/>
            </a:endParaRPr>
          </a:p>
          <a:p>
            <a:r>
              <a:rPr lang="en-US" sz="1100">
                <a:latin typeface="Consolas"/>
                <a:ea typeface="Consolas"/>
                <a:cs typeface="Consolas"/>
              </a:rPr>
              <a:t>            </a:t>
            </a:r>
            <a:r>
              <a:rPr lang="en-US" sz="1100">
                <a:solidFill>
                  <a:schemeClr val="accent2"/>
                </a:solidFill>
                <a:latin typeface="Consolas"/>
                <a:ea typeface="Consolas"/>
                <a:cs typeface="Consolas"/>
              </a:rPr>
              <a:t>this</a:t>
            </a:r>
            <a:r>
              <a:rPr lang="en-US" sz="1100">
                <a:latin typeface="Consolas"/>
                <a:ea typeface="Consolas"/>
                <a:cs typeface="Consolas"/>
              </a:rPr>
              <a:t>-&gt;p3 = {</a:t>
            </a:r>
            <a:r>
              <a:rPr lang="en-US" sz="1100" err="1">
                <a:latin typeface="Consolas"/>
                <a:ea typeface="Consolas"/>
                <a:cs typeface="Consolas"/>
              </a:rPr>
              <a:t>topLeft.x</a:t>
            </a:r>
            <a:r>
              <a:rPr lang="en-US" sz="1100">
                <a:latin typeface="Consolas"/>
                <a:ea typeface="Consolas"/>
                <a:cs typeface="Consolas"/>
              </a:rPr>
              <a:t> + length, </a:t>
            </a:r>
            <a:r>
              <a:rPr lang="en-US" sz="1100" err="1">
                <a:latin typeface="Consolas"/>
                <a:ea typeface="Consolas"/>
                <a:cs typeface="Consolas"/>
              </a:rPr>
              <a:t>topLeft.y</a:t>
            </a:r>
            <a:r>
              <a:rPr lang="en-US" sz="1100">
                <a:latin typeface="Consolas"/>
                <a:ea typeface="Consolas"/>
                <a:cs typeface="Consolas"/>
              </a:rPr>
              <a:t> - length};</a:t>
            </a:r>
            <a:endParaRPr lang="en-US">
              <a:ea typeface="Calibri"/>
              <a:cs typeface="Calibri"/>
            </a:endParaRPr>
          </a:p>
          <a:p>
            <a:r>
              <a:rPr lang="en-US" sz="1100">
                <a:latin typeface="Consolas"/>
                <a:ea typeface="Consolas"/>
                <a:cs typeface="Consolas"/>
              </a:rPr>
              <a:t>            </a:t>
            </a:r>
            <a:r>
              <a:rPr lang="en-US" sz="1100">
                <a:solidFill>
                  <a:schemeClr val="accent2"/>
                </a:solidFill>
                <a:latin typeface="Consolas"/>
                <a:ea typeface="Consolas"/>
                <a:cs typeface="Consolas"/>
              </a:rPr>
              <a:t>this</a:t>
            </a:r>
            <a:r>
              <a:rPr lang="en-US" sz="1100">
                <a:latin typeface="Consolas"/>
                <a:ea typeface="Consolas"/>
                <a:cs typeface="Consolas"/>
              </a:rPr>
              <a:t>-&gt;p4 = {</a:t>
            </a:r>
            <a:r>
              <a:rPr lang="en-US" sz="1100" err="1">
                <a:latin typeface="Consolas"/>
                <a:ea typeface="Consolas"/>
                <a:cs typeface="Consolas"/>
              </a:rPr>
              <a:t>topLeft.x</a:t>
            </a:r>
            <a:r>
              <a:rPr lang="en-US" sz="1100">
                <a:latin typeface="Consolas"/>
                <a:ea typeface="Consolas"/>
                <a:cs typeface="Consolas"/>
              </a:rPr>
              <a:t>, </a:t>
            </a:r>
            <a:r>
              <a:rPr lang="en-US" sz="1100" err="1">
                <a:latin typeface="Consolas"/>
                <a:ea typeface="Consolas"/>
                <a:cs typeface="Consolas"/>
              </a:rPr>
              <a:t>topLeft.y</a:t>
            </a:r>
            <a:r>
              <a:rPr lang="en-US" sz="1100">
                <a:latin typeface="Consolas"/>
                <a:ea typeface="Consolas"/>
                <a:cs typeface="Consolas"/>
              </a:rPr>
              <a:t> - length};</a:t>
            </a:r>
            <a:endParaRPr lang="en-US">
              <a:ea typeface="Calibri"/>
              <a:cs typeface="Calibri"/>
            </a:endParaRPr>
          </a:p>
          <a:p>
            <a:r>
              <a:rPr lang="en-US" sz="1100">
                <a:latin typeface="Consolas"/>
                <a:ea typeface="Consolas"/>
                <a:cs typeface="Consolas"/>
              </a:rPr>
              <a:t>            </a:t>
            </a:r>
            <a:r>
              <a:rPr lang="en-US" sz="1100">
                <a:solidFill>
                  <a:schemeClr val="accent2"/>
                </a:solidFill>
                <a:latin typeface="Consolas"/>
                <a:ea typeface="Consolas"/>
                <a:cs typeface="Consolas"/>
              </a:rPr>
              <a:t>this</a:t>
            </a:r>
            <a:r>
              <a:rPr lang="en-US" sz="1100">
                <a:latin typeface="Consolas"/>
                <a:ea typeface="Consolas"/>
                <a:cs typeface="Consolas"/>
              </a:rPr>
              <a:t>-&gt;</a:t>
            </a:r>
            <a:r>
              <a:rPr lang="en-US" sz="1100" err="1">
                <a:latin typeface="Consolas"/>
                <a:ea typeface="Consolas"/>
                <a:cs typeface="Consolas"/>
              </a:rPr>
              <a:t>tal</a:t>
            </a:r>
            <a:r>
              <a:rPr lang="en-US" sz="1100">
                <a:latin typeface="Consolas"/>
                <a:ea typeface="Consolas"/>
                <a:cs typeface="Consolas"/>
              </a:rPr>
              <a:t> = length</a:t>
            </a:r>
            <a:r>
              <a:rPr lang="en-US" sz="1100" b="0">
                <a:latin typeface="Consolas"/>
                <a:ea typeface="Consolas"/>
                <a:cs typeface="Consolas"/>
              </a:rPr>
              <a:t>;</a:t>
            </a:r>
            <a:endParaRPr lang="en-US">
              <a:ea typeface="Calibri"/>
              <a:cs typeface="Calibri"/>
            </a:endParaRPr>
          </a:p>
          <a:p>
            <a:r>
              <a:rPr lang="en-US" sz="1100" b="0">
                <a:latin typeface="Consolas"/>
                <a:ea typeface="Consolas"/>
                <a:cs typeface="Consolas"/>
              </a:rPr>
              <a:t>        }</a:t>
            </a:r>
            <a:endParaRPr lang="en-US">
              <a:ea typeface="Calibri"/>
              <a:cs typeface="Calibri"/>
            </a:endParaRPr>
          </a:p>
          <a:p>
            <a:r>
              <a:rPr lang="en-US" sz="1100" b="0">
                <a:latin typeface="Consolas"/>
                <a:ea typeface="Consolas"/>
                <a:cs typeface="Consolas"/>
              </a:rPr>
              <a:t>      </a:t>
            </a:r>
            <a:r>
              <a:rPr lang="en-US" sz="1100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  </a:t>
            </a:r>
            <a:r>
              <a:rPr lang="en-US" sz="110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float </a:t>
            </a:r>
            <a:r>
              <a:rPr lang="en-US" sz="1100" err="1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talbai</a:t>
            </a:r>
            <a:r>
              <a:rPr lang="en-US" sz="110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() override {</a:t>
            </a:r>
            <a:endParaRPr lang="en-US">
              <a:solidFill>
                <a:srgbClr val="0070C0"/>
              </a:solidFill>
              <a:ea typeface="Calibri"/>
              <a:cs typeface="Calibri"/>
            </a:endParaRPr>
          </a:p>
          <a:p>
            <a:r>
              <a:rPr lang="en-US" sz="110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        </a:t>
            </a:r>
            <a:r>
              <a:rPr lang="en-US" sz="1100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    return </a:t>
            </a:r>
            <a:r>
              <a:rPr lang="en-US" sz="110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this-&gt;</a:t>
            </a:r>
            <a:r>
              <a:rPr lang="en-US" sz="1100" err="1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tal</a:t>
            </a:r>
            <a:r>
              <a:rPr lang="en-US" sz="110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 * this-&gt;</a:t>
            </a:r>
            <a:r>
              <a:rPr lang="en-US" sz="1100" err="1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tal</a:t>
            </a:r>
            <a:r>
              <a:rPr lang="en-US" sz="110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en-US" sz="1100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;</a:t>
            </a:r>
            <a:endParaRPr lang="en-US">
              <a:solidFill>
                <a:srgbClr val="0070C0"/>
              </a:solidFill>
              <a:ea typeface="Calibri"/>
              <a:cs typeface="Calibri"/>
            </a:endParaRPr>
          </a:p>
          <a:p>
            <a:r>
              <a:rPr lang="en-US" sz="1100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        }</a:t>
            </a:r>
            <a:endParaRPr lang="en-US">
              <a:solidFill>
                <a:srgbClr val="0070C0"/>
              </a:solidFill>
              <a:ea typeface="Calibri"/>
              <a:cs typeface="Calibri"/>
            </a:endParaRPr>
          </a:p>
          <a:p>
            <a:r>
              <a:rPr lang="en-US" sz="1100">
                <a:solidFill>
                  <a:srgbClr val="0070C0"/>
                </a:solidFill>
                <a:latin typeface="Consolas"/>
              </a:rPr>
              <a:t>        float </a:t>
            </a:r>
            <a:r>
              <a:rPr lang="en-US" sz="1100" err="1">
                <a:solidFill>
                  <a:srgbClr val="0070C0"/>
                </a:solidFill>
                <a:latin typeface="Consolas"/>
              </a:rPr>
              <a:t>perimetr</a:t>
            </a:r>
            <a:r>
              <a:rPr lang="en-US" sz="1100">
                <a:solidFill>
                  <a:srgbClr val="0070C0"/>
                </a:solidFill>
                <a:latin typeface="Consolas"/>
              </a:rPr>
              <a:t>() override {</a:t>
            </a:r>
            <a:endParaRPr lang="en-US">
              <a:solidFill>
                <a:srgbClr val="0070C0"/>
              </a:solidFill>
              <a:ea typeface="Calibri"/>
              <a:cs typeface="Calibri"/>
            </a:endParaRPr>
          </a:p>
          <a:p>
            <a:r>
              <a:rPr lang="en-US" sz="1100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            </a:t>
            </a:r>
            <a:r>
              <a:rPr lang="en-US" sz="110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return 4 * this-&gt;</a:t>
            </a:r>
            <a:r>
              <a:rPr lang="en-US" sz="1100" err="1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tal</a:t>
            </a:r>
            <a:r>
              <a:rPr lang="en-US" sz="110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 ;</a:t>
            </a:r>
            <a:endParaRPr lang="en-US">
              <a:solidFill>
                <a:srgbClr val="0070C0"/>
              </a:solidFill>
              <a:ea typeface="Calibri"/>
              <a:cs typeface="Calibri"/>
            </a:endParaRPr>
          </a:p>
          <a:p>
            <a:r>
              <a:rPr lang="en-US" sz="110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        }</a:t>
            </a:r>
            <a:endParaRPr lang="en-US">
              <a:solidFill>
                <a:srgbClr val="0070C0"/>
              </a:solidFill>
              <a:ea typeface="Calibri"/>
              <a:cs typeface="Calibri"/>
            </a:endParaRPr>
          </a:p>
          <a:p>
            <a:r>
              <a:rPr lang="en-US" sz="1100">
                <a:latin typeface="Consolas"/>
                <a:ea typeface="Consolas"/>
                <a:cs typeface="Consolas"/>
              </a:rPr>
              <a:t>     </a:t>
            </a:r>
            <a:r>
              <a:rPr lang="en-US" sz="110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   ~Square() override {}</a:t>
            </a:r>
            <a:endParaRPr lang="en-US">
              <a:solidFill>
                <a:srgbClr val="0070C0"/>
              </a:solidFill>
              <a:ea typeface="Calibri"/>
              <a:cs typeface="Calibri"/>
            </a:endParaRPr>
          </a:p>
          <a:p>
            <a:r>
              <a:rPr lang="en-US" sz="1100">
                <a:latin typeface="Consolas"/>
                <a:ea typeface="Consolas"/>
                <a:cs typeface="Consolas"/>
              </a:rPr>
              <a:t>};</a:t>
            </a:r>
            <a:endParaRPr lang="en-US">
              <a:ea typeface="Calibri"/>
              <a:cs typeface="Calibri"/>
            </a:endParaRPr>
          </a:p>
          <a:p>
            <a:r>
              <a:rPr lang="en-US" sz="1100">
                <a:solidFill>
                  <a:srgbClr val="FF0000"/>
                </a:solidFill>
                <a:latin typeface="Consolas"/>
                <a:ea typeface="Consolas"/>
                <a:cs typeface="Consolas"/>
              </a:rPr>
              <a:t>class Triangle : public Shape2D</a:t>
            </a:r>
            <a:r>
              <a:rPr lang="en-US" sz="1100">
                <a:latin typeface="Consolas"/>
                <a:ea typeface="Consolas"/>
                <a:cs typeface="Consolas"/>
              </a:rPr>
              <a:t> {</a:t>
            </a:r>
            <a:endParaRPr lang="en-US">
              <a:ea typeface="Calibri"/>
              <a:cs typeface="Calibri"/>
            </a:endParaRPr>
          </a:p>
          <a:p>
            <a:r>
              <a:rPr lang="en-US" sz="1100">
                <a:latin typeface="Consolas"/>
                <a:ea typeface="Consolas"/>
                <a:cs typeface="Consolas"/>
              </a:rPr>
              <a:t>protected:</a:t>
            </a:r>
            <a:endParaRPr lang="en-US">
              <a:ea typeface="Calibri"/>
              <a:cs typeface="Calibri"/>
            </a:endParaRPr>
          </a:p>
          <a:p>
            <a:r>
              <a:rPr lang="en-US" sz="1100">
                <a:latin typeface="Consolas"/>
                <a:ea typeface="Consolas"/>
                <a:cs typeface="Consolas"/>
              </a:rPr>
              <a:t>    Point p1, p2, p3;</a:t>
            </a:r>
            <a:endParaRPr lang="en-US">
              <a:ea typeface="Calibri"/>
              <a:cs typeface="Calibri"/>
            </a:endParaRPr>
          </a:p>
          <a:p>
            <a:r>
              <a:rPr lang="en-US" sz="1100">
                <a:latin typeface="Consolas"/>
                <a:ea typeface="Consolas"/>
                <a:cs typeface="Consolas"/>
              </a:rPr>
              <a:t>    float tal1, tal2, tal3</a:t>
            </a:r>
            <a:r>
              <a:rPr lang="en-US" sz="1100" b="0">
                <a:latin typeface="Consolas"/>
                <a:ea typeface="Consolas"/>
                <a:cs typeface="Consolas"/>
              </a:rPr>
              <a:t>;</a:t>
            </a:r>
            <a:endParaRPr lang="en-US">
              <a:ea typeface="Calibri"/>
              <a:cs typeface="Calibri"/>
            </a:endParaRPr>
          </a:p>
          <a:p>
            <a:r>
              <a:rPr lang="en-US" sz="1100">
                <a:latin typeface="Consolas"/>
                <a:ea typeface="Consolas"/>
                <a:cs typeface="Consolas"/>
              </a:rPr>
              <a:t>public:</a:t>
            </a:r>
            <a:endParaRPr lang="en-US">
              <a:ea typeface="Calibri"/>
              <a:cs typeface="Calibri"/>
            </a:endParaRPr>
          </a:p>
          <a:p>
            <a:endParaRPr lang="en-US" sz="1100" b="0">
              <a:solidFill>
                <a:srgbClr val="C9D1D9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 16">
            <a:extLst>
              <a:ext uri="{FF2B5EF4-FFF2-40B4-BE49-F238E27FC236}">
                <a16:creationId xmlns:a16="http://schemas.microsoft.com/office/drawing/2014/main" id="{2286B753-CBE1-5973-6748-94944AFC49DD}"/>
              </a:ext>
            </a:extLst>
          </p:cNvPr>
          <p:cNvSpPr/>
          <p:nvPr/>
        </p:nvSpPr>
        <p:spPr>
          <a:xfrm>
            <a:off x="5262524" y="128562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err="1">
                <a:latin typeface="Times New Roman"/>
                <a:ea typeface="Calibri"/>
                <a:cs typeface="Times New Roman"/>
              </a:rPr>
              <a:t>Эх</a:t>
            </a:r>
            <a:r>
              <a:rPr lang="en-US">
                <a:latin typeface="Times New Roman"/>
                <a:ea typeface="Calibri"/>
                <a:cs typeface="Times New Roman"/>
              </a:rPr>
              <a:t> </a:t>
            </a:r>
            <a:r>
              <a:rPr lang="en-US" err="1">
                <a:latin typeface="Times New Roman"/>
                <a:ea typeface="Calibri"/>
                <a:cs typeface="Times New Roman"/>
              </a:rPr>
              <a:t>классаас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хийсвэр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функцийг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авч</a:t>
            </a:r>
            <a:r>
              <a:rPr lang="en-US">
                <a:latin typeface="Times New Roman"/>
                <a:ea typeface="Calibri"/>
                <a:cs typeface="Times New Roman"/>
              </a:rPr>
              <a:t> </a:t>
            </a:r>
            <a:r>
              <a:rPr lang="en-US">
                <a:solidFill>
                  <a:schemeClr val="accent1"/>
                </a:solidFill>
                <a:latin typeface="Times New Roman"/>
                <a:ea typeface="Calibri"/>
                <a:cs typeface="Times New Roman"/>
              </a:rPr>
              <a:t>override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буюу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дахин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программчилж</a:t>
            </a:r>
            <a:r>
              <a:rPr lang="en-US">
                <a:latin typeface="Times New Roman"/>
                <a:ea typeface="Calibri"/>
                <a:cs typeface="Times New Roman"/>
              </a:rPr>
              <a:t> </a:t>
            </a:r>
            <a:r>
              <a:rPr lang="en-US" err="1">
                <a:latin typeface="Times New Roman"/>
                <a:ea typeface="Calibri"/>
                <a:cs typeface="Times New Roman"/>
              </a:rPr>
              <a:t>удамшсан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классуудад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хэрэгжүүлнэ</a:t>
            </a:r>
            <a:r>
              <a:rPr lang="en-US">
                <a:latin typeface="Times New Roman"/>
                <a:ea typeface="Calibri"/>
                <a:cs typeface="Times New Roman"/>
              </a:rPr>
              <a:t>., </a:t>
            </a:r>
            <a:r>
              <a:rPr lang="en-US" err="1">
                <a:latin typeface="Times New Roman"/>
                <a:ea typeface="Calibri"/>
                <a:cs typeface="Times New Roman"/>
              </a:rPr>
              <a:t>утгыг</a:t>
            </a:r>
            <a:r>
              <a:rPr lang="en-US">
                <a:latin typeface="Times New Roman"/>
                <a:ea typeface="Calibri"/>
                <a:cs typeface="Times New Roman"/>
              </a:rPr>
              <a:t> </a:t>
            </a:r>
            <a:r>
              <a:rPr lang="en-US" err="1">
                <a:latin typeface="Times New Roman"/>
                <a:ea typeface="Calibri"/>
                <a:cs typeface="Times New Roman"/>
              </a:rPr>
              <a:t>харуулах</a:t>
            </a:r>
            <a:r>
              <a:rPr lang="en-US">
                <a:latin typeface="Times New Roman"/>
                <a:ea typeface="Calibri"/>
                <a:cs typeface="Times New Roman"/>
              </a:rPr>
              <a:t> static </a:t>
            </a:r>
            <a:r>
              <a:rPr lang="en-US" err="1">
                <a:latin typeface="Times New Roman"/>
                <a:ea typeface="Calibri"/>
                <a:cs typeface="Times New Roman"/>
              </a:rPr>
              <a:t>гишүүн</a:t>
            </a:r>
            <a:r>
              <a:rPr lang="en-US">
                <a:latin typeface="Times New Roman"/>
                <a:ea typeface="Calibri"/>
                <a:cs typeface="Times New Roman"/>
              </a:rPr>
              <a:t> </a:t>
            </a:r>
            <a:r>
              <a:rPr lang="en-US" err="1">
                <a:latin typeface="Times New Roman"/>
                <a:ea typeface="Calibri"/>
                <a:cs typeface="Times New Roman"/>
              </a:rPr>
              <a:t>функц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бичнэ</a:t>
            </a:r>
            <a:r>
              <a:rPr lang="en-US">
                <a:latin typeface="Times New Roman"/>
                <a:ea typeface="Calibri"/>
                <a:cs typeface="Times New Roman"/>
              </a:rPr>
              <a:t>.</a:t>
            </a:r>
          </a:p>
        </p:txBody>
      </p:sp>
      <p:sp>
        <p:nvSpPr>
          <p:cNvPr id="10" name="Text 16">
            <a:extLst>
              <a:ext uri="{FF2B5EF4-FFF2-40B4-BE49-F238E27FC236}">
                <a16:creationId xmlns:a16="http://schemas.microsoft.com/office/drawing/2014/main" id="{9A007960-50E5-4124-6243-9638EF7EFDBC}"/>
              </a:ext>
            </a:extLst>
          </p:cNvPr>
          <p:cNvSpPr/>
          <p:nvPr/>
        </p:nvSpPr>
        <p:spPr>
          <a:xfrm>
            <a:off x="5260429" y="2962023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err="1">
                <a:latin typeface="Times New Roman"/>
                <a:ea typeface="Calibri"/>
                <a:cs typeface="Times New Roman"/>
              </a:rPr>
              <a:t>Параметртэй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байгуулагч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функц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болон</a:t>
            </a:r>
            <a:r>
              <a:rPr lang="en-US">
                <a:latin typeface="Times New Roman"/>
                <a:ea typeface="Calibri"/>
                <a:cs typeface="Times New Roman"/>
              </a:rPr>
              <a:t> </a:t>
            </a:r>
            <a:r>
              <a:rPr lang="en-US" err="1">
                <a:latin typeface="Times New Roman"/>
                <a:ea typeface="Calibri"/>
                <a:cs typeface="Times New Roman"/>
              </a:rPr>
              <a:t>хийсвэр</a:t>
            </a:r>
            <a:r>
              <a:rPr lang="en-US">
                <a:latin typeface="Times New Roman"/>
                <a:ea typeface="Calibri"/>
                <a:cs typeface="Times New Roman"/>
              </a:rPr>
              <a:t> </a:t>
            </a:r>
            <a:r>
              <a:rPr lang="en-US" err="1">
                <a:latin typeface="Times New Roman"/>
                <a:ea typeface="Calibri"/>
                <a:cs typeface="Times New Roman"/>
              </a:rPr>
              <a:t>функцийг</a:t>
            </a:r>
            <a:r>
              <a:rPr lang="en-US">
                <a:latin typeface="Times New Roman"/>
                <a:ea typeface="Calibri"/>
                <a:cs typeface="Times New Roman"/>
              </a:rPr>
              <a:t> </a:t>
            </a:r>
            <a:r>
              <a:rPr lang="en-US" err="1">
                <a:latin typeface="Times New Roman"/>
                <a:ea typeface="Calibri"/>
                <a:cs typeface="Times New Roman"/>
              </a:rPr>
              <a:t>эх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классаас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удамшуулан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авч</a:t>
            </a:r>
            <a:r>
              <a:rPr lang="en-US">
                <a:latin typeface="Times New Roman"/>
                <a:ea typeface="Calibri"/>
                <a:cs typeface="Times New Roman"/>
              </a:rPr>
              <a:t> </a:t>
            </a:r>
            <a:r>
              <a:rPr lang="en-US" err="1">
                <a:latin typeface="Times New Roman"/>
                <a:ea typeface="Calibri"/>
                <a:cs typeface="Times New Roman"/>
              </a:rPr>
              <a:t>хэргжүүлэхдээ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>
                <a:solidFill>
                  <a:schemeClr val="accent2"/>
                </a:solidFill>
                <a:latin typeface="Times New Roman"/>
                <a:ea typeface="Calibri"/>
                <a:cs typeface="Times New Roman"/>
              </a:rPr>
              <a:t>this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хувьсагчийг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ашиглана</a:t>
            </a:r>
            <a:r>
              <a:rPr lang="en-US">
                <a:latin typeface="Times New Roman"/>
                <a:ea typeface="Calibri"/>
                <a:cs typeface="Times New Roman"/>
              </a:rPr>
              <a:t>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9A4F3A3-9162-B95A-BEB0-B50DF7A4672F}"/>
              </a:ext>
            </a:extLst>
          </p:cNvPr>
          <p:cNvSpPr txBox="1"/>
          <p:nvPr/>
        </p:nvSpPr>
        <p:spPr>
          <a:xfrm>
            <a:off x="4906108" y="698988"/>
            <a:ext cx="509954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="0" i="0" u="none" strike="noStrike" baseline="0">
                <a:solidFill>
                  <a:srgbClr val="000000"/>
                </a:solidFill>
                <a:latin typeface="Calibri"/>
              </a:rPr>
              <a:t>•</a:t>
            </a:r>
            <a:endParaRPr lang="en-US"/>
          </a:p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A9D7F5-9261-3C6A-5950-C09A34BE03BD}"/>
              </a:ext>
            </a:extLst>
          </p:cNvPr>
          <p:cNvSpPr txBox="1"/>
          <p:nvPr/>
        </p:nvSpPr>
        <p:spPr>
          <a:xfrm>
            <a:off x="4906108" y="2492619"/>
            <a:ext cx="378070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="0" i="0" u="none" strike="noStrike" baseline="0">
                <a:solidFill>
                  <a:srgbClr val="000000"/>
                </a:solidFill>
                <a:latin typeface="Calibri"/>
              </a:rPr>
              <a:t>•</a:t>
            </a:r>
            <a:endParaRPr lang="en-US"/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9364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6A482A-5C24-6236-E4F1-44C056546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31D83E7-47C4-D610-B7FD-B5598A16CD6E}"/>
              </a:ext>
            </a:extLst>
          </p:cNvPr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8D41EB2-FCA1-68FF-B459-D9C0BFF3D87B}"/>
              </a:ext>
            </a:extLst>
          </p:cNvPr>
          <p:cNvSpPr/>
          <p:nvPr/>
        </p:nvSpPr>
        <p:spPr>
          <a:xfrm>
            <a:off x="1969477" y="-11605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>
                <a:latin typeface="Times New Roman"/>
                <a:ea typeface="Calibri"/>
                <a:cs typeface="Times New Roman"/>
              </a:rPr>
              <a:t>ХЭРЭГЖҮҮЛЭЛТ  —  </a:t>
            </a:r>
            <a:r>
              <a:rPr lang="en-US" sz="2000" b="1" err="1">
                <a:latin typeface="Times New Roman"/>
                <a:ea typeface="Calibri"/>
                <a:cs typeface="Times New Roman"/>
              </a:rPr>
              <a:t>Үндсэн</a:t>
            </a:r>
            <a:r>
              <a:rPr lang="en-US" sz="2000" b="1">
                <a:latin typeface="Times New Roman"/>
                <a:ea typeface="Calibri"/>
                <a:cs typeface="Times New Roman"/>
              </a:rPr>
              <a:t> </a:t>
            </a:r>
            <a:r>
              <a:rPr lang="en-US" sz="2000" b="1" err="1">
                <a:latin typeface="Times New Roman"/>
                <a:ea typeface="Calibri"/>
                <a:cs typeface="Times New Roman"/>
              </a:rPr>
              <a:t>Кодын</a:t>
            </a:r>
            <a:r>
              <a:rPr lang="en-US" sz="2000" b="1">
                <a:latin typeface="Times New Roman"/>
                <a:ea typeface="Calibri"/>
                <a:cs typeface="Times New Roman"/>
              </a:rPr>
              <a:t> </a:t>
            </a:r>
            <a:r>
              <a:rPr lang="en-US" sz="2000" b="1" err="1">
                <a:latin typeface="Times New Roman"/>
                <a:ea typeface="Calibri"/>
                <a:cs typeface="Times New Roman"/>
              </a:rPr>
              <a:t>Тайлбар</a:t>
            </a:r>
            <a:r>
              <a:rPr lang="en-US" sz="2000" b="1">
                <a:latin typeface="Times New Roman"/>
                <a:ea typeface="Calibri"/>
                <a:cs typeface="Times New Roman"/>
              </a:rPr>
              <a:t> 4</a:t>
            </a:r>
            <a:endParaRPr lang="en-US" sz="2000" err="1">
              <a:latin typeface="Times New Roman"/>
              <a:ea typeface="Calibri"/>
              <a:cs typeface="Times New Roman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B136A7-A86D-4CF0-579D-70090703DBE1}"/>
              </a:ext>
            </a:extLst>
          </p:cNvPr>
          <p:cNvSpPr txBox="1"/>
          <p:nvPr/>
        </p:nvSpPr>
        <p:spPr>
          <a:xfrm>
            <a:off x="378069" y="373673"/>
            <a:ext cx="4572000" cy="510909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 rtl="0"/>
            <a:r>
              <a:rPr lang="en-US" sz="1100" b="0" i="0" u="none" strike="noStrike" baseline="0">
                <a:solidFill>
                  <a:srgbClr val="C9D1D9"/>
                </a:solidFill>
                <a:latin typeface="Consolas"/>
                <a:ea typeface="Segoe UI"/>
                <a:cs typeface="Segoe UI"/>
              </a:rPr>
              <a:t> </a:t>
            </a:r>
            <a:r>
              <a:rPr lang="en-US" sz="1100" b="0" i="0" u="none" strike="noStrike" baseline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Triangle(Point top, float a, string name) :Shape2D(name) {</a:t>
            </a:r>
            <a:r>
              <a:rPr lang="en-US" sz="1100" b="0" i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​</a:t>
            </a:r>
          </a:p>
          <a:p>
            <a:r>
              <a:rPr lang="en-US" sz="1100" b="0" i="0" u="none" strike="noStrike" baseline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       </a:t>
            </a:r>
            <a:r>
              <a:rPr lang="en-US" sz="1100" b="0" i="0" u="none" strike="noStrike" baseline="0">
                <a:solidFill>
                  <a:schemeClr val="accent2"/>
                </a:solidFill>
                <a:latin typeface="Consolas"/>
                <a:ea typeface="Segoe UI"/>
                <a:cs typeface="Segoe UI"/>
              </a:rPr>
              <a:t>this</a:t>
            </a:r>
            <a:r>
              <a:rPr lang="en-US" sz="1100" b="0" i="0" u="none" strike="noStrike" baseline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-&gt;p1 = top</a:t>
            </a:r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 </a:t>
            </a:r>
            <a:r>
              <a:rPr lang="en-US" sz="1100" b="0" i="0" u="none" strike="noStrike" baseline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;</a:t>
            </a:r>
            <a:r>
              <a:rPr lang="en-US" sz="1100" b="0" i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​</a:t>
            </a:r>
          </a:p>
          <a:p>
            <a:r>
              <a:rPr lang="en-US" sz="1100" b="0" i="0" u="none" strike="noStrike" baseline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       float height = sqrt(3)/2 * a</a:t>
            </a:r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 </a:t>
            </a:r>
            <a:r>
              <a:rPr lang="en-US" sz="1100" b="0" i="0" u="none" strike="noStrike" baseline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;</a:t>
            </a:r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 </a:t>
            </a:r>
            <a:r>
              <a:rPr lang="en-US" sz="1100" b="0" i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​</a:t>
            </a:r>
          </a:p>
          <a:p>
            <a:r>
              <a:rPr lang="en-US" sz="1100" b="0" i="0" u="none" strike="noStrike" baseline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      </a:t>
            </a:r>
            <a:r>
              <a:rPr lang="en-US" sz="1100" b="0" i="0" u="none" strike="noStrike" baseline="0">
                <a:solidFill>
                  <a:schemeClr val="accent2"/>
                </a:solidFill>
                <a:latin typeface="Consolas"/>
                <a:ea typeface="Segoe UI"/>
                <a:cs typeface="Segoe UI"/>
              </a:rPr>
              <a:t> this</a:t>
            </a:r>
            <a:r>
              <a:rPr lang="en-US" sz="1100" b="0" i="0" u="none" strike="noStrike" baseline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-&gt;p2 = {</a:t>
            </a:r>
            <a:r>
              <a:rPr lang="en-US" sz="1100" b="0" i="0" u="none" strike="noStrike" baseline="0" err="1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top.x</a:t>
            </a:r>
            <a:r>
              <a:rPr lang="en-US" sz="1100" b="0" i="0" u="none" strike="noStrike" baseline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- a/2, </a:t>
            </a:r>
            <a:r>
              <a:rPr lang="en-US" sz="1100" b="0" i="0" u="none" strike="noStrike" baseline="0" err="1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top.y</a:t>
            </a:r>
            <a:r>
              <a:rPr lang="en-US" sz="1100" b="0" i="0" u="none" strike="noStrike" baseline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- height</a:t>
            </a:r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} ;</a:t>
            </a:r>
            <a:r>
              <a:rPr lang="en-US" sz="1100" b="0" i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​</a:t>
            </a:r>
          </a:p>
          <a:p>
            <a:r>
              <a:rPr lang="en-US" sz="1100" b="0" i="0" u="none" strike="noStrike" baseline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       </a:t>
            </a:r>
            <a:r>
              <a:rPr lang="en-US" sz="1100" b="0" i="0" u="none" strike="noStrike" baseline="0">
                <a:solidFill>
                  <a:schemeClr val="accent2"/>
                </a:solidFill>
                <a:latin typeface="Consolas"/>
                <a:ea typeface="Segoe UI"/>
                <a:cs typeface="Segoe UI"/>
              </a:rPr>
              <a:t>this</a:t>
            </a:r>
            <a:r>
              <a:rPr lang="en-US" sz="1100" b="0" i="0" u="none" strike="noStrike" baseline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-&gt;p3 = {</a:t>
            </a:r>
            <a:r>
              <a:rPr lang="en-US" sz="1100" b="0" i="0" u="none" strike="noStrike" baseline="0" err="1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top.x</a:t>
            </a:r>
            <a:r>
              <a:rPr lang="en-US" sz="1100" b="0" i="0" u="none" strike="noStrike" baseline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+ a/2, </a:t>
            </a:r>
            <a:r>
              <a:rPr lang="en-US" sz="1100" b="0" i="0" u="none" strike="noStrike" baseline="0" err="1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top.y</a:t>
            </a:r>
            <a:r>
              <a:rPr lang="en-US" sz="1100" b="0" i="0" u="none" strike="noStrike" baseline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- height</a:t>
            </a:r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} ; </a:t>
            </a:r>
            <a:r>
              <a:rPr lang="en-US" sz="1100" b="0" i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​</a:t>
            </a:r>
          </a:p>
          <a:p>
            <a:r>
              <a:rPr lang="en-US" sz="1100" b="0" i="0" u="none" strike="noStrike" baseline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      </a:t>
            </a:r>
            <a:r>
              <a:rPr lang="en-US" sz="1100" b="0" i="0" u="none" strike="noStrike" baseline="0">
                <a:solidFill>
                  <a:schemeClr val="accent2"/>
                </a:solidFill>
                <a:latin typeface="Consolas"/>
                <a:ea typeface="Segoe UI"/>
                <a:cs typeface="Segoe UI"/>
              </a:rPr>
              <a:t> this</a:t>
            </a:r>
            <a:r>
              <a:rPr lang="en-US" sz="1100" b="0" i="0" u="none" strike="noStrike" baseline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-&gt;tal1 = </a:t>
            </a:r>
            <a:r>
              <a:rPr lang="en-US" sz="1100" b="0" i="0" u="none" strike="noStrike" baseline="0">
                <a:solidFill>
                  <a:schemeClr val="accent2"/>
                </a:solidFill>
                <a:latin typeface="Consolas"/>
                <a:ea typeface="Segoe UI"/>
                <a:cs typeface="Segoe UI"/>
              </a:rPr>
              <a:t>this</a:t>
            </a:r>
            <a:r>
              <a:rPr lang="en-US" sz="1100" b="0" i="0" u="none" strike="noStrike" baseline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-&gt;tal2 = </a:t>
            </a:r>
            <a:r>
              <a:rPr lang="en-US" sz="1100" b="0" i="0" u="none" strike="noStrike" baseline="0">
                <a:solidFill>
                  <a:schemeClr val="accent2"/>
                </a:solidFill>
                <a:latin typeface="Consolas"/>
                <a:ea typeface="Segoe UI"/>
                <a:cs typeface="Segoe UI"/>
              </a:rPr>
              <a:t>this</a:t>
            </a:r>
            <a:r>
              <a:rPr lang="en-US" sz="1100" b="0" i="0" u="none" strike="noStrike" baseline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-&gt;tal3 = a</a:t>
            </a:r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 </a:t>
            </a:r>
            <a:r>
              <a:rPr lang="en-US" sz="1100" b="0" i="0" u="none" strike="noStrike" baseline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;</a:t>
            </a:r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 </a:t>
            </a:r>
            <a:r>
              <a:rPr lang="en-US" sz="1100" b="0" i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​</a:t>
            </a:r>
          </a:p>
          <a:p>
            <a:pPr algn="l" rtl="0"/>
            <a:r>
              <a:rPr lang="en-US" sz="1100" b="0" i="0" u="none" strike="noStrike" baseline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   }</a:t>
            </a:r>
            <a:r>
              <a:rPr lang="en-US" sz="1100" b="0" i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​</a:t>
            </a:r>
          </a:p>
          <a:p>
            <a:pPr algn="l" rtl="0"/>
            <a:r>
              <a:rPr lang="en-US" sz="1100" b="0" i="0" u="none" strike="noStrike" baseline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   </a:t>
            </a:r>
            <a:r>
              <a:rPr lang="en-US" sz="1100" b="0" i="0" u="none" strike="noStrike" baseline="0">
                <a:solidFill>
                  <a:schemeClr val="accent1"/>
                </a:solidFill>
                <a:latin typeface="Consolas"/>
                <a:ea typeface="Segoe UI"/>
                <a:cs typeface="Segoe UI"/>
              </a:rPr>
              <a:t>float </a:t>
            </a:r>
            <a:r>
              <a:rPr lang="en-US" sz="1100" b="0" i="0" u="none" strike="noStrike" baseline="0" err="1">
                <a:solidFill>
                  <a:schemeClr val="accent1"/>
                </a:solidFill>
                <a:latin typeface="Consolas"/>
                <a:ea typeface="Segoe UI"/>
                <a:cs typeface="Segoe UI"/>
              </a:rPr>
              <a:t>talbai</a:t>
            </a:r>
            <a:r>
              <a:rPr lang="en-US" sz="1100" b="0" i="0" u="none" strike="noStrike" baseline="0">
                <a:solidFill>
                  <a:schemeClr val="accent1"/>
                </a:solidFill>
                <a:latin typeface="Consolas"/>
                <a:ea typeface="Segoe UI"/>
                <a:cs typeface="Segoe UI"/>
              </a:rPr>
              <a:t>() override</a:t>
            </a:r>
            <a:r>
              <a:rPr lang="en-US" sz="1100" b="0" i="0" u="none" strike="noStrike" baseline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 {</a:t>
            </a:r>
            <a:r>
              <a:rPr lang="en-US" sz="1100" b="0" i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​</a:t>
            </a:r>
          </a:p>
          <a:p>
            <a:pPr algn="l" rtl="0"/>
            <a:r>
              <a:rPr lang="en-US" sz="1100" b="0" i="0" u="none" strike="noStrike" baseline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       return (sqrt(</a:t>
            </a:r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3.0)/</a:t>
            </a:r>
            <a:r>
              <a:rPr lang="en-US" sz="1100" b="0" i="0" u="none" strike="noStrike" baseline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4) * </a:t>
            </a:r>
            <a:r>
              <a:rPr lang="en-US" sz="1100" b="0" i="0" u="none" strike="noStrike" baseline="0">
                <a:solidFill>
                  <a:schemeClr val="accent2"/>
                </a:solidFill>
                <a:latin typeface="Consolas"/>
                <a:ea typeface="Segoe UI"/>
                <a:cs typeface="Segoe UI"/>
              </a:rPr>
              <a:t>this</a:t>
            </a:r>
            <a:r>
              <a:rPr lang="en-US" sz="1100" b="0" i="0" u="none" strike="noStrike" baseline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-&gt;tal1 * </a:t>
            </a:r>
            <a:r>
              <a:rPr lang="en-US" sz="1100" b="0" i="0" u="none" strike="noStrike" baseline="0">
                <a:solidFill>
                  <a:schemeClr val="accent2"/>
                </a:solidFill>
                <a:latin typeface="Consolas"/>
                <a:ea typeface="Segoe UI"/>
                <a:cs typeface="Segoe UI"/>
              </a:rPr>
              <a:t>this</a:t>
            </a:r>
            <a:r>
              <a:rPr lang="en-US" sz="1100" b="0" i="0" u="none" strike="noStrike" baseline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-&gt;tal1;</a:t>
            </a:r>
            <a:r>
              <a:rPr lang="en-US" sz="1100" b="0" i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​</a:t>
            </a:r>
          </a:p>
          <a:p>
            <a:pPr algn="l" rtl="0"/>
            <a:r>
              <a:rPr lang="en-US" sz="1100" b="0" i="0" u="none" strike="noStrike" baseline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   }</a:t>
            </a:r>
            <a:r>
              <a:rPr lang="en-US" sz="1100" b="0" i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​</a:t>
            </a:r>
          </a:p>
          <a:p>
            <a:pPr algn="l" rtl="0"/>
            <a:r>
              <a:rPr lang="en-US" sz="1100" b="0" i="0" u="none" strike="noStrike" baseline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   </a:t>
            </a:r>
            <a:r>
              <a:rPr lang="en-US" sz="1100" b="0" i="0" u="none" strike="noStrike" baseline="0">
                <a:solidFill>
                  <a:schemeClr val="accent1"/>
                </a:solidFill>
                <a:latin typeface="Consolas"/>
                <a:ea typeface="Segoe UI"/>
                <a:cs typeface="Segoe UI"/>
              </a:rPr>
              <a:t>float </a:t>
            </a:r>
            <a:r>
              <a:rPr lang="en-US" sz="1100" b="0" i="0" u="none" strike="noStrike" baseline="0" err="1">
                <a:solidFill>
                  <a:schemeClr val="accent1"/>
                </a:solidFill>
                <a:latin typeface="Consolas"/>
                <a:ea typeface="Segoe UI"/>
                <a:cs typeface="Segoe UI"/>
              </a:rPr>
              <a:t>perimetr</a:t>
            </a:r>
            <a:r>
              <a:rPr lang="en-US" sz="1100" b="0" i="0" u="none" strike="noStrike" baseline="0">
                <a:solidFill>
                  <a:schemeClr val="accent1"/>
                </a:solidFill>
                <a:latin typeface="Consolas"/>
                <a:ea typeface="Segoe UI"/>
                <a:cs typeface="Segoe UI"/>
              </a:rPr>
              <a:t>() override</a:t>
            </a:r>
            <a:r>
              <a:rPr lang="en-US" sz="1100" b="0" i="0" u="none" strike="noStrike" baseline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 {</a:t>
            </a:r>
            <a:r>
              <a:rPr lang="en-US" sz="1100" b="0" i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​</a:t>
            </a:r>
          </a:p>
          <a:p>
            <a:pPr algn="l" rtl="0"/>
            <a:r>
              <a:rPr lang="en-US" sz="1100" b="0" i="0" u="none" strike="noStrike" baseline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       return </a:t>
            </a:r>
            <a:r>
              <a:rPr lang="en-US" sz="1100" b="0" i="0" u="none" strike="noStrike" baseline="0">
                <a:solidFill>
                  <a:schemeClr val="accent2"/>
                </a:solidFill>
                <a:latin typeface="Consolas"/>
                <a:ea typeface="Segoe UI"/>
                <a:cs typeface="Segoe UI"/>
              </a:rPr>
              <a:t>this</a:t>
            </a:r>
            <a:r>
              <a:rPr lang="en-US" sz="1100" b="0" i="0" u="none" strike="noStrike" baseline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-&gt;tal1 + </a:t>
            </a:r>
            <a:r>
              <a:rPr lang="en-US" sz="1100" b="0" i="0" u="none" strike="noStrike" baseline="0">
                <a:solidFill>
                  <a:schemeClr val="accent2"/>
                </a:solidFill>
                <a:latin typeface="Consolas"/>
                <a:ea typeface="Segoe UI"/>
                <a:cs typeface="Segoe UI"/>
              </a:rPr>
              <a:t>this</a:t>
            </a:r>
            <a:r>
              <a:rPr lang="en-US" sz="1100" b="0" i="0" u="none" strike="noStrike" baseline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-&gt;tal2 + </a:t>
            </a:r>
            <a:r>
              <a:rPr lang="en-US" sz="1100" b="0" i="0" u="none" strike="noStrike" baseline="0">
                <a:solidFill>
                  <a:schemeClr val="accent2"/>
                </a:solidFill>
                <a:latin typeface="Consolas"/>
                <a:ea typeface="Segoe UI"/>
                <a:cs typeface="Segoe UI"/>
              </a:rPr>
              <a:t>this</a:t>
            </a:r>
            <a:r>
              <a:rPr lang="en-US" sz="1100" b="0" i="0" u="none" strike="noStrike" baseline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-&gt;tal3;</a:t>
            </a:r>
            <a:r>
              <a:rPr lang="en-US" sz="1100" b="0" i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​</a:t>
            </a:r>
          </a:p>
          <a:p>
            <a:pPr algn="l" rtl="0"/>
            <a:r>
              <a:rPr lang="en-US" sz="1100" b="0" i="0" u="none" strike="noStrike" baseline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   }</a:t>
            </a:r>
            <a:r>
              <a:rPr lang="en-US" sz="1100" b="0" i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​</a:t>
            </a:r>
          </a:p>
          <a:p>
            <a:pPr algn="l" rtl="0"/>
            <a:r>
              <a:rPr lang="en-US" sz="1100" b="0" i="0" u="none" strike="noStrike" baseline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   </a:t>
            </a:r>
            <a:r>
              <a:rPr lang="en-US" sz="1100" b="0" i="0" u="none" strike="noStrike" baseline="0">
                <a:solidFill>
                  <a:schemeClr val="accent1"/>
                </a:solidFill>
                <a:latin typeface="Consolas"/>
                <a:ea typeface="Segoe UI"/>
                <a:cs typeface="Segoe UI"/>
              </a:rPr>
              <a:t>~Triangle() override {}</a:t>
            </a:r>
            <a:r>
              <a:rPr lang="en-US" sz="1100" b="0" i="0">
                <a:solidFill>
                  <a:schemeClr val="accent1"/>
                </a:solidFill>
                <a:latin typeface="Consolas"/>
                <a:ea typeface="Segoe UI"/>
                <a:cs typeface="Segoe UI"/>
              </a:rPr>
              <a:t>​</a:t>
            </a:r>
          </a:p>
          <a:p>
            <a:pPr algn="l" rtl="0"/>
            <a:r>
              <a:rPr lang="en-US" sz="1100" b="0" i="0" u="none" strike="noStrike" baseline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};</a:t>
            </a:r>
            <a:r>
              <a:rPr lang="en-US" sz="1100" b="0" i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​</a:t>
            </a:r>
          </a:p>
          <a:p>
            <a:pPr algn="l" rtl="0"/>
            <a:r>
              <a:rPr lang="en-US" sz="1100" b="0" i="0" u="none" strike="noStrike" baseline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void </a:t>
            </a:r>
            <a:r>
              <a:rPr lang="en-US" sz="1100" b="0" i="0" u="none" strike="noStrike" baseline="0" err="1">
                <a:solidFill>
                  <a:srgbClr val="7030A0"/>
                </a:solidFill>
                <a:latin typeface="Consolas"/>
                <a:ea typeface="Segoe UI"/>
                <a:cs typeface="Segoe UI"/>
              </a:rPr>
              <a:t>sortByTalbai</a:t>
            </a:r>
            <a:r>
              <a:rPr lang="en-US" sz="1100" b="0" i="0" u="none" strike="noStrike" baseline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(Shape2D* shapes[], int n){</a:t>
            </a:r>
            <a:r>
              <a:rPr lang="en-US" sz="1100" b="0" i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​</a:t>
            </a:r>
          </a:p>
          <a:p>
            <a:pPr algn="l" rtl="0"/>
            <a:r>
              <a:rPr lang="en-US" sz="1100" b="0" i="0" u="none" strike="noStrike" baseline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   for(int </a:t>
            </a:r>
            <a:r>
              <a:rPr lang="en-US" sz="1100" b="0" i="0" u="none" strike="noStrike" baseline="0" err="1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i</a:t>
            </a:r>
            <a:r>
              <a:rPr lang="en-US" sz="1100" b="0" i="0" u="none" strike="noStrike" baseline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= 0; </a:t>
            </a:r>
            <a:r>
              <a:rPr lang="en-US" sz="1100" b="0" i="0" u="none" strike="noStrike" baseline="0" err="1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i</a:t>
            </a:r>
            <a:r>
              <a:rPr lang="en-US" sz="1100" b="0" i="0" u="none" strike="noStrike" baseline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&lt; n-1; </a:t>
            </a:r>
            <a:r>
              <a:rPr lang="en-US" sz="1100" b="0" i="0" u="none" strike="noStrike" baseline="0" err="1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i</a:t>
            </a:r>
            <a:r>
              <a:rPr lang="en-US" sz="1100" b="0" i="0" u="none" strike="noStrike" baseline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++) {</a:t>
            </a:r>
            <a:r>
              <a:rPr lang="en-US" sz="1100" b="0" i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​</a:t>
            </a:r>
          </a:p>
          <a:p>
            <a:pPr algn="l" rtl="0"/>
            <a:r>
              <a:rPr lang="en-US" sz="1100" b="0" i="0" u="none" strike="noStrike" baseline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       for(int j = 0; j &lt; n-i-1; </a:t>
            </a:r>
            <a:r>
              <a:rPr lang="en-US" sz="1100" b="0" i="0" u="none" strike="noStrike" baseline="0" err="1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j++</a:t>
            </a:r>
            <a:r>
              <a:rPr lang="en-US" sz="1100" b="0" i="0" u="none" strike="noStrike" baseline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) {</a:t>
            </a:r>
            <a:r>
              <a:rPr lang="en-US" sz="1100" b="0" i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​</a:t>
            </a:r>
          </a:p>
          <a:p>
            <a:pPr algn="l" rtl="0"/>
            <a:r>
              <a:rPr lang="en-US" sz="1100" b="0" i="0" u="none" strike="noStrike" baseline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           if(shapes[j]-&gt;</a:t>
            </a:r>
            <a:r>
              <a:rPr lang="en-US" sz="1100" b="0" i="0" u="none" strike="noStrike" baseline="0" err="1">
                <a:solidFill>
                  <a:schemeClr val="accent1"/>
                </a:solidFill>
                <a:latin typeface="Consolas"/>
                <a:ea typeface="Segoe UI"/>
                <a:cs typeface="Segoe UI"/>
              </a:rPr>
              <a:t>talbai</a:t>
            </a:r>
            <a:r>
              <a:rPr lang="en-US" sz="1100" b="0" i="0" u="none" strike="noStrike" baseline="0">
                <a:solidFill>
                  <a:schemeClr val="accent1"/>
                </a:solidFill>
                <a:latin typeface="Consolas"/>
                <a:ea typeface="Segoe UI"/>
                <a:cs typeface="Segoe UI"/>
              </a:rPr>
              <a:t>()</a:t>
            </a:r>
            <a:r>
              <a:rPr lang="en-US" sz="1100" b="0" i="0" u="none" strike="noStrike" baseline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 &gt; shapes[j+1]-&gt;</a:t>
            </a:r>
            <a:r>
              <a:rPr lang="en-US" sz="1100" b="0" i="0" u="none" strike="noStrike" baseline="0" err="1">
                <a:solidFill>
                  <a:schemeClr val="accent1"/>
                </a:solidFill>
                <a:latin typeface="Consolas"/>
                <a:ea typeface="Segoe UI"/>
                <a:cs typeface="Segoe UI"/>
              </a:rPr>
              <a:t>talbai</a:t>
            </a:r>
            <a:r>
              <a:rPr lang="en-US" sz="1100" b="0" i="0" u="none" strike="noStrike" baseline="0">
                <a:solidFill>
                  <a:schemeClr val="accent1"/>
                </a:solidFill>
                <a:latin typeface="Consolas"/>
                <a:ea typeface="Segoe UI"/>
                <a:cs typeface="Segoe UI"/>
              </a:rPr>
              <a:t>()</a:t>
            </a:r>
            <a:r>
              <a:rPr lang="en-US" sz="1100" b="0" i="0" u="none" strike="noStrike" baseline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) {</a:t>
            </a:r>
            <a:r>
              <a:rPr lang="en-US" sz="1100" b="0" i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​</a:t>
            </a:r>
          </a:p>
          <a:p>
            <a:r>
              <a:rPr lang="en-US" sz="1100" b="0" i="0" u="none" strike="noStrike" baseline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               Shape2D* temp = shapes[j</a:t>
            </a:r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] ;</a:t>
            </a:r>
            <a:r>
              <a:rPr lang="en-US" sz="1100" b="0" i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​</a:t>
            </a:r>
          </a:p>
          <a:p>
            <a:r>
              <a:rPr lang="en-US" sz="1100" b="0" i="0" u="none" strike="noStrike" baseline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               shapes[j] = shapes[j+1</a:t>
            </a:r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] ; </a:t>
            </a:r>
            <a:r>
              <a:rPr lang="en-US" sz="1100" b="0" i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​</a:t>
            </a:r>
          </a:p>
          <a:p>
            <a:pPr algn="l" rtl="0"/>
            <a:r>
              <a:rPr lang="en-US" sz="1100" b="0" i="0" u="none" strike="noStrike" baseline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               shapes[j+1] = temp ;</a:t>
            </a:r>
            <a:r>
              <a:rPr lang="en-US" sz="1100" b="0" i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​</a:t>
            </a:r>
          </a:p>
          <a:p>
            <a:pPr algn="l" rtl="0"/>
            <a:r>
              <a:rPr lang="en-US" sz="1100" b="0" i="0" u="none" strike="noStrike" baseline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           }</a:t>
            </a:r>
            <a:r>
              <a:rPr lang="en-US" sz="1100" b="0" i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​</a:t>
            </a:r>
          </a:p>
          <a:p>
            <a:pPr algn="l" rtl="0"/>
            <a:r>
              <a:rPr lang="en-US" sz="1100" b="0" i="0" u="none" strike="noStrike" baseline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       }</a:t>
            </a:r>
            <a:r>
              <a:rPr lang="en-US" sz="1100" b="0" i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​</a:t>
            </a:r>
          </a:p>
          <a:p>
            <a:pPr algn="l" rtl="0"/>
            <a:r>
              <a:rPr lang="en-US" sz="1100" b="0" i="0" u="none" strike="noStrike" baseline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   }</a:t>
            </a:r>
            <a:r>
              <a:rPr lang="en-US" sz="1100" b="0" i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​</a:t>
            </a:r>
          </a:p>
          <a:p>
            <a:pPr algn="l" rtl="0"/>
            <a:r>
              <a:rPr lang="en-US" sz="1100" b="0" i="0" u="none" strike="noStrike" baseline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}</a:t>
            </a:r>
          </a:p>
          <a:p>
            <a:pPr algn="ctr"/>
            <a:endParaRPr lang="en-US"/>
          </a:p>
        </p:txBody>
      </p:sp>
      <p:sp>
        <p:nvSpPr>
          <p:cNvPr id="15" name="Text 16">
            <a:extLst>
              <a:ext uri="{FF2B5EF4-FFF2-40B4-BE49-F238E27FC236}">
                <a16:creationId xmlns:a16="http://schemas.microsoft.com/office/drawing/2014/main" id="{BCFDEB17-3817-8F98-8D09-005357BB220A}"/>
              </a:ext>
            </a:extLst>
          </p:cNvPr>
          <p:cNvSpPr/>
          <p:nvPr/>
        </p:nvSpPr>
        <p:spPr>
          <a:xfrm>
            <a:off x="5579047" y="1549393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err="1">
                <a:latin typeface="Times New Roman"/>
                <a:ea typeface="Calibri"/>
                <a:cs typeface="Times New Roman"/>
              </a:rPr>
              <a:t>Удамшсан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классуудад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хийсвэр</a:t>
            </a:r>
            <a:r>
              <a:rPr lang="en-US">
                <a:latin typeface="Times New Roman"/>
                <a:ea typeface="Calibri"/>
                <a:cs typeface="Times New Roman"/>
              </a:rPr>
              <a:t> </a:t>
            </a:r>
            <a:r>
              <a:rPr lang="en-US" err="1">
                <a:latin typeface="Times New Roman"/>
                <a:ea typeface="Calibri"/>
                <a:cs typeface="Times New Roman"/>
              </a:rPr>
              <a:t>функцыг</a:t>
            </a:r>
            <a:r>
              <a:rPr lang="en-US">
                <a:latin typeface="Times New Roman"/>
                <a:ea typeface="Calibri"/>
                <a:cs typeface="Times New Roman"/>
              </a:rPr>
              <a:t> </a:t>
            </a:r>
            <a:r>
              <a:rPr lang="en-US" err="1">
                <a:latin typeface="Times New Roman"/>
                <a:ea typeface="Calibri"/>
                <a:cs typeface="Times New Roman"/>
              </a:rPr>
              <a:t>talbai</a:t>
            </a:r>
            <a:r>
              <a:rPr lang="en-US">
                <a:latin typeface="Times New Roman"/>
                <a:ea typeface="Calibri"/>
                <a:cs typeface="Times New Roman"/>
              </a:rPr>
              <a:t>() ,  </a:t>
            </a:r>
            <a:r>
              <a:rPr lang="en-US" err="1">
                <a:latin typeface="Times New Roman"/>
                <a:ea typeface="Calibri"/>
                <a:cs typeface="Times New Roman"/>
              </a:rPr>
              <a:t>perimetr</a:t>
            </a:r>
            <a:r>
              <a:rPr lang="en-US">
                <a:latin typeface="Times New Roman"/>
                <a:ea typeface="Calibri"/>
                <a:cs typeface="Times New Roman"/>
              </a:rPr>
              <a:t>() </a:t>
            </a:r>
            <a:r>
              <a:rPr lang="en-US" err="1">
                <a:latin typeface="Times New Roman"/>
                <a:ea typeface="Calibri"/>
                <a:cs typeface="Times New Roman"/>
              </a:rPr>
              <a:t>дахин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дрограммчилж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хэрэгжүүлснээр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дүрс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бүрийн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талбай</a:t>
            </a:r>
            <a:r>
              <a:rPr lang="en-US">
                <a:latin typeface="Times New Roman"/>
                <a:ea typeface="Calibri"/>
                <a:cs typeface="Times New Roman"/>
              </a:rPr>
              <a:t> , </a:t>
            </a:r>
            <a:r>
              <a:rPr lang="en-US" err="1">
                <a:latin typeface="Times New Roman"/>
                <a:ea typeface="Calibri"/>
                <a:cs typeface="Times New Roman"/>
              </a:rPr>
              <a:t>хүрээний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уртыг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олно</a:t>
            </a:r>
            <a:r>
              <a:rPr lang="en-US">
                <a:latin typeface="Times New Roman"/>
                <a:ea typeface="Calibri"/>
                <a:cs typeface="Times New Roman"/>
              </a:rPr>
              <a:t>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9BEDE92-747F-CE72-2966-2ECAA48BFD13}"/>
              </a:ext>
            </a:extLst>
          </p:cNvPr>
          <p:cNvSpPr txBox="1"/>
          <p:nvPr/>
        </p:nvSpPr>
        <p:spPr>
          <a:xfrm>
            <a:off x="5328139" y="989134"/>
            <a:ext cx="509954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="0" i="0" u="none" strike="noStrike" baseline="0">
                <a:solidFill>
                  <a:srgbClr val="000000"/>
                </a:solidFill>
                <a:latin typeface="Calibri"/>
              </a:rPr>
              <a:t>•</a:t>
            </a:r>
            <a:endParaRPr lang="en-US"/>
          </a:p>
          <a:p>
            <a:pPr algn="ctr"/>
            <a:endParaRPr lang="en-US"/>
          </a:p>
        </p:txBody>
      </p:sp>
      <p:sp>
        <p:nvSpPr>
          <p:cNvPr id="24" name="Text 16">
            <a:extLst>
              <a:ext uri="{FF2B5EF4-FFF2-40B4-BE49-F238E27FC236}">
                <a16:creationId xmlns:a16="http://schemas.microsoft.com/office/drawing/2014/main" id="{800CBE5B-17B2-6011-4875-A00322EF6EC4}"/>
              </a:ext>
            </a:extLst>
          </p:cNvPr>
          <p:cNvSpPr/>
          <p:nvPr/>
        </p:nvSpPr>
        <p:spPr>
          <a:xfrm>
            <a:off x="5579046" y="3044085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err="1">
                <a:latin typeface="Times New Roman"/>
                <a:ea typeface="Calibri"/>
                <a:cs typeface="Times New Roman"/>
              </a:rPr>
              <a:t>Дүрс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бүрийн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талбай</a:t>
            </a:r>
            <a:r>
              <a:rPr lang="en-US">
                <a:latin typeface="Times New Roman"/>
                <a:ea typeface="Calibri"/>
                <a:cs typeface="Times New Roman"/>
              </a:rPr>
              <a:t> , </a:t>
            </a:r>
            <a:r>
              <a:rPr lang="en-US" err="1">
                <a:latin typeface="Times New Roman"/>
                <a:ea typeface="Calibri"/>
                <a:cs typeface="Times New Roman"/>
              </a:rPr>
              <a:t>периметрийг</a:t>
            </a:r>
            <a:r>
              <a:rPr lang="en-US">
                <a:latin typeface="Times New Roman"/>
                <a:ea typeface="Calibri"/>
                <a:cs typeface="Times New Roman"/>
              </a:rPr>
              <a:t> </a:t>
            </a:r>
            <a:r>
              <a:rPr lang="en-US" err="1">
                <a:latin typeface="Times New Roman"/>
                <a:ea typeface="Calibri"/>
                <a:cs typeface="Times New Roman"/>
              </a:rPr>
              <a:t>олж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тэдгээрийг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эрэмбэлэх</a:t>
            </a:r>
            <a:r>
              <a:rPr lang="en-US">
                <a:latin typeface="Times New Roman"/>
                <a:ea typeface="Calibri"/>
                <a:cs typeface="Times New Roman"/>
              </a:rPr>
              <a:t> </a:t>
            </a:r>
            <a:r>
              <a:rPr lang="en-US" err="1">
                <a:solidFill>
                  <a:srgbClr val="7030A0"/>
                </a:solidFill>
                <a:latin typeface="Times New Roman"/>
                <a:ea typeface="Calibri"/>
                <a:cs typeface="Times New Roman"/>
              </a:rPr>
              <a:t>sortByTalbai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функцийг</a:t>
            </a:r>
            <a:r>
              <a:rPr lang="en-US">
                <a:latin typeface="Times New Roman"/>
                <a:ea typeface="Calibri"/>
                <a:cs typeface="Times New Roman"/>
              </a:rPr>
              <a:t> </a:t>
            </a:r>
            <a:r>
              <a:rPr lang="en-US" err="1">
                <a:latin typeface="Times New Roman"/>
                <a:ea typeface="Calibri"/>
                <a:cs typeface="Times New Roman"/>
              </a:rPr>
              <a:t>тодорхойлно</a:t>
            </a:r>
            <a:r>
              <a:rPr lang="en-US">
                <a:latin typeface="Times New Roman"/>
                <a:ea typeface="Calibri"/>
                <a:cs typeface="Times New Roman"/>
              </a:rPr>
              <a:t>.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85F7CEA-9A82-12BB-2A9B-B925F9C71189}"/>
              </a:ext>
            </a:extLst>
          </p:cNvPr>
          <p:cNvSpPr txBox="1"/>
          <p:nvPr/>
        </p:nvSpPr>
        <p:spPr>
          <a:xfrm>
            <a:off x="5328138" y="2642087"/>
            <a:ext cx="509954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="0" i="0" u="none" strike="noStrike" baseline="0">
                <a:solidFill>
                  <a:srgbClr val="000000"/>
                </a:solidFill>
                <a:latin typeface="Calibri"/>
              </a:rPr>
              <a:t>•</a:t>
            </a:r>
            <a:endParaRPr lang="en-US"/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50304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0DC074E-922F-338D-AC7C-732E855D4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AF20C0F-CF03-9AE0-56BF-553B379066E0}"/>
              </a:ext>
            </a:extLst>
          </p:cNvPr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B2C9E9C-CB70-0E41-F546-88A249769DD2}"/>
              </a:ext>
            </a:extLst>
          </p:cNvPr>
          <p:cNvSpPr/>
          <p:nvPr/>
        </p:nvSpPr>
        <p:spPr>
          <a:xfrm>
            <a:off x="1969477" y="-11605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>
                <a:latin typeface="Times New Roman"/>
                <a:ea typeface="Calibri"/>
                <a:cs typeface="Times New Roman"/>
              </a:rPr>
              <a:t>ХЭРЭГЖҮҮЛЭЛТ  —  </a:t>
            </a:r>
            <a:r>
              <a:rPr lang="en-US" sz="2000" b="1" err="1">
                <a:latin typeface="Times New Roman"/>
                <a:ea typeface="Calibri"/>
                <a:cs typeface="Times New Roman"/>
              </a:rPr>
              <a:t>Үндсэн</a:t>
            </a:r>
            <a:r>
              <a:rPr lang="en-US" sz="2000" b="1">
                <a:latin typeface="Times New Roman"/>
                <a:ea typeface="Calibri"/>
                <a:cs typeface="Times New Roman"/>
              </a:rPr>
              <a:t> </a:t>
            </a:r>
            <a:r>
              <a:rPr lang="en-US" sz="2000" b="1" err="1">
                <a:latin typeface="Times New Roman"/>
                <a:ea typeface="Calibri"/>
                <a:cs typeface="Times New Roman"/>
              </a:rPr>
              <a:t>Кодын</a:t>
            </a:r>
            <a:r>
              <a:rPr lang="en-US" sz="2000" b="1">
                <a:latin typeface="Times New Roman"/>
                <a:ea typeface="Calibri"/>
                <a:cs typeface="Times New Roman"/>
              </a:rPr>
              <a:t> </a:t>
            </a:r>
            <a:r>
              <a:rPr lang="en-US" sz="2000" b="1" err="1">
                <a:latin typeface="Times New Roman"/>
                <a:ea typeface="Calibri"/>
                <a:cs typeface="Times New Roman"/>
              </a:rPr>
              <a:t>Тайлбар</a:t>
            </a:r>
            <a:r>
              <a:rPr lang="en-US" sz="2000" b="1">
                <a:latin typeface="Times New Roman"/>
                <a:ea typeface="Calibri"/>
                <a:cs typeface="Times New Roman"/>
              </a:rPr>
              <a:t> 5</a:t>
            </a:r>
            <a:endParaRPr lang="en-US" sz="2000" err="1">
              <a:latin typeface="Times New Roman"/>
              <a:ea typeface="Calibri"/>
              <a:cs typeface="Times New Roman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F15919-081B-DE11-421C-0853B42FC7B8}"/>
              </a:ext>
            </a:extLst>
          </p:cNvPr>
          <p:cNvSpPr txBox="1"/>
          <p:nvPr/>
        </p:nvSpPr>
        <p:spPr>
          <a:xfrm>
            <a:off x="378069" y="496765"/>
            <a:ext cx="4572000" cy="477053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100" b="0" i="0" u="none" strike="noStrike" baseline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void </a:t>
            </a:r>
            <a:r>
              <a:rPr lang="en-US" sz="1100" err="1">
                <a:solidFill>
                  <a:srgbClr val="7030A0"/>
                </a:solidFill>
                <a:latin typeface="Consolas"/>
                <a:ea typeface="Segoe UI"/>
                <a:cs typeface="Segoe UI"/>
              </a:rPr>
              <a:t>sortByPerimetr</a:t>
            </a:r>
            <a:r>
              <a:rPr lang="en-US" sz="1100" b="0" i="0" u="none" strike="noStrike" baseline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(Shape2D* shapes[], int n){</a:t>
            </a:r>
            <a:endParaRPr lang="en-US" sz="1100" b="0" i="0">
              <a:solidFill>
                <a:srgbClr val="000000"/>
              </a:solidFill>
              <a:latin typeface="Consolas"/>
              <a:ea typeface="Segoe UI"/>
              <a:cs typeface="Segoe UI"/>
            </a:endParaRPr>
          </a:p>
          <a:p>
            <a:pPr algn="l"/>
            <a:r>
              <a:rPr lang="en-US" sz="1100" b="0" i="0" u="none" strike="noStrike" baseline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   for(int </a:t>
            </a:r>
            <a:r>
              <a:rPr lang="en-US" sz="1100" b="0" i="0" u="none" strike="noStrike" baseline="0" err="1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i</a:t>
            </a:r>
            <a:r>
              <a:rPr lang="en-US" sz="1100" b="0" i="0" u="none" strike="noStrike" baseline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= 0; </a:t>
            </a:r>
            <a:r>
              <a:rPr lang="en-US" sz="1100" b="0" i="0" u="none" strike="noStrike" baseline="0" err="1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i</a:t>
            </a:r>
            <a:r>
              <a:rPr lang="en-US" sz="1100" b="0" i="0" u="none" strike="noStrike" baseline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&lt; n-1; </a:t>
            </a:r>
            <a:r>
              <a:rPr lang="en-US" sz="1100" b="0" i="0" u="none" strike="noStrike" baseline="0" err="1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i</a:t>
            </a:r>
            <a:r>
              <a:rPr lang="en-US" sz="1100" b="0" i="0" u="none" strike="noStrike" baseline="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++) {</a:t>
            </a:r>
            <a:endParaRPr lang="en-US" sz="1100" b="0" i="0">
              <a:solidFill>
                <a:srgbClr val="000000"/>
              </a:solidFill>
              <a:latin typeface="Consolas"/>
              <a:ea typeface="Segoe UI"/>
              <a:cs typeface="Segoe UI"/>
            </a:endParaRPr>
          </a:p>
          <a:p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for(int j = 0; j &lt; n-i-1; </a:t>
            </a:r>
            <a:r>
              <a:rPr lang="en-US" sz="1100" err="1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j++</a:t>
            </a:r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) {</a:t>
            </a:r>
          </a:p>
          <a:p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           if(shapes[j]-&gt;</a:t>
            </a:r>
            <a:r>
              <a:rPr lang="en-US" sz="1100" err="1">
                <a:solidFill>
                  <a:srgbClr val="7030A0"/>
                </a:solidFill>
                <a:latin typeface="Consolas"/>
                <a:ea typeface="Segoe UI"/>
                <a:cs typeface="Segoe UI"/>
              </a:rPr>
              <a:t>perimetr</a:t>
            </a:r>
            <a:r>
              <a:rPr lang="en-US" sz="1100">
                <a:solidFill>
                  <a:srgbClr val="7030A0"/>
                </a:solidFill>
                <a:latin typeface="Consolas"/>
                <a:ea typeface="Segoe UI"/>
                <a:cs typeface="Segoe UI"/>
              </a:rPr>
              <a:t>()</a:t>
            </a:r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 &gt; shapes[j+1]-&gt;</a:t>
            </a:r>
            <a:r>
              <a:rPr lang="en-US" sz="1100" err="1">
                <a:solidFill>
                  <a:srgbClr val="7030A0"/>
                </a:solidFill>
                <a:latin typeface="Consolas"/>
                <a:ea typeface="Segoe UI"/>
                <a:cs typeface="Segoe UI"/>
              </a:rPr>
              <a:t>perimetr</a:t>
            </a:r>
            <a:r>
              <a:rPr lang="en-US" sz="1100">
                <a:solidFill>
                  <a:srgbClr val="7030A0"/>
                </a:solidFill>
                <a:latin typeface="Consolas"/>
                <a:ea typeface="Segoe UI"/>
                <a:cs typeface="Segoe UI"/>
              </a:rPr>
              <a:t>()</a:t>
            </a:r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) {</a:t>
            </a:r>
          </a:p>
          <a:p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               Shape2D* temp = shapes[j];</a:t>
            </a:r>
          </a:p>
          <a:p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               shapes[j] = shapes[j+1];</a:t>
            </a:r>
          </a:p>
          <a:p>
            <a:r>
              <a:rPr lang="en-US" sz="1100">
                <a:latin typeface="Consolas"/>
                <a:ea typeface="Segoe UI"/>
                <a:cs typeface="Segoe UI"/>
              </a:rPr>
              <a:t>                shapes[j+1] = temp ;</a:t>
            </a:r>
            <a:endParaRPr lang="en-US" sz="1100">
              <a:solidFill>
                <a:srgbClr val="000000"/>
              </a:solidFill>
              <a:latin typeface="Consolas"/>
              <a:ea typeface="Segoe UI"/>
              <a:cs typeface="Segoe UI"/>
            </a:endParaRPr>
          </a:p>
          <a:p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           }</a:t>
            </a:r>
          </a:p>
          <a:p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       }</a:t>
            </a:r>
          </a:p>
          <a:p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   }</a:t>
            </a:r>
          </a:p>
          <a:p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}</a:t>
            </a:r>
          </a:p>
          <a:p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void </a:t>
            </a:r>
            <a:r>
              <a:rPr lang="en-US" sz="1100" err="1">
                <a:solidFill>
                  <a:srgbClr val="21B5B0"/>
                </a:solidFill>
                <a:latin typeface="Consolas"/>
                <a:ea typeface="Segoe UI"/>
                <a:cs typeface="Segoe UI"/>
              </a:rPr>
              <a:t>printShapes</a:t>
            </a:r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(Shape2D* shapes[], int n){</a:t>
            </a:r>
          </a:p>
          <a:p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   for(int </a:t>
            </a:r>
            <a:r>
              <a:rPr lang="en-US" sz="1100" err="1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i</a:t>
            </a:r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= 0; </a:t>
            </a:r>
            <a:r>
              <a:rPr lang="en-US" sz="1100" err="1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i</a:t>
            </a:r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&lt; n; </a:t>
            </a:r>
            <a:r>
              <a:rPr lang="en-US" sz="1100" err="1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i</a:t>
            </a:r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++){</a:t>
            </a:r>
          </a:p>
          <a:p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       </a:t>
            </a:r>
            <a:r>
              <a:rPr lang="en-US" sz="1100" err="1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cout</a:t>
            </a:r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&lt;&lt; i+1 &lt;&lt; ". " &lt;&lt; shapes[</a:t>
            </a:r>
            <a:r>
              <a:rPr lang="en-US" sz="1100" err="1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i</a:t>
            </a:r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]-&gt;</a:t>
            </a:r>
            <a:r>
              <a:rPr lang="en-US" sz="1100" err="1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getName</a:t>
            </a:r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() &lt;&lt;</a:t>
            </a:r>
            <a:r>
              <a:rPr lang="en-US" sz="1100" err="1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endl</a:t>
            </a:r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;</a:t>
            </a:r>
          </a:p>
          <a:p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       </a:t>
            </a:r>
            <a:r>
              <a:rPr lang="en-US" sz="1100" err="1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cout</a:t>
            </a:r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&lt;&lt; "   </a:t>
            </a:r>
            <a:r>
              <a:rPr lang="en-US" sz="1100" err="1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Talbai</a:t>
            </a:r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  : " &lt;&lt; fixed &lt;&lt;</a:t>
            </a:r>
            <a:r>
              <a:rPr lang="en-US" sz="1100" err="1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setprecision</a:t>
            </a:r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(2) &lt;&lt; shapes[</a:t>
            </a:r>
            <a:r>
              <a:rPr lang="en-US" sz="1100" err="1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i</a:t>
            </a:r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]-&gt;</a:t>
            </a:r>
            <a:r>
              <a:rPr lang="en-US" sz="1100" err="1">
                <a:solidFill>
                  <a:srgbClr val="7030A0"/>
                </a:solidFill>
                <a:latin typeface="Consolas"/>
                <a:ea typeface="Segoe UI"/>
                <a:cs typeface="Segoe UI"/>
              </a:rPr>
              <a:t>talbai</a:t>
            </a:r>
            <a:r>
              <a:rPr lang="en-US" sz="1100">
                <a:solidFill>
                  <a:srgbClr val="7030A0"/>
                </a:solidFill>
                <a:latin typeface="Consolas"/>
                <a:ea typeface="Segoe UI"/>
                <a:cs typeface="Segoe UI"/>
              </a:rPr>
              <a:t>()</a:t>
            </a:r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 &lt;&lt; </a:t>
            </a:r>
            <a:r>
              <a:rPr lang="en-US" sz="1100" err="1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endl</a:t>
            </a:r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;</a:t>
            </a:r>
          </a:p>
          <a:p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       </a:t>
            </a:r>
            <a:r>
              <a:rPr lang="en-US" sz="1100" err="1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cout</a:t>
            </a:r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&lt;&lt; "   </a:t>
            </a:r>
            <a:r>
              <a:rPr lang="en-US" sz="1100" err="1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Perimetr</a:t>
            </a:r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: " &lt;&lt; fixed &lt;&lt;</a:t>
            </a:r>
            <a:r>
              <a:rPr lang="en-US" sz="1100" err="1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setprecision</a:t>
            </a:r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(2) &lt;&lt; shapes[</a:t>
            </a:r>
            <a:r>
              <a:rPr lang="en-US" sz="1100" err="1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i</a:t>
            </a:r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]-&gt;</a:t>
            </a:r>
            <a:r>
              <a:rPr lang="en-US" sz="1100" err="1">
                <a:solidFill>
                  <a:srgbClr val="7030A0"/>
                </a:solidFill>
                <a:latin typeface="Consolas"/>
                <a:ea typeface="Segoe UI"/>
                <a:cs typeface="Segoe UI"/>
              </a:rPr>
              <a:t>perimetr</a:t>
            </a:r>
            <a:r>
              <a:rPr lang="en-US" sz="1100">
                <a:solidFill>
                  <a:srgbClr val="7030A0"/>
                </a:solidFill>
                <a:latin typeface="Consolas"/>
                <a:ea typeface="Segoe UI"/>
                <a:cs typeface="Segoe UI"/>
              </a:rPr>
              <a:t>()</a:t>
            </a:r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 &lt;&lt; </a:t>
            </a:r>
            <a:r>
              <a:rPr lang="en-US" sz="1100" err="1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endl</a:t>
            </a:r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;</a:t>
            </a:r>
          </a:p>
          <a:p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       </a:t>
            </a:r>
            <a:r>
              <a:rPr lang="en-US" sz="1100" err="1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cout</a:t>
            </a:r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&lt;&lt; "------------------" &lt;&lt; </a:t>
            </a:r>
            <a:r>
              <a:rPr lang="en-US" sz="1100" err="1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endl</a:t>
            </a:r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;</a:t>
            </a:r>
          </a:p>
          <a:p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   }</a:t>
            </a:r>
          </a:p>
          <a:p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}</a:t>
            </a:r>
          </a:p>
          <a:p>
            <a:pPr algn="l"/>
            <a:endParaRPr lang="en-US" sz="1100" b="0" i="0">
              <a:solidFill>
                <a:srgbClr val="000000"/>
              </a:solidFill>
              <a:latin typeface="Consolas"/>
              <a:ea typeface="Segoe UI"/>
              <a:cs typeface="Segoe UI"/>
            </a:endParaRPr>
          </a:p>
          <a:p>
            <a:pPr algn="l"/>
            <a:endParaRPr lang="en-US" sz="1100" b="0" i="0" u="none" strike="noStrike" baseline="0">
              <a:solidFill>
                <a:srgbClr val="000000"/>
              </a:solidFill>
              <a:latin typeface="Consolas"/>
              <a:ea typeface="Segoe UI"/>
              <a:cs typeface="Segoe UI"/>
            </a:endParaRPr>
          </a:p>
          <a:p>
            <a:endParaRPr lang="en-US" sz="1100">
              <a:latin typeface="Consolas"/>
              <a:cs typeface="Segoe UI"/>
            </a:endParaRPr>
          </a:p>
          <a:p>
            <a:pPr algn="ctr"/>
            <a:endParaRPr lang="en-US">
              <a:ea typeface="Calibri" panose="020F0502020204030204"/>
              <a:cs typeface="Calibri" panose="020F0502020204030204"/>
            </a:endParaRPr>
          </a:p>
        </p:txBody>
      </p:sp>
      <p:sp>
        <p:nvSpPr>
          <p:cNvPr id="6" name="Text 16">
            <a:extLst>
              <a:ext uri="{FF2B5EF4-FFF2-40B4-BE49-F238E27FC236}">
                <a16:creationId xmlns:a16="http://schemas.microsoft.com/office/drawing/2014/main" id="{6C4490EA-10B5-11F1-C11C-6EBFAE9045AB}"/>
              </a:ext>
            </a:extLst>
          </p:cNvPr>
          <p:cNvSpPr/>
          <p:nvPr/>
        </p:nvSpPr>
        <p:spPr>
          <a:xfrm>
            <a:off x="5543878" y="147905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err="1">
                <a:latin typeface="Times New Roman"/>
                <a:ea typeface="Calibri"/>
                <a:cs typeface="Times New Roman"/>
              </a:rPr>
              <a:t>Удамшсан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классуудын</a:t>
            </a:r>
            <a:r>
              <a:rPr lang="en-US">
                <a:latin typeface="Times New Roman"/>
                <a:ea typeface="Calibri"/>
                <a:cs typeface="Times New Roman"/>
              </a:rPr>
              <a:t> </a:t>
            </a:r>
            <a:r>
              <a:rPr lang="en-US" err="1">
                <a:latin typeface="Times New Roman"/>
                <a:ea typeface="Calibri"/>
                <a:cs typeface="Times New Roman"/>
              </a:rPr>
              <a:t>дүрсийн</a:t>
            </a:r>
            <a:r>
              <a:rPr lang="en-US">
                <a:latin typeface="Times New Roman"/>
                <a:ea typeface="Calibri"/>
                <a:cs typeface="Times New Roman"/>
              </a:rPr>
              <a:t> </a:t>
            </a:r>
            <a:r>
              <a:rPr lang="en-US" err="1">
                <a:latin typeface="Times New Roman"/>
                <a:ea typeface="Calibri"/>
                <a:cs typeface="Times New Roman"/>
              </a:rPr>
              <a:t>талбай</a:t>
            </a:r>
            <a:r>
              <a:rPr lang="en-US">
                <a:latin typeface="Times New Roman"/>
                <a:ea typeface="Calibri"/>
                <a:cs typeface="Times New Roman"/>
              </a:rPr>
              <a:t> , </a:t>
            </a:r>
            <a:r>
              <a:rPr lang="en-US" err="1">
                <a:latin typeface="Times New Roman"/>
                <a:ea typeface="Calibri"/>
                <a:cs typeface="Times New Roman"/>
              </a:rPr>
              <a:t>периметрийг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олох</a:t>
            </a:r>
            <a:r>
              <a:rPr lang="en-US">
                <a:latin typeface="Times New Roman"/>
                <a:ea typeface="Calibri"/>
                <a:cs typeface="Times New Roman"/>
              </a:rPr>
              <a:t> , </a:t>
            </a:r>
            <a:r>
              <a:rPr lang="en-US" err="1">
                <a:latin typeface="Times New Roman"/>
                <a:ea typeface="Calibri"/>
                <a:cs typeface="Times New Roman"/>
              </a:rPr>
              <a:t>хэвлэх</a:t>
            </a:r>
            <a:r>
              <a:rPr lang="en-US">
                <a:latin typeface="Times New Roman"/>
                <a:ea typeface="Calibri"/>
                <a:cs typeface="Times New Roman"/>
              </a:rPr>
              <a:t> </a:t>
            </a:r>
            <a:r>
              <a:rPr lang="en-US" err="1">
                <a:solidFill>
                  <a:srgbClr val="4FBBC4"/>
                </a:solidFill>
                <a:latin typeface="Times New Roman"/>
                <a:ea typeface="Calibri"/>
                <a:cs typeface="Times New Roman"/>
              </a:rPr>
              <a:t>printSahpes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функцийг</a:t>
            </a:r>
            <a:r>
              <a:rPr lang="en-US">
                <a:latin typeface="Times New Roman"/>
                <a:ea typeface="Calibri"/>
                <a:cs typeface="Times New Roman"/>
              </a:rPr>
              <a:t> </a:t>
            </a:r>
            <a:r>
              <a:rPr lang="en-US" err="1">
                <a:latin typeface="Times New Roman"/>
                <a:ea typeface="Calibri"/>
                <a:cs typeface="Times New Roman"/>
              </a:rPr>
              <a:t>тодорхойлно</a:t>
            </a:r>
            <a:r>
              <a:rPr lang="en-US">
                <a:latin typeface="Times New Roman"/>
                <a:ea typeface="Calibri"/>
                <a:cs typeface="Times New Roman"/>
              </a:rPr>
              <a:t>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A01F95-C2A2-1F6E-891B-3AC97395C6E0}"/>
              </a:ext>
            </a:extLst>
          </p:cNvPr>
          <p:cNvSpPr txBox="1"/>
          <p:nvPr/>
        </p:nvSpPr>
        <p:spPr>
          <a:xfrm>
            <a:off x="5292970" y="1077057"/>
            <a:ext cx="509954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="0" i="0" u="none" strike="noStrike" baseline="0">
                <a:solidFill>
                  <a:srgbClr val="000000"/>
                </a:solidFill>
                <a:latin typeface="Calibri"/>
              </a:rPr>
              <a:t>•</a:t>
            </a:r>
            <a:endParaRPr lang="en-US"/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38342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D5581AD-34FF-728A-0F65-42445DED58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DF9256E-2314-008B-BC2B-DC9322632047}"/>
              </a:ext>
            </a:extLst>
          </p:cNvPr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82601EA-D73E-D543-A0C6-FF053071A019}"/>
              </a:ext>
            </a:extLst>
          </p:cNvPr>
          <p:cNvSpPr/>
          <p:nvPr/>
        </p:nvSpPr>
        <p:spPr>
          <a:xfrm>
            <a:off x="1969477" y="-11605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>
                <a:latin typeface="Times New Roman"/>
                <a:ea typeface="Calibri"/>
                <a:cs typeface="Times New Roman"/>
              </a:rPr>
              <a:t>ХЭРЭГЖҮҮЛЭЛТ  —  </a:t>
            </a:r>
            <a:r>
              <a:rPr lang="en-US" sz="2000" b="1" err="1">
                <a:latin typeface="Times New Roman"/>
                <a:ea typeface="Calibri"/>
                <a:cs typeface="Times New Roman"/>
              </a:rPr>
              <a:t>Үндсэн</a:t>
            </a:r>
            <a:r>
              <a:rPr lang="en-US" sz="2000" b="1">
                <a:latin typeface="Times New Roman"/>
                <a:ea typeface="Calibri"/>
                <a:cs typeface="Times New Roman"/>
              </a:rPr>
              <a:t> </a:t>
            </a:r>
            <a:r>
              <a:rPr lang="en-US" sz="2000" b="1" err="1">
                <a:latin typeface="Times New Roman"/>
                <a:ea typeface="Calibri"/>
                <a:cs typeface="Times New Roman"/>
              </a:rPr>
              <a:t>Кодын</a:t>
            </a:r>
            <a:r>
              <a:rPr lang="en-US" sz="2000" b="1">
                <a:latin typeface="Times New Roman"/>
                <a:ea typeface="Calibri"/>
                <a:cs typeface="Times New Roman"/>
              </a:rPr>
              <a:t> </a:t>
            </a:r>
            <a:r>
              <a:rPr lang="en-US" sz="2000" b="1" err="1">
                <a:latin typeface="Times New Roman"/>
                <a:ea typeface="Calibri"/>
                <a:cs typeface="Times New Roman"/>
              </a:rPr>
              <a:t>Тайлбар</a:t>
            </a:r>
            <a:r>
              <a:rPr lang="en-US" sz="2000" b="1">
                <a:latin typeface="Times New Roman"/>
                <a:ea typeface="Calibri"/>
                <a:cs typeface="Times New Roman"/>
              </a:rPr>
              <a:t> 6</a:t>
            </a:r>
            <a:endParaRPr lang="en-US" sz="2000" err="1">
              <a:latin typeface="Times New Roman"/>
              <a:ea typeface="Calibri"/>
              <a:cs typeface="Times New Roman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DCEA9DA-B94C-FEDB-721D-214CE5394B47}"/>
              </a:ext>
            </a:extLst>
          </p:cNvPr>
          <p:cNvSpPr txBox="1"/>
          <p:nvPr/>
        </p:nvSpPr>
        <p:spPr>
          <a:xfrm>
            <a:off x="378069" y="496765"/>
            <a:ext cx="4572000" cy="443198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int main() {</a:t>
            </a:r>
          </a:p>
          <a:p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   </a:t>
            </a:r>
            <a:r>
              <a:rPr lang="en-US" sz="1100" err="1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cout</a:t>
            </a:r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&lt;&lt; "======================================" &lt;&lt;</a:t>
            </a:r>
            <a:r>
              <a:rPr lang="en-US" sz="1100" err="1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endl</a:t>
            </a:r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;</a:t>
            </a:r>
          </a:p>
          <a:p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   </a:t>
            </a:r>
            <a:r>
              <a:rPr lang="en-US" sz="1100" err="1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cout</a:t>
            </a:r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&lt;&lt; "Object </a:t>
            </a:r>
            <a:r>
              <a:rPr lang="en-US" sz="1100" err="1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uuseegui</a:t>
            </a:r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</a:t>
            </a:r>
            <a:r>
              <a:rPr lang="en-US" sz="1100" err="1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uyd</a:t>
            </a:r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: " &lt;&lt;</a:t>
            </a:r>
            <a:r>
              <a:rPr lang="en-US" sz="1100">
                <a:solidFill>
                  <a:srgbClr val="5ED1E3"/>
                </a:solidFill>
                <a:latin typeface="Consolas"/>
                <a:ea typeface="Segoe UI"/>
                <a:cs typeface="Segoe UI"/>
              </a:rPr>
              <a:t>Shape::</a:t>
            </a:r>
            <a:r>
              <a:rPr lang="en-US" sz="1100" err="1">
                <a:solidFill>
                  <a:srgbClr val="5ED1E3"/>
                </a:solidFill>
                <a:latin typeface="Consolas"/>
                <a:ea typeface="Segoe UI"/>
                <a:cs typeface="Segoe UI"/>
              </a:rPr>
              <a:t>getCounter</a:t>
            </a:r>
            <a:r>
              <a:rPr lang="en-US" sz="1100">
                <a:solidFill>
                  <a:srgbClr val="5ED1E3"/>
                </a:solidFill>
                <a:latin typeface="Consolas"/>
                <a:ea typeface="Segoe UI"/>
                <a:cs typeface="Segoe UI"/>
              </a:rPr>
              <a:t>()</a:t>
            </a:r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 &lt;&lt; </a:t>
            </a:r>
            <a:r>
              <a:rPr lang="en-US" sz="1100" err="1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endl</a:t>
            </a:r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;</a:t>
            </a:r>
          </a:p>
          <a:p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   </a:t>
            </a:r>
            <a:r>
              <a:rPr lang="en-US" sz="1100" err="1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cout</a:t>
            </a:r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&lt;&lt; "======================================\n" &lt;&lt;</a:t>
            </a:r>
            <a:r>
              <a:rPr lang="en-US" sz="1100" err="1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endl</a:t>
            </a:r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;</a:t>
            </a:r>
          </a:p>
          <a:p>
            <a:endParaRPr lang="en-US" sz="1100">
              <a:solidFill>
                <a:srgbClr val="000000"/>
              </a:solidFill>
              <a:latin typeface="Consolas"/>
              <a:ea typeface="Segoe UI"/>
              <a:cs typeface="Segoe UI"/>
            </a:endParaRPr>
          </a:p>
          <a:p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int n = 6 ;</a:t>
            </a:r>
          </a:p>
          <a:p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   Shape2D** shapes = new Shape2D*[n];</a:t>
            </a:r>
          </a:p>
          <a:p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   shapes[0] = new Circle({0,0}, 5, "Circle1");</a:t>
            </a:r>
          </a:p>
          <a:p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   shapes[1] = new Square({0,10}, 4, "Square1");</a:t>
            </a:r>
          </a:p>
          <a:p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   shapes[2] = new Triangle({0,10}, 6, "Triangle1");</a:t>
            </a:r>
          </a:p>
          <a:p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   shapes[3] = new Circle({1,1}, 3, "Circle2");</a:t>
            </a:r>
          </a:p>
          <a:p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   shapes[4] = new Square({2,8}, 2, "Square2");</a:t>
            </a:r>
          </a:p>
          <a:p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   shapes[5] = new Triangle({2,5}, 4, "Triangle2");</a:t>
            </a:r>
          </a:p>
          <a:p>
            <a:endParaRPr lang="en-US" sz="1100">
              <a:solidFill>
                <a:srgbClr val="000000"/>
              </a:solidFill>
              <a:latin typeface="Consolas"/>
              <a:cs typeface="Segoe UI"/>
            </a:endParaRPr>
          </a:p>
          <a:p>
            <a:r>
              <a:rPr lang="en-US" sz="1100">
                <a:solidFill>
                  <a:srgbClr val="000000"/>
                </a:solidFill>
                <a:latin typeface="Consolas"/>
                <a:cs typeface="Segoe UI"/>
              </a:rPr>
              <a:t> </a:t>
            </a:r>
            <a:r>
              <a:rPr lang="en-US" sz="1100" err="1">
                <a:solidFill>
                  <a:srgbClr val="000000"/>
                </a:solidFill>
                <a:latin typeface="Consolas"/>
                <a:cs typeface="Segoe UI"/>
              </a:rPr>
              <a:t>cout</a:t>
            </a:r>
            <a:r>
              <a:rPr lang="en-US" sz="1100">
                <a:solidFill>
                  <a:srgbClr val="000000"/>
                </a:solidFill>
                <a:latin typeface="Consolas"/>
                <a:cs typeface="Segoe UI"/>
              </a:rPr>
              <a:t> &lt;&lt; "</a:t>
            </a:r>
            <a:r>
              <a:rPr lang="en-US" sz="1100" err="1">
                <a:solidFill>
                  <a:srgbClr val="000000"/>
                </a:solidFill>
                <a:latin typeface="Consolas"/>
                <a:cs typeface="Segoe UI"/>
              </a:rPr>
              <a:t>Uussen</a:t>
            </a:r>
            <a:r>
              <a:rPr lang="en-US" sz="1100">
                <a:solidFill>
                  <a:srgbClr val="000000"/>
                </a:solidFill>
                <a:latin typeface="Consolas"/>
                <a:cs typeface="Segoe UI"/>
              </a:rPr>
              <a:t> </a:t>
            </a:r>
            <a:r>
              <a:rPr lang="en-US" sz="1100" err="1">
                <a:solidFill>
                  <a:srgbClr val="000000"/>
                </a:solidFill>
                <a:latin typeface="Consolas"/>
                <a:cs typeface="Segoe UI"/>
              </a:rPr>
              <a:t>niit</a:t>
            </a:r>
            <a:r>
              <a:rPr lang="en-US" sz="1100">
                <a:solidFill>
                  <a:srgbClr val="000000"/>
                </a:solidFill>
                <a:latin typeface="Consolas"/>
                <a:cs typeface="Segoe UI"/>
              </a:rPr>
              <a:t> </a:t>
            </a:r>
            <a:r>
              <a:rPr lang="en-US" sz="1100" err="1">
                <a:solidFill>
                  <a:srgbClr val="000000"/>
                </a:solidFill>
                <a:latin typeface="Consolas"/>
                <a:cs typeface="Segoe UI"/>
              </a:rPr>
              <a:t>objectiin</a:t>
            </a:r>
            <a:r>
              <a:rPr lang="en-US" sz="1100">
                <a:solidFill>
                  <a:srgbClr val="000000"/>
                </a:solidFill>
                <a:latin typeface="Consolas"/>
                <a:cs typeface="Segoe UI"/>
              </a:rPr>
              <a:t> too (static counter):" &lt;&lt; </a:t>
            </a:r>
            <a:r>
              <a:rPr lang="en-US" sz="1100">
                <a:solidFill>
                  <a:srgbClr val="5ED1E3"/>
                </a:solidFill>
                <a:latin typeface="Consolas"/>
                <a:cs typeface="Segoe UI"/>
              </a:rPr>
              <a:t>Shape::</a:t>
            </a:r>
            <a:r>
              <a:rPr lang="en-US" sz="1100" err="1">
                <a:solidFill>
                  <a:srgbClr val="5ED1E3"/>
                </a:solidFill>
                <a:latin typeface="Consolas"/>
                <a:cs typeface="Segoe UI"/>
              </a:rPr>
              <a:t>getCounter</a:t>
            </a:r>
            <a:r>
              <a:rPr lang="en-US" sz="1100">
                <a:solidFill>
                  <a:srgbClr val="5ED1E3"/>
                </a:solidFill>
                <a:latin typeface="Consolas"/>
                <a:cs typeface="Segoe UI"/>
              </a:rPr>
              <a:t>()</a:t>
            </a:r>
            <a:r>
              <a:rPr lang="en-US" sz="1100">
                <a:solidFill>
                  <a:srgbClr val="000000"/>
                </a:solidFill>
                <a:latin typeface="Consolas"/>
                <a:cs typeface="Segoe UI"/>
              </a:rPr>
              <a:t> &lt;&lt; "\n" &lt;&lt; </a:t>
            </a:r>
            <a:r>
              <a:rPr lang="en-US" sz="1100" err="1">
                <a:solidFill>
                  <a:srgbClr val="000000"/>
                </a:solidFill>
                <a:latin typeface="Consolas"/>
                <a:cs typeface="Segoe UI"/>
              </a:rPr>
              <a:t>endl</a:t>
            </a:r>
            <a:r>
              <a:rPr lang="en-US" sz="1100">
                <a:solidFill>
                  <a:srgbClr val="000000"/>
                </a:solidFill>
                <a:latin typeface="Consolas"/>
                <a:cs typeface="Segoe UI"/>
              </a:rPr>
              <a:t>;</a:t>
            </a:r>
            <a:endParaRPr lang="en-US"/>
          </a:p>
          <a:p>
            <a:pPr algn="l"/>
            <a:endParaRPr lang="en-US" sz="1100" b="0" i="0">
              <a:solidFill>
                <a:srgbClr val="000000"/>
              </a:solidFill>
              <a:latin typeface="Consolas"/>
              <a:ea typeface="Segoe UI"/>
              <a:cs typeface="Segoe UI"/>
            </a:endParaRPr>
          </a:p>
          <a:p>
            <a:pPr algn="l"/>
            <a:endParaRPr lang="en-US" sz="1100" b="0" i="0" u="none" strike="noStrike" baseline="0">
              <a:solidFill>
                <a:srgbClr val="000000"/>
              </a:solidFill>
              <a:latin typeface="Consolas"/>
              <a:ea typeface="Segoe UI"/>
              <a:cs typeface="Segoe UI"/>
            </a:endParaRPr>
          </a:p>
          <a:p>
            <a:endParaRPr lang="en-US" sz="1100">
              <a:latin typeface="Consolas"/>
              <a:cs typeface="Segoe UI"/>
            </a:endParaRPr>
          </a:p>
          <a:p>
            <a:endParaRPr lang="en-US" sz="1100">
              <a:latin typeface="Consolas"/>
              <a:ea typeface="Calibri" panose="020F0502020204030204"/>
              <a:cs typeface="Segoe UI"/>
            </a:endParaRPr>
          </a:p>
          <a:p>
            <a:endParaRPr lang="en-US" sz="1100">
              <a:latin typeface="Consolas"/>
              <a:ea typeface="Calibri" panose="020F0502020204030204"/>
              <a:cs typeface="Segoe UI"/>
            </a:endParaRPr>
          </a:p>
          <a:p>
            <a:pPr algn="ctr"/>
            <a:endParaRPr lang="en-US">
              <a:ea typeface="Calibri" panose="020F0502020204030204"/>
              <a:cs typeface="Calibri" panose="020F0502020204030204"/>
            </a:endParaRPr>
          </a:p>
        </p:txBody>
      </p:sp>
      <p:sp>
        <p:nvSpPr>
          <p:cNvPr id="6" name="Text 16">
            <a:extLst>
              <a:ext uri="{FF2B5EF4-FFF2-40B4-BE49-F238E27FC236}">
                <a16:creationId xmlns:a16="http://schemas.microsoft.com/office/drawing/2014/main" id="{F7AD3417-45AA-0CB5-1723-87F5093059F6}"/>
              </a:ext>
            </a:extLst>
          </p:cNvPr>
          <p:cNvSpPr/>
          <p:nvPr/>
        </p:nvSpPr>
        <p:spPr>
          <a:xfrm>
            <a:off x="5543878" y="1294415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>
                <a:solidFill>
                  <a:srgbClr val="5ED1E3"/>
                </a:solidFill>
                <a:latin typeface="Times New Roman"/>
                <a:ea typeface="Calibri"/>
                <a:cs typeface="Times New Roman"/>
              </a:rPr>
              <a:t>Static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гишүүн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өгөгдөл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объект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үүсэхээс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өмнө</a:t>
            </a:r>
            <a:r>
              <a:rPr lang="en-US">
                <a:latin typeface="Times New Roman"/>
                <a:ea typeface="Calibri"/>
                <a:cs typeface="Times New Roman"/>
              </a:rPr>
              <a:t> , </a:t>
            </a:r>
            <a:r>
              <a:rPr lang="en-US" err="1">
                <a:latin typeface="Times New Roman"/>
                <a:ea typeface="Calibri"/>
                <a:cs typeface="Times New Roman"/>
              </a:rPr>
              <a:t>дараах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утгыг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хэвлэнэ</a:t>
            </a:r>
            <a:r>
              <a:rPr lang="en-US">
                <a:latin typeface="Times New Roman"/>
                <a:ea typeface="Calibri"/>
                <a:cs typeface="Times New Roman"/>
              </a:rPr>
              <a:t>. </a:t>
            </a:r>
            <a:r>
              <a:rPr lang="en-US" err="1">
                <a:latin typeface="Times New Roman"/>
                <a:ea typeface="Calibri"/>
                <a:cs typeface="Times New Roman"/>
              </a:rPr>
              <a:t>Ингэхдээ</a:t>
            </a:r>
            <a:r>
              <a:rPr lang="en-US">
                <a:latin typeface="Times New Roman"/>
                <a:ea typeface="Calibri"/>
                <a:cs typeface="Times New Roman"/>
              </a:rPr>
              <a:t> static </a:t>
            </a:r>
            <a:r>
              <a:rPr lang="en-US" err="1">
                <a:latin typeface="Times New Roman"/>
                <a:ea typeface="Calibri"/>
                <a:cs typeface="Times New Roman"/>
              </a:rPr>
              <a:t>гишүүн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функцийг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классаар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дуудна</a:t>
            </a:r>
            <a:r>
              <a:rPr lang="en-US">
                <a:latin typeface="Times New Roman"/>
                <a:ea typeface="Calibri"/>
                <a:cs typeface="Times New Roman"/>
              </a:rPr>
              <a:t>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A0962F-7ACD-BBBE-11E9-8E2BA61B8D3F}"/>
              </a:ext>
            </a:extLst>
          </p:cNvPr>
          <p:cNvSpPr txBox="1"/>
          <p:nvPr/>
        </p:nvSpPr>
        <p:spPr>
          <a:xfrm>
            <a:off x="5292970" y="892419"/>
            <a:ext cx="509954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="0" i="0" u="none" strike="noStrike" baseline="0">
                <a:solidFill>
                  <a:srgbClr val="000000"/>
                </a:solidFill>
                <a:latin typeface="Calibri"/>
              </a:rPr>
              <a:t>•</a:t>
            </a:r>
            <a:endParaRPr lang="en-US"/>
          </a:p>
          <a:p>
            <a:pPr algn="ctr"/>
            <a:endParaRPr lang="en-US"/>
          </a:p>
        </p:txBody>
      </p:sp>
      <p:sp>
        <p:nvSpPr>
          <p:cNvPr id="4" name="Text 16">
            <a:extLst>
              <a:ext uri="{FF2B5EF4-FFF2-40B4-BE49-F238E27FC236}">
                <a16:creationId xmlns:a16="http://schemas.microsoft.com/office/drawing/2014/main" id="{9148BECD-1E3B-B9CD-156A-0A625BCE3A27}"/>
              </a:ext>
            </a:extLst>
          </p:cNvPr>
          <p:cNvSpPr/>
          <p:nvPr/>
        </p:nvSpPr>
        <p:spPr>
          <a:xfrm>
            <a:off x="5543877" y="282427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err="1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Объектын</a:t>
            </a:r>
            <a:r>
              <a:rPr lang="en-US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 </a:t>
            </a:r>
            <a:r>
              <a:rPr lang="en-US" err="1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массив</a:t>
            </a:r>
            <a:r>
              <a:rPr lang="en-US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үүсгэхдээ</a:t>
            </a:r>
            <a:r>
              <a:rPr lang="en-US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 </a:t>
            </a:r>
            <a:r>
              <a:rPr lang="en-US" err="1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санах</a:t>
            </a:r>
            <a:r>
              <a:rPr lang="en-US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ой</a:t>
            </a:r>
            <a:r>
              <a:rPr lang="en-US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нөөцлөн</a:t>
            </a:r>
            <a:r>
              <a:rPr lang="en-US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 , </a:t>
            </a:r>
            <a:r>
              <a:rPr lang="en-US" err="1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массивийн</a:t>
            </a:r>
            <a:r>
              <a:rPr lang="en-US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хаягийг</a:t>
            </a:r>
            <a:r>
              <a:rPr lang="en-US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заах</a:t>
            </a:r>
            <a:r>
              <a:rPr lang="en-US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заагчид</a:t>
            </a:r>
            <a:r>
              <a:rPr lang="en-US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 </a:t>
            </a:r>
            <a:r>
              <a:rPr lang="en-US" err="1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ой</a:t>
            </a:r>
            <a:r>
              <a:rPr lang="en-US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нөөцлөнө</a:t>
            </a:r>
            <a:r>
              <a:rPr lang="en-US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. </a:t>
            </a:r>
            <a:endParaRPr lang="en-US">
              <a:latin typeface="Times New Roman"/>
              <a:ea typeface="Calibri"/>
              <a:cs typeface="Times New Roman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63B428-AF98-C797-C61E-D8CECEA94813}"/>
              </a:ext>
            </a:extLst>
          </p:cNvPr>
          <p:cNvSpPr txBox="1"/>
          <p:nvPr/>
        </p:nvSpPr>
        <p:spPr>
          <a:xfrm>
            <a:off x="5292969" y="2422280"/>
            <a:ext cx="509954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="0" i="0" u="none" strike="noStrike" baseline="0">
                <a:solidFill>
                  <a:srgbClr val="000000"/>
                </a:solidFill>
                <a:latin typeface="Calibri"/>
              </a:rPr>
              <a:t>•</a:t>
            </a:r>
            <a:endParaRPr lang="en-US"/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62229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74DF216-1FB5-5F0A-1AC0-E973A06F9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B4A0DF0-2A11-40E3-5D27-24C2E0A9EBA4}"/>
              </a:ext>
            </a:extLst>
          </p:cNvPr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FFAA6C2-B45F-FD27-A8FA-AA14A0B74660}"/>
              </a:ext>
            </a:extLst>
          </p:cNvPr>
          <p:cNvSpPr/>
          <p:nvPr/>
        </p:nvSpPr>
        <p:spPr>
          <a:xfrm>
            <a:off x="1969477" y="-11605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>
                <a:latin typeface="Times New Roman"/>
                <a:ea typeface="Calibri"/>
                <a:cs typeface="Times New Roman"/>
              </a:rPr>
              <a:t>ХЭРЭГЖҮҮЛЭЛТ  —  </a:t>
            </a:r>
            <a:r>
              <a:rPr lang="en-US" sz="2000" b="1" err="1">
                <a:latin typeface="Times New Roman"/>
                <a:ea typeface="Calibri"/>
                <a:cs typeface="Times New Roman"/>
              </a:rPr>
              <a:t>Үндсэн</a:t>
            </a:r>
            <a:r>
              <a:rPr lang="en-US" sz="2000" b="1">
                <a:latin typeface="Times New Roman"/>
                <a:ea typeface="Calibri"/>
                <a:cs typeface="Times New Roman"/>
              </a:rPr>
              <a:t> </a:t>
            </a:r>
            <a:r>
              <a:rPr lang="en-US" sz="2000" b="1" err="1">
                <a:latin typeface="Times New Roman"/>
                <a:ea typeface="Calibri"/>
                <a:cs typeface="Times New Roman"/>
              </a:rPr>
              <a:t>Кодын</a:t>
            </a:r>
            <a:r>
              <a:rPr lang="en-US" sz="2000" b="1">
                <a:latin typeface="Times New Roman"/>
                <a:ea typeface="Calibri"/>
                <a:cs typeface="Times New Roman"/>
              </a:rPr>
              <a:t> </a:t>
            </a:r>
            <a:r>
              <a:rPr lang="en-US" sz="2000" b="1" err="1">
                <a:latin typeface="Times New Roman"/>
                <a:ea typeface="Calibri"/>
                <a:cs typeface="Times New Roman"/>
              </a:rPr>
              <a:t>Тайлбар</a:t>
            </a:r>
            <a:r>
              <a:rPr lang="en-US" sz="2000" b="1">
                <a:latin typeface="Times New Roman"/>
                <a:ea typeface="Calibri"/>
                <a:cs typeface="Times New Roman"/>
              </a:rPr>
              <a:t> 7</a:t>
            </a:r>
            <a:endParaRPr lang="en-US" sz="2000" err="1">
              <a:latin typeface="Times New Roman"/>
              <a:ea typeface="Calibri"/>
              <a:cs typeface="Times New Roman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CCF904-F104-14AD-01B8-AA008B2FAB5C}"/>
              </a:ext>
            </a:extLst>
          </p:cNvPr>
          <p:cNvSpPr txBox="1"/>
          <p:nvPr/>
        </p:nvSpPr>
        <p:spPr>
          <a:xfrm>
            <a:off x="378069" y="496765"/>
            <a:ext cx="4572000" cy="544764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// ===== </a:t>
            </a:r>
            <a:r>
              <a:rPr lang="en-US" sz="1100" err="1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Талбайгаар</a:t>
            </a:r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</a:t>
            </a:r>
            <a:r>
              <a:rPr lang="en-US" sz="1100" err="1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эрэмбэлж</a:t>
            </a:r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</a:t>
            </a:r>
            <a:r>
              <a:rPr lang="en-US" sz="1100" err="1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хэвлэх</a:t>
            </a:r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=====</a:t>
            </a:r>
          </a:p>
          <a:p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   </a:t>
            </a:r>
            <a:r>
              <a:rPr lang="en-US" sz="1100" err="1">
                <a:solidFill>
                  <a:srgbClr val="7030A0"/>
                </a:solidFill>
                <a:latin typeface="Consolas"/>
                <a:ea typeface="Segoe UI"/>
                <a:cs typeface="Segoe UI"/>
              </a:rPr>
              <a:t>sortByTalbai</a:t>
            </a:r>
            <a:r>
              <a:rPr lang="en-US" sz="1100">
                <a:solidFill>
                  <a:srgbClr val="7030A0"/>
                </a:solidFill>
                <a:latin typeface="Consolas"/>
                <a:ea typeface="Segoe UI"/>
                <a:cs typeface="Segoe UI"/>
              </a:rPr>
              <a:t>(shapes, n)</a:t>
            </a:r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 </a:t>
            </a:r>
            <a:r>
              <a:rPr lang="en-US" sz="1100">
                <a:solidFill>
                  <a:srgbClr val="7030A0"/>
                </a:solidFill>
                <a:latin typeface="Consolas"/>
                <a:ea typeface="Segoe UI"/>
                <a:cs typeface="Segoe UI"/>
              </a:rPr>
              <a:t>;</a:t>
            </a:r>
          </a:p>
          <a:p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   </a:t>
            </a:r>
            <a:r>
              <a:rPr lang="en-US" sz="1100" err="1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cout</a:t>
            </a:r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&lt;&lt; "======================================" &lt;&lt;</a:t>
            </a:r>
            <a:r>
              <a:rPr lang="en-US" sz="1100" err="1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endl</a:t>
            </a:r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;</a:t>
            </a:r>
            <a:endParaRPr lang="en-US"/>
          </a:p>
          <a:p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   </a:t>
            </a:r>
            <a:r>
              <a:rPr lang="en-US" sz="1100" err="1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cout</a:t>
            </a:r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&lt;&lt; "=== </a:t>
            </a:r>
            <a:r>
              <a:rPr lang="en-US" sz="1100" err="1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Talbaigaar</a:t>
            </a:r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</a:t>
            </a:r>
            <a:r>
              <a:rPr lang="en-US" sz="1100" err="1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erembelsen</a:t>
            </a:r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===" &lt;&lt; </a:t>
            </a:r>
            <a:r>
              <a:rPr lang="en-US" sz="1100" err="1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endl</a:t>
            </a:r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;</a:t>
            </a:r>
          </a:p>
          <a:p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   </a:t>
            </a:r>
            <a:r>
              <a:rPr lang="en-US" sz="1100" err="1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cout</a:t>
            </a:r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&lt;&lt; "======================================" &lt;&lt;</a:t>
            </a:r>
            <a:r>
              <a:rPr lang="en-US" sz="1100" err="1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endl</a:t>
            </a:r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;</a:t>
            </a:r>
          </a:p>
          <a:p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   </a:t>
            </a:r>
            <a:r>
              <a:rPr lang="en-US" sz="1100" err="1">
                <a:solidFill>
                  <a:srgbClr val="7030A0"/>
                </a:solidFill>
                <a:latin typeface="Consolas"/>
                <a:ea typeface="Segoe UI"/>
                <a:cs typeface="Segoe UI"/>
              </a:rPr>
              <a:t>printShapes</a:t>
            </a:r>
            <a:r>
              <a:rPr lang="en-US" sz="1100">
                <a:solidFill>
                  <a:srgbClr val="7030A0"/>
                </a:solidFill>
                <a:latin typeface="Consolas"/>
                <a:ea typeface="Segoe UI"/>
                <a:cs typeface="Segoe UI"/>
              </a:rPr>
              <a:t>(shapes, n) ;</a:t>
            </a:r>
          </a:p>
          <a:p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   // ===== </a:t>
            </a:r>
            <a:r>
              <a:rPr lang="en-US" sz="1100" err="1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Периметрээр</a:t>
            </a:r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</a:t>
            </a:r>
            <a:r>
              <a:rPr lang="en-US" sz="1100" err="1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эрэмбэлж</a:t>
            </a:r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</a:t>
            </a:r>
            <a:r>
              <a:rPr lang="en-US" sz="1100" err="1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хэвлэх</a:t>
            </a:r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=====</a:t>
            </a:r>
          </a:p>
          <a:p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   </a:t>
            </a:r>
            <a:r>
              <a:rPr lang="en-US" sz="1100" err="1">
                <a:solidFill>
                  <a:srgbClr val="7030A0"/>
                </a:solidFill>
                <a:latin typeface="Consolas"/>
                <a:ea typeface="Segoe UI"/>
                <a:cs typeface="Segoe UI"/>
              </a:rPr>
              <a:t>sortByPerimetr</a:t>
            </a:r>
            <a:r>
              <a:rPr lang="en-US" sz="1100">
                <a:solidFill>
                  <a:srgbClr val="7030A0"/>
                </a:solidFill>
                <a:latin typeface="Consolas"/>
                <a:ea typeface="Segoe UI"/>
                <a:cs typeface="Segoe UI"/>
              </a:rPr>
              <a:t>(shapes, n) ;</a:t>
            </a:r>
          </a:p>
          <a:p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   </a:t>
            </a:r>
            <a:r>
              <a:rPr lang="en-US" sz="1100" err="1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cout</a:t>
            </a:r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&lt;&lt; "\n======================================" &lt;&lt;</a:t>
            </a:r>
            <a:r>
              <a:rPr lang="en-US" sz="1100" err="1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endl</a:t>
            </a:r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;</a:t>
            </a:r>
          </a:p>
          <a:p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   </a:t>
            </a:r>
            <a:r>
              <a:rPr lang="en-US" sz="1100" err="1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cout</a:t>
            </a:r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&lt;&lt; "=== </a:t>
            </a:r>
            <a:r>
              <a:rPr lang="en-US" sz="1100" err="1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Perimetreer</a:t>
            </a:r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</a:t>
            </a:r>
            <a:r>
              <a:rPr lang="en-US" sz="1100" err="1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erembelsen</a:t>
            </a:r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===" &lt;&lt; </a:t>
            </a:r>
            <a:r>
              <a:rPr lang="en-US" sz="1100" err="1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endl</a:t>
            </a:r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;</a:t>
            </a:r>
          </a:p>
          <a:p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   </a:t>
            </a:r>
            <a:r>
              <a:rPr lang="en-US" sz="1100" err="1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cout</a:t>
            </a:r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&lt;&lt; "======================================" &lt;&lt;</a:t>
            </a:r>
            <a:r>
              <a:rPr lang="en-US" sz="1100" err="1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endl</a:t>
            </a:r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;</a:t>
            </a:r>
          </a:p>
          <a:p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   </a:t>
            </a:r>
            <a:r>
              <a:rPr lang="en-US" sz="1100" err="1">
                <a:solidFill>
                  <a:srgbClr val="7030A0"/>
                </a:solidFill>
                <a:latin typeface="Consolas"/>
                <a:ea typeface="Segoe UI"/>
                <a:cs typeface="Segoe UI"/>
              </a:rPr>
              <a:t>printShapes</a:t>
            </a:r>
            <a:r>
              <a:rPr lang="en-US" sz="1100">
                <a:solidFill>
                  <a:srgbClr val="7030A0"/>
                </a:solidFill>
                <a:latin typeface="Consolas"/>
                <a:ea typeface="Segoe UI"/>
                <a:cs typeface="Segoe UI"/>
              </a:rPr>
              <a:t>(shapes, n);</a:t>
            </a:r>
          </a:p>
          <a:p>
            <a:r>
              <a:rPr lang="en-US" sz="1100">
                <a:solidFill>
                  <a:srgbClr val="000000"/>
                </a:solidFill>
                <a:latin typeface="Consolas"/>
                <a:cs typeface="Segoe UI"/>
              </a:rPr>
              <a:t>    // ===== Memory </a:t>
            </a:r>
            <a:r>
              <a:rPr lang="en-US" sz="1100" err="1">
                <a:solidFill>
                  <a:srgbClr val="000000"/>
                </a:solidFill>
                <a:latin typeface="Consolas"/>
                <a:cs typeface="Segoe UI"/>
              </a:rPr>
              <a:t>цэвэрлэх</a:t>
            </a:r>
            <a:r>
              <a:rPr lang="en-US" sz="1100">
                <a:solidFill>
                  <a:srgbClr val="000000"/>
                </a:solidFill>
                <a:latin typeface="Consolas"/>
                <a:cs typeface="Segoe UI"/>
              </a:rPr>
              <a:t> =====</a:t>
            </a:r>
          </a:p>
          <a:p>
            <a:r>
              <a:rPr lang="en-US" sz="1100">
                <a:solidFill>
                  <a:srgbClr val="000000"/>
                </a:solidFill>
                <a:latin typeface="Consolas"/>
                <a:cs typeface="Segoe UI"/>
              </a:rPr>
              <a:t>    for(int </a:t>
            </a:r>
            <a:r>
              <a:rPr lang="en-US" sz="1100" err="1">
                <a:solidFill>
                  <a:srgbClr val="000000"/>
                </a:solidFill>
                <a:latin typeface="Consolas"/>
                <a:cs typeface="Segoe UI"/>
              </a:rPr>
              <a:t>i</a:t>
            </a:r>
            <a:r>
              <a:rPr lang="en-US" sz="1100">
                <a:solidFill>
                  <a:srgbClr val="000000"/>
                </a:solidFill>
                <a:latin typeface="Consolas"/>
                <a:cs typeface="Segoe UI"/>
              </a:rPr>
              <a:t> = 0; </a:t>
            </a:r>
            <a:r>
              <a:rPr lang="en-US" sz="1100" err="1">
                <a:solidFill>
                  <a:srgbClr val="000000"/>
                </a:solidFill>
                <a:latin typeface="Consolas"/>
                <a:cs typeface="Segoe UI"/>
              </a:rPr>
              <a:t>i</a:t>
            </a:r>
            <a:r>
              <a:rPr lang="en-US" sz="1100">
                <a:solidFill>
                  <a:srgbClr val="000000"/>
                </a:solidFill>
                <a:latin typeface="Consolas"/>
                <a:cs typeface="Segoe UI"/>
              </a:rPr>
              <a:t> &lt; n; </a:t>
            </a:r>
            <a:r>
              <a:rPr lang="en-US" sz="1100" err="1">
                <a:solidFill>
                  <a:srgbClr val="000000"/>
                </a:solidFill>
                <a:latin typeface="Consolas"/>
                <a:cs typeface="Segoe UI"/>
              </a:rPr>
              <a:t>i</a:t>
            </a:r>
            <a:r>
              <a:rPr lang="en-US" sz="1100">
                <a:solidFill>
                  <a:srgbClr val="000000"/>
                </a:solidFill>
                <a:latin typeface="Consolas"/>
                <a:cs typeface="Segoe UI"/>
              </a:rPr>
              <a:t>++){</a:t>
            </a:r>
            <a:endParaRPr lang="en-US" sz="1100">
              <a:latin typeface="Consolas"/>
            </a:endParaRPr>
          </a:p>
          <a:p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       delete shapes[</a:t>
            </a:r>
            <a:r>
              <a:rPr lang="en-US" sz="1100" err="1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i</a:t>
            </a:r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];</a:t>
            </a:r>
            <a:endParaRPr lang="en-US" sz="1100" b="0" i="0">
              <a:solidFill>
                <a:srgbClr val="000000"/>
              </a:solidFill>
              <a:latin typeface="Consolas"/>
              <a:ea typeface="Segoe UI"/>
              <a:cs typeface="Segoe UI"/>
            </a:endParaRPr>
          </a:p>
          <a:p>
            <a:r>
              <a:rPr lang="en-US" sz="1100">
                <a:solidFill>
                  <a:srgbClr val="000000"/>
                </a:solidFill>
                <a:latin typeface="Consolas"/>
                <a:ea typeface="Segoe UI"/>
                <a:cs typeface="Segoe UI"/>
              </a:rPr>
              <a:t>    }</a:t>
            </a:r>
            <a:endParaRPr lang="en-US" sz="1100" b="0" i="0" u="none" strike="noStrike" baseline="0">
              <a:solidFill>
                <a:srgbClr val="000000"/>
              </a:solidFill>
              <a:latin typeface="Consolas"/>
              <a:ea typeface="Segoe UI"/>
              <a:cs typeface="Segoe UI"/>
            </a:endParaRPr>
          </a:p>
          <a:p>
            <a:endParaRPr lang="en-US" sz="1100">
              <a:latin typeface="Consolas"/>
              <a:cs typeface="Segoe UI"/>
            </a:endParaRPr>
          </a:p>
          <a:p>
            <a:r>
              <a:rPr lang="en-US" sz="1100">
                <a:latin typeface="Consolas"/>
                <a:cs typeface="Segoe UI"/>
              </a:rPr>
              <a:t>delete[] shapes;</a:t>
            </a:r>
          </a:p>
          <a:p>
            <a:endParaRPr lang="en-US" sz="1100">
              <a:latin typeface="Consolas"/>
              <a:cs typeface="Segoe UI"/>
            </a:endParaRPr>
          </a:p>
          <a:p>
            <a:r>
              <a:rPr lang="en-US" sz="1100">
                <a:latin typeface="Consolas"/>
                <a:cs typeface="Segoe UI"/>
              </a:rPr>
              <a:t>    </a:t>
            </a:r>
            <a:r>
              <a:rPr lang="en-US" sz="1100" err="1">
                <a:latin typeface="Consolas"/>
                <a:cs typeface="Segoe UI"/>
              </a:rPr>
              <a:t>cout</a:t>
            </a:r>
            <a:r>
              <a:rPr lang="en-US" sz="1100">
                <a:latin typeface="Consolas"/>
                <a:cs typeface="Segoe UI"/>
              </a:rPr>
              <a:t> &lt;&lt; "\n Object </a:t>
            </a:r>
            <a:r>
              <a:rPr lang="en-US" sz="1100" err="1">
                <a:latin typeface="Consolas"/>
                <a:cs typeface="Segoe UI"/>
              </a:rPr>
              <a:t>ustgasnii</a:t>
            </a:r>
            <a:r>
              <a:rPr lang="en-US" sz="1100">
                <a:latin typeface="Consolas"/>
                <a:cs typeface="Segoe UI"/>
              </a:rPr>
              <a:t> </a:t>
            </a:r>
            <a:r>
              <a:rPr lang="en-US" sz="1100" err="1">
                <a:latin typeface="Consolas"/>
                <a:cs typeface="Segoe UI"/>
              </a:rPr>
              <a:t>daraah</a:t>
            </a:r>
            <a:r>
              <a:rPr lang="en-US" sz="1100">
                <a:latin typeface="Consolas"/>
                <a:cs typeface="Segoe UI"/>
              </a:rPr>
              <a:t> static </a:t>
            </a:r>
            <a:r>
              <a:rPr lang="en-US" sz="1100" err="1">
                <a:latin typeface="Consolas"/>
                <a:cs typeface="Segoe UI"/>
              </a:rPr>
              <a:t>huvisagch</a:t>
            </a:r>
            <a:r>
              <a:rPr lang="en-US" sz="1100">
                <a:latin typeface="Consolas"/>
                <a:cs typeface="Segoe UI"/>
              </a:rPr>
              <a:t>(static counter): " &lt;&lt; </a:t>
            </a:r>
            <a:r>
              <a:rPr lang="en-US" sz="1100">
                <a:solidFill>
                  <a:srgbClr val="5ED1E3"/>
                </a:solidFill>
                <a:latin typeface="Consolas"/>
                <a:cs typeface="Segoe UI"/>
              </a:rPr>
              <a:t>Shape::</a:t>
            </a:r>
            <a:r>
              <a:rPr lang="en-US" sz="1100" err="1">
                <a:solidFill>
                  <a:srgbClr val="5ED1E3"/>
                </a:solidFill>
                <a:latin typeface="Consolas"/>
                <a:cs typeface="Segoe UI"/>
              </a:rPr>
              <a:t>getCounter</a:t>
            </a:r>
            <a:r>
              <a:rPr lang="en-US" sz="1100">
                <a:solidFill>
                  <a:srgbClr val="5ED1E3"/>
                </a:solidFill>
                <a:latin typeface="Consolas"/>
                <a:cs typeface="Segoe UI"/>
              </a:rPr>
              <a:t>() </a:t>
            </a:r>
            <a:r>
              <a:rPr lang="en-US" sz="1100">
                <a:latin typeface="Consolas"/>
                <a:cs typeface="Segoe UI"/>
              </a:rPr>
              <a:t>&lt;&lt; </a:t>
            </a:r>
            <a:r>
              <a:rPr lang="en-US" sz="1100" err="1">
                <a:latin typeface="Consolas"/>
                <a:cs typeface="Segoe UI"/>
              </a:rPr>
              <a:t>endl</a:t>
            </a:r>
            <a:r>
              <a:rPr lang="en-US" sz="1100">
                <a:latin typeface="Consolas"/>
                <a:cs typeface="Segoe UI"/>
              </a:rPr>
              <a:t>;</a:t>
            </a:r>
          </a:p>
          <a:p>
            <a:r>
              <a:rPr lang="en-US" sz="1100">
                <a:latin typeface="Consolas"/>
                <a:cs typeface="Segoe UI"/>
              </a:rPr>
              <a:t>    return 0;</a:t>
            </a:r>
          </a:p>
          <a:p>
            <a:r>
              <a:rPr lang="en-US" sz="1100">
                <a:latin typeface="Consolas"/>
                <a:cs typeface="Segoe UI"/>
              </a:rPr>
              <a:t>}</a:t>
            </a:r>
          </a:p>
          <a:p>
            <a:endParaRPr lang="en-US" sz="1100">
              <a:latin typeface="Consolas"/>
              <a:cs typeface="Segoe UI"/>
            </a:endParaRPr>
          </a:p>
          <a:p>
            <a:endParaRPr lang="en-US" sz="1100">
              <a:latin typeface="Consolas"/>
              <a:ea typeface="Calibri" panose="020F0502020204030204"/>
              <a:cs typeface="Segoe UI"/>
            </a:endParaRPr>
          </a:p>
          <a:p>
            <a:endParaRPr lang="en-US" sz="1100">
              <a:latin typeface="Consolas"/>
              <a:ea typeface="Calibri" panose="020F0502020204030204"/>
              <a:cs typeface="Segoe UI"/>
            </a:endParaRPr>
          </a:p>
          <a:p>
            <a:pPr algn="ctr"/>
            <a:endParaRPr lang="en-US">
              <a:ea typeface="Calibri" panose="020F0502020204030204"/>
              <a:cs typeface="Calibri" panose="020F0502020204030204"/>
            </a:endParaRPr>
          </a:p>
        </p:txBody>
      </p:sp>
      <p:sp>
        <p:nvSpPr>
          <p:cNvPr id="6" name="Text 16">
            <a:extLst>
              <a:ext uri="{FF2B5EF4-FFF2-40B4-BE49-F238E27FC236}">
                <a16:creationId xmlns:a16="http://schemas.microsoft.com/office/drawing/2014/main" id="{852F1D05-5919-9083-1315-DB9FEEC85B33}"/>
              </a:ext>
            </a:extLst>
          </p:cNvPr>
          <p:cNvSpPr/>
          <p:nvPr/>
        </p:nvSpPr>
        <p:spPr>
          <a:xfrm>
            <a:off x="5543878" y="1294415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>
                <a:latin typeface="Times New Roman"/>
                <a:ea typeface="Calibri"/>
                <a:cs typeface="Times New Roman"/>
              </a:rPr>
              <a:t>shapes </a:t>
            </a:r>
            <a:r>
              <a:rPr lang="en-US" err="1">
                <a:latin typeface="Times New Roman"/>
                <a:ea typeface="Calibri"/>
                <a:cs typeface="Times New Roman"/>
              </a:rPr>
              <a:t>массивийн</a:t>
            </a:r>
            <a:r>
              <a:rPr lang="en-US">
                <a:latin typeface="Times New Roman"/>
                <a:ea typeface="Calibri"/>
                <a:cs typeface="Times New Roman"/>
              </a:rPr>
              <a:t> n </a:t>
            </a:r>
            <a:r>
              <a:rPr lang="en-US" err="1">
                <a:latin typeface="Times New Roman"/>
                <a:ea typeface="Calibri"/>
                <a:cs typeface="Times New Roman"/>
              </a:rPr>
              <a:t>элементийг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талбай</a:t>
            </a:r>
            <a:r>
              <a:rPr lang="en-US">
                <a:latin typeface="Times New Roman"/>
                <a:ea typeface="Calibri"/>
                <a:cs typeface="Times New Roman"/>
              </a:rPr>
              <a:t> , </a:t>
            </a:r>
            <a:r>
              <a:rPr lang="en-US" err="1">
                <a:latin typeface="Times New Roman"/>
                <a:ea typeface="Calibri"/>
                <a:cs typeface="Times New Roman"/>
              </a:rPr>
              <a:t>периметрээр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эрэмбэлэх</a:t>
            </a:r>
            <a:r>
              <a:rPr lang="en-US">
                <a:latin typeface="Times New Roman"/>
                <a:ea typeface="Calibri"/>
                <a:cs typeface="Times New Roman"/>
              </a:rPr>
              <a:t> </a:t>
            </a:r>
            <a:r>
              <a:rPr lang="en-US" err="1">
                <a:latin typeface="Times New Roman"/>
                <a:ea typeface="Calibri"/>
                <a:cs typeface="Times New Roman"/>
              </a:rPr>
              <a:t>функцийг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хэрэгжүүлнэ</a:t>
            </a:r>
            <a:r>
              <a:rPr lang="en-US">
                <a:latin typeface="Times New Roman"/>
                <a:ea typeface="Calibri"/>
                <a:cs typeface="Times New Roman"/>
              </a:rPr>
              <a:t>. 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491EC1-2C29-A20A-2134-410C629EC495}"/>
              </a:ext>
            </a:extLst>
          </p:cNvPr>
          <p:cNvSpPr txBox="1"/>
          <p:nvPr/>
        </p:nvSpPr>
        <p:spPr>
          <a:xfrm>
            <a:off x="5292970" y="892419"/>
            <a:ext cx="509954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="0" i="0" u="none" strike="noStrike" baseline="0">
                <a:solidFill>
                  <a:srgbClr val="000000"/>
                </a:solidFill>
                <a:latin typeface="Calibri"/>
              </a:rPr>
              <a:t>•</a:t>
            </a:r>
            <a:endParaRPr lang="en-US"/>
          </a:p>
          <a:p>
            <a:pPr algn="ctr"/>
            <a:endParaRPr lang="en-US"/>
          </a:p>
        </p:txBody>
      </p:sp>
      <p:sp>
        <p:nvSpPr>
          <p:cNvPr id="4" name="Text 16">
            <a:extLst>
              <a:ext uri="{FF2B5EF4-FFF2-40B4-BE49-F238E27FC236}">
                <a16:creationId xmlns:a16="http://schemas.microsoft.com/office/drawing/2014/main" id="{55A6E608-7DAD-C89D-B624-E2FE5C3BDEB9}"/>
              </a:ext>
            </a:extLst>
          </p:cNvPr>
          <p:cNvSpPr/>
          <p:nvPr/>
        </p:nvSpPr>
        <p:spPr>
          <a:xfrm>
            <a:off x="5543877" y="271876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err="1">
                <a:latin typeface="Times New Roman"/>
                <a:ea typeface="Calibri"/>
                <a:cs typeface="Times New Roman"/>
              </a:rPr>
              <a:t>Талбай</a:t>
            </a:r>
            <a:r>
              <a:rPr lang="en-US">
                <a:latin typeface="Times New Roman"/>
                <a:ea typeface="Calibri"/>
                <a:cs typeface="Times New Roman"/>
              </a:rPr>
              <a:t> , </a:t>
            </a:r>
            <a:r>
              <a:rPr lang="en-US" err="1">
                <a:latin typeface="Times New Roman"/>
                <a:ea typeface="Calibri"/>
                <a:cs typeface="Times New Roman"/>
              </a:rPr>
              <a:t>периметрийн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эрэмбэлэлтийг</a:t>
            </a:r>
            <a:r>
              <a:rPr lang="en-US">
                <a:latin typeface="Times New Roman"/>
                <a:ea typeface="Calibri"/>
                <a:cs typeface="Times New Roman"/>
              </a:rPr>
              <a:t> </a:t>
            </a:r>
            <a:r>
              <a:rPr lang="en-US" err="1">
                <a:latin typeface="Times New Roman"/>
                <a:ea typeface="Calibri"/>
                <a:cs typeface="Times New Roman"/>
              </a:rPr>
              <a:t>хэвлэж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хамгийн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сүүлд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нь</a:t>
            </a:r>
            <a:r>
              <a:rPr lang="en-US">
                <a:latin typeface="Times New Roman"/>
                <a:ea typeface="Calibri"/>
                <a:cs typeface="Times New Roman"/>
              </a:rPr>
              <a:t> </a:t>
            </a:r>
            <a:r>
              <a:rPr lang="en-US" err="1">
                <a:latin typeface="Times New Roman"/>
                <a:ea typeface="Calibri"/>
                <a:cs typeface="Times New Roman"/>
              </a:rPr>
              <a:t>санах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ойг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чөлөөлнө</a:t>
            </a:r>
            <a:r>
              <a:rPr lang="en-US">
                <a:latin typeface="Times New Roman"/>
                <a:ea typeface="Calibri"/>
                <a:cs typeface="Times New Roman"/>
              </a:rPr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044EE9-4177-BE3A-03EC-85A3412FED9A}"/>
              </a:ext>
            </a:extLst>
          </p:cNvPr>
          <p:cNvSpPr txBox="1"/>
          <p:nvPr/>
        </p:nvSpPr>
        <p:spPr>
          <a:xfrm>
            <a:off x="5292969" y="2422280"/>
            <a:ext cx="509954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="0" i="0" u="none" strike="noStrike" baseline="0">
                <a:solidFill>
                  <a:srgbClr val="000000"/>
                </a:solidFill>
                <a:latin typeface="Calibri"/>
              </a:rPr>
              <a:t>•</a:t>
            </a:r>
            <a:endParaRPr lang="en-US"/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9800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81966B-1B44-FE0D-5747-E2208CB14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F0F76DA-53E1-27B4-CEC8-AA634D23214F}"/>
              </a:ext>
            </a:extLst>
          </p:cNvPr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21A8A00-7756-392F-1EB8-1023F5EF150E}"/>
              </a:ext>
            </a:extLst>
          </p:cNvPr>
          <p:cNvSpPr/>
          <p:nvPr/>
        </p:nvSpPr>
        <p:spPr>
          <a:xfrm>
            <a:off x="1855177" y="-175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>
                <a:latin typeface="Times New Roman"/>
                <a:ea typeface="Calibri"/>
                <a:cs typeface="Times New Roman"/>
              </a:rPr>
              <a:t>ХЭРЭГЖҮҮЛЭЛТ  —  </a:t>
            </a:r>
            <a:r>
              <a:rPr lang="en-US" sz="2000" b="1" err="1">
                <a:latin typeface="Times New Roman"/>
                <a:ea typeface="Calibri"/>
                <a:cs typeface="Times New Roman"/>
              </a:rPr>
              <a:t>Үндсэн</a:t>
            </a:r>
            <a:r>
              <a:rPr lang="en-US" sz="2000" b="1">
                <a:latin typeface="Times New Roman"/>
                <a:ea typeface="Calibri"/>
                <a:cs typeface="Times New Roman"/>
              </a:rPr>
              <a:t> </a:t>
            </a:r>
            <a:r>
              <a:rPr lang="en-US" sz="2000" b="1" err="1">
                <a:latin typeface="Times New Roman"/>
                <a:ea typeface="Calibri"/>
                <a:cs typeface="Times New Roman"/>
              </a:rPr>
              <a:t>Кодын</a:t>
            </a:r>
            <a:r>
              <a:rPr lang="en-US" sz="2000" b="1">
                <a:latin typeface="Times New Roman"/>
                <a:ea typeface="Calibri"/>
                <a:cs typeface="Times New Roman"/>
              </a:rPr>
              <a:t> </a:t>
            </a:r>
            <a:r>
              <a:rPr lang="en-US" sz="2000" b="1" err="1">
                <a:latin typeface="Times New Roman"/>
                <a:ea typeface="Calibri"/>
                <a:cs typeface="Times New Roman"/>
              </a:rPr>
              <a:t>Тайлбар</a:t>
            </a:r>
            <a:r>
              <a:rPr lang="en-US" sz="2000" b="1">
                <a:latin typeface="Times New Roman"/>
                <a:ea typeface="Calibri"/>
                <a:cs typeface="Times New Roman"/>
              </a:rPr>
              <a:t> 8</a:t>
            </a:r>
            <a:endParaRPr lang="en-US" sz="2000" err="1">
              <a:latin typeface="Times New Roman"/>
              <a:ea typeface="Calibri"/>
              <a:cs typeface="Times New Roman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C448DF91-A8F3-DD39-9B40-17D1115BBC1C}"/>
              </a:ext>
            </a:extLst>
          </p:cNvPr>
          <p:cNvSpPr/>
          <p:nvPr/>
        </p:nvSpPr>
        <p:spPr>
          <a:xfrm>
            <a:off x="6396034" y="1281855"/>
            <a:ext cx="2665186" cy="3566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err="1">
                <a:latin typeface="Times New Roman"/>
                <a:ea typeface="Calibri"/>
                <a:cs typeface="Times New Roman"/>
              </a:rPr>
              <a:t>Дүрсүүдийг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талбай</a:t>
            </a:r>
            <a:r>
              <a:rPr lang="en-US">
                <a:latin typeface="Times New Roman"/>
                <a:ea typeface="Calibri"/>
                <a:cs typeface="Times New Roman"/>
              </a:rPr>
              <a:t>, </a:t>
            </a:r>
            <a:r>
              <a:rPr lang="en-US" err="1">
                <a:latin typeface="Times New Roman"/>
                <a:ea typeface="Calibri"/>
                <a:cs typeface="Times New Roman"/>
              </a:rPr>
              <a:t>периметрээр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нь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эрэмбэлсэн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үр</a:t>
            </a:r>
            <a:r>
              <a:rPr lang="en-US">
                <a:latin typeface="Times New Roman"/>
                <a:ea typeface="Calibri"/>
                <a:cs typeface="Times New Roman"/>
              </a:rPr>
              <a:t> </a:t>
            </a:r>
            <a:r>
              <a:rPr lang="en-US" err="1">
                <a:latin typeface="Times New Roman"/>
                <a:ea typeface="Calibri"/>
                <a:cs typeface="Times New Roman"/>
              </a:rPr>
              <a:t>дүн</a:t>
            </a:r>
            <a:endParaRPr lang="en-US" err="1">
              <a:latin typeface="Times New Roman"/>
              <a:cs typeface="Times New Roman"/>
            </a:endParaRPr>
          </a:p>
        </p:txBody>
      </p:sp>
      <p:pic>
        <p:nvPicPr>
          <p:cNvPr id="4" name="Picture 3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18B77FDE-E304-A2D1-4A5B-0E4DC8ED06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438" y="979715"/>
            <a:ext cx="2787337" cy="4163786"/>
          </a:xfrm>
          <a:prstGeom prst="rect">
            <a:avLst/>
          </a:prstGeom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2F63B58-C029-F4C9-A664-C112BC5FCE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6904" y="979714"/>
            <a:ext cx="2686478" cy="416378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E088B3B-6A12-93A8-1293-ED11E6FAD3C4}"/>
              </a:ext>
            </a:extLst>
          </p:cNvPr>
          <p:cNvSpPr txBox="1"/>
          <p:nvPr/>
        </p:nvSpPr>
        <p:spPr>
          <a:xfrm>
            <a:off x="6137031" y="1041888"/>
            <a:ext cx="4572000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="0" i="0" u="none" strike="noStrike" baseline="0">
                <a:solidFill>
                  <a:srgbClr val="000000"/>
                </a:solidFill>
                <a:latin typeface="Calibri"/>
              </a:rPr>
              <a:t>•</a:t>
            </a:r>
            <a:endParaRPr lang="en-US"/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2450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latin typeface="Times New Roman"/>
                <a:ea typeface="Calibri"/>
                <a:cs typeface="Times New Roman"/>
              </a:rPr>
              <a:t>ДҮГНЭЛТ</a:t>
            </a:r>
            <a:endParaRPr lang="en-US" sz="2600">
              <a:latin typeface="Times New Roman"/>
              <a:ea typeface="Calibri"/>
              <a:cs typeface="Times New Roman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727537E-695D-CE93-877B-E8758D8BC603}"/>
              </a:ext>
            </a:extLst>
          </p:cNvPr>
          <p:cNvSpPr txBox="1"/>
          <p:nvPr/>
        </p:nvSpPr>
        <p:spPr>
          <a:xfrm>
            <a:off x="1296538" y="1602254"/>
            <a:ext cx="6550924" cy="193899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dirty="0">
                <a:latin typeface="Times New Roman"/>
                <a:cs typeface="Times New Roman"/>
              </a:rPr>
              <a:t>Энэхүү </a:t>
            </a:r>
            <a:r>
              <a:rPr lang="en-US" sz="2400" dirty="0" err="1">
                <a:latin typeface="Times New Roman"/>
                <a:cs typeface="Times New Roman"/>
              </a:rPr>
              <a:t>лабораторийн</a:t>
            </a:r>
            <a:r>
              <a:rPr lang="en-US" sz="2400" dirty="0">
                <a:latin typeface="Times New Roman"/>
                <a:cs typeface="Times New Roman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ажлаар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Circle, Square, Triangle </a:t>
            </a:r>
            <a:r>
              <a:rPr lang="mn-M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классуудаар объект үүсгэж талбайгаар эрэмбэлсэн. Хийсвэр класс нь загвар болж, өөрөөсөө объект үүсэхгүй, функцуудыг удамшсан классууд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override </a:t>
            </a:r>
            <a:r>
              <a:rPr lang="mn-M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хийж хэрэгжүүлдэг.</a:t>
            </a:r>
            <a:endParaRPr lang="en-GB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3657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latin typeface="Times New Roman"/>
                <a:ea typeface="Calibri"/>
                <a:cs typeface="Times New Roman"/>
              </a:rPr>
              <a:t>АШИГЛАСАН МАТЕРИАЛ</a:t>
            </a:r>
            <a:endParaRPr lang="en-US" sz="2400">
              <a:latin typeface="Times New Roman"/>
              <a:ea typeface="Calibri"/>
              <a:cs typeface="Times New Roman"/>
            </a:endParaRPr>
          </a:p>
        </p:txBody>
      </p:sp>
      <p:sp>
        <p:nvSpPr>
          <p:cNvPr id="7" name="Text 5"/>
          <p:cNvSpPr/>
          <p:nvPr/>
        </p:nvSpPr>
        <p:spPr>
          <a:xfrm>
            <a:off x="621938" y="906780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latin typeface="Times New Roman"/>
                <a:ea typeface="Calibri"/>
                <a:cs typeface="Times New Roman"/>
              </a:rPr>
              <a:t>[1]  </a:t>
            </a:r>
            <a:r>
              <a:rPr lang="en-US" sz="1050" err="1">
                <a:latin typeface="Times New Roman"/>
                <a:ea typeface="Calibri"/>
                <a:cs typeface="Times New Roman"/>
              </a:rPr>
              <a:t>Объект</a:t>
            </a:r>
            <a:r>
              <a:rPr lang="en-US" sz="1050">
                <a:latin typeface="Times New Roman"/>
                <a:ea typeface="Calibri"/>
                <a:cs typeface="Times New Roman"/>
              </a:rPr>
              <a:t> </a:t>
            </a:r>
            <a:r>
              <a:rPr lang="en-US" sz="1050" err="1">
                <a:latin typeface="Times New Roman"/>
                <a:ea typeface="Calibri"/>
                <a:cs typeface="Times New Roman"/>
              </a:rPr>
              <a:t>хандлагат</a:t>
            </a:r>
            <a:r>
              <a:rPr lang="en-US" sz="1050">
                <a:latin typeface="Times New Roman"/>
                <a:ea typeface="Calibri"/>
                <a:cs typeface="Times New Roman"/>
              </a:rPr>
              <a:t> </a:t>
            </a:r>
            <a:r>
              <a:rPr lang="en-US" sz="1050" err="1">
                <a:latin typeface="Times New Roman"/>
                <a:ea typeface="Calibri"/>
                <a:cs typeface="Times New Roman"/>
              </a:rPr>
              <a:t>технологийн</a:t>
            </a:r>
            <a:r>
              <a:rPr lang="en-US" sz="1050">
                <a:latin typeface="Times New Roman"/>
                <a:ea typeface="Calibri"/>
                <a:cs typeface="Times New Roman"/>
              </a:rPr>
              <a:t> С++ </a:t>
            </a:r>
            <a:r>
              <a:rPr lang="en-US" sz="1050" err="1">
                <a:latin typeface="Times New Roman"/>
                <a:ea typeface="Calibri"/>
                <a:cs typeface="Times New Roman"/>
              </a:rPr>
              <a:t>програмчлал</a:t>
            </a:r>
            <a:r>
              <a:rPr lang="en-US" sz="1050">
                <a:latin typeface="Times New Roman"/>
                <a:ea typeface="Calibri"/>
                <a:cs typeface="Times New Roman"/>
              </a:rPr>
              <a:t>, </a:t>
            </a:r>
            <a:r>
              <a:rPr lang="en-US" sz="1050" err="1">
                <a:latin typeface="Times New Roman"/>
                <a:ea typeface="Calibri"/>
                <a:cs typeface="Times New Roman"/>
              </a:rPr>
              <a:t>Ж.Пүрэв</a:t>
            </a:r>
            <a:r>
              <a:rPr lang="en-US" sz="1050">
                <a:latin typeface="Times New Roman"/>
                <a:ea typeface="Calibri"/>
                <a:cs typeface="Times New Roman"/>
              </a:rPr>
              <a:t>, 2008, </a:t>
            </a:r>
            <a:r>
              <a:rPr lang="en-US" sz="1050" err="1">
                <a:latin typeface="Times New Roman"/>
                <a:ea typeface="Calibri"/>
                <a:cs typeface="Times New Roman"/>
              </a:rPr>
              <a:t>Улаанбаатар</a:t>
            </a:r>
            <a:endParaRPr lang="en-US" sz="1050">
              <a:latin typeface="Times New Roman"/>
              <a:ea typeface="Calibri"/>
              <a:cs typeface="Times New Roman"/>
            </a:endParaRPr>
          </a:p>
        </p:txBody>
      </p:sp>
      <p:sp>
        <p:nvSpPr>
          <p:cNvPr id="9" name="Text 7"/>
          <p:cNvSpPr/>
          <p:nvPr/>
        </p:nvSpPr>
        <p:spPr>
          <a:xfrm>
            <a:off x="621938" y="1247865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latin typeface="Times New Roman"/>
                <a:ea typeface="Calibri"/>
                <a:cs typeface="Times New Roman"/>
              </a:rPr>
              <a:t>[2]  'this' pointer in C++ — </a:t>
            </a:r>
            <a:r>
              <a:rPr lang="en-US" sz="1050" err="1">
                <a:latin typeface="Times New Roman"/>
                <a:ea typeface="Calibri"/>
                <a:cs typeface="Times New Roman"/>
              </a:rPr>
              <a:t>GeeksforGeeks</a:t>
            </a:r>
            <a:endParaRPr lang="en-US" sz="1050">
              <a:latin typeface="Times New Roman"/>
              <a:ea typeface="Calibri"/>
              <a:cs typeface="Times New Roman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21938" y="1588951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latin typeface="Times New Roman"/>
                <a:ea typeface="Calibri"/>
                <a:cs typeface="Times New Roman"/>
              </a:rPr>
              <a:t>[3]  Static Variables in C — </a:t>
            </a:r>
            <a:r>
              <a:rPr lang="en-US" sz="1050" err="1">
                <a:latin typeface="Times New Roman"/>
                <a:ea typeface="Calibri"/>
                <a:cs typeface="Times New Roman"/>
              </a:rPr>
              <a:t>GeeksforGeeks</a:t>
            </a:r>
            <a:endParaRPr lang="en-US" sz="1050">
              <a:latin typeface="Times New Roman"/>
              <a:ea typeface="Calibri"/>
              <a:cs typeface="Times New Roman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593222" y="2402115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err="1">
                <a:latin typeface="Times New Roman"/>
                <a:ea typeface="Calibri"/>
                <a:cs typeface="Times New Roman"/>
              </a:rPr>
              <a:t>Анхаарал</a:t>
            </a:r>
            <a:r>
              <a:rPr lang="en-US" sz="2800" b="1">
                <a:latin typeface="Times New Roman"/>
                <a:ea typeface="Calibri"/>
                <a:cs typeface="Times New Roman"/>
              </a:rPr>
              <a:t> </a:t>
            </a:r>
            <a:r>
              <a:rPr lang="en-US" sz="2800" b="1" err="1">
                <a:latin typeface="Times New Roman"/>
                <a:ea typeface="Calibri"/>
                <a:cs typeface="Times New Roman"/>
              </a:rPr>
              <a:t>хандуулсан</a:t>
            </a:r>
            <a:r>
              <a:rPr lang="en-US" sz="2800" b="1">
                <a:latin typeface="Times New Roman"/>
                <a:ea typeface="Calibri"/>
                <a:cs typeface="Times New Roman"/>
              </a:rPr>
              <a:t> </a:t>
            </a:r>
            <a:r>
              <a:rPr lang="en-US" sz="2800" b="1" err="1">
                <a:latin typeface="Times New Roman"/>
                <a:ea typeface="Calibri"/>
                <a:cs typeface="Times New Roman"/>
              </a:rPr>
              <a:t>явдалд</a:t>
            </a:r>
            <a:endParaRPr lang="en-US" sz="2800" b="1">
              <a:latin typeface="Times New Roman"/>
              <a:ea typeface="Calibri"/>
              <a:cs typeface="Times New Roman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707522" y="281887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>
                <a:latin typeface="Times New Roman"/>
                <a:ea typeface="Calibri"/>
                <a:cs typeface="Times New Roman"/>
              </a:rPr>
              <a:t>БАЯРЛАЛАА!</a:t>
            </a:r>
            <a:endParaRPr lang="en-US" sz="3200">
              <a:latin typeface="Times New Roman"/>
              <a:ea typeface="Calibri"/>
              <a:cs typeface="Times New Roman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57200" y="463477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err="1">
                <a:latin typeface="Times New Roman"/>
                <a:ea typeface="Calibri"/>
                <a:cs typeface="Times New Roman"/>
              </a:rPr>
              <a:t>Баг</a:t>
            </a:r>
            <a:r>
              <a:rPr lang="en-US" sz="900">
                <a:latin typeface="Times New Roman"/>
                <a:ea typeface="Calibri"/>
                <a:cs typeface="Times New Roman"/>
              </a:rPr>
              <a:t>: IRIS  |  МУИС МТЭС МКУТ|  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85FCF2-505C-7C0A-66B7-57591379F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F80218E-6516-2D39-2E0A-8C42FCCE0456}"/>
              </a:ext>
            </a:extLst>
          </p:cNvPr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ECB611-6D4B-AB34-4019-8DA6AC3E18A4}"/>
              </a:ext>
            </a:extLst>
          </p:cNvPr>
          <p:cNvSpPr txBox="1"/>
          <p:nvPr/>
        </p:nvSpPr>
        <p:spPr>
          <a:xfrm>
            <a:off x="2282511" y="122465"/>
            <a:ext cx="4572000" cy="489364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 b="0">
                <a:latin typeface="Consolas"/>
                <a:ea typeface="Consolas"/>
                <a:cs typeface="Consolas"/>
              </a:rPr>
              <a:t>#include&lt;bits/stdc++.h&gt;</a:t>
            </a:r>
          </a:p>
          <a:p>
            <a:r>
              <a:rPr lang="en-US" sz="1200" b="0">
                <a:latin typeface="Consolas"/>
                <a:ea typeface="Consolas"/>
                <a:cs typeface="Consolas"/>
              </a:rPr>
              <a:t>#include&lt;cmath&gt;</a:t>
            </a:r>
          </a:p>
          <a:p>
            <a:r>
              <a:rPr lang="en-US" sz="1200" b="0">
                <a:latin typeface="Consolas"/>
                <a:ea typeface="Consolas"/>
                <a:cs typeface="Consolas"/>
              </a:rPr>
              <a:t>using namespace std;</a:t>
            </a:r>
            <a:br>
              <a:rPr lang="en-US" sz="1200" b="0">
                <a:latin typeface="Consolas"/>
                <a:ea typeface="Consolas"/>
                <a:cs typeface="Consolas"/>
              </a:rPr>
            </a:br>
            <a:r>
              <a:rPr lang="en-US" sz="1200" b="0">
                <a:latin typeface="Consolas"/>
                <a:ea typeface="Consolas"/>
                <a:cs typeface="Consolas"/>
              </a:rPr>
              <a:t>struct Point{</a:t>
            </a:r>
          </a:p>
          <a:p>
            <a:r>
              <a:rPr lang="en-US" sz="1200" b="0">
                <a:latin typeface="Consolas"/>
                <a:ea typeface="Consolas"/>
                <a:cs typeface="Consolas"/>
              </a:rPr>
              <a:t>    float x;</a:t>
            </a:r>
          </a:p>
          <a:p>
            <a:r>
              <a:rPr lang="en-US" sz="1200" b="0">
                <a:latin typeface="Consolas"/>
                <a:ea typeface="Consolas"/>
                <a:cs typeface="Consolas"/>
              </a:rPr>
              <a:t>    float y;</a:t>
            </a:r>
          </a:p>
          <a:p>
            <a:r>
              <a:rPr lang="en-US" sz="1200" b="0">
                <a:latin typeface="Consolas"/>
                <a:ea typeface="Consolas"/>
                <a:cs typeface="Consolas"/>
              </a:rPr>
              <a:t>} ;</a:t>
            </a:r>
            <a:br>
              <a:rPr lang="en-US" sz="1200" b="0">
                <a:latin typeface="Consolas"/>
                <a:ea typeface="Consolas"/>
                <a:cs typeface="Consolas"/>
              </a:rPr>
            </a:br>
            <a:r>
              <a:rPr lang="en-US" sz="1200" b="0">
                <a:solidFill>
                  <a:srgbClr val="FF0000"/>
                </a:solidFill>
                <a:latin typeface="Consolas"/>
                <a:ea typeface="Consolas"/>
                <a:cs typeface="Consolas"/>
              </a:rPr>
              <a:t>class Shape</a:t>
            </a:r>
            <a:r>
              <a:rPr lang="en-US" sz="1200">
                <a:solidFill>
                  <a:srgbClr val="FF0000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en-US" sz="1200" b="0">
                <a:latin typeface="Consolas"/>
                <a:ea typeface="Consolas"/>
                <a:cs typeface="Consolas"/>
              </a:rPr>
              <a:t>{</a:t>
            </a:r>
          </a:p>
          <a:p>
            <a:r>
              <a:rPr lang="en-US" sz="1200" b="0">
                <a:latin typeface="Consolas"/>
                <a:ea typeface="Consolas"/>
                <a:cs typeface="Consolas"/>
              </a:rPr>
              <a:t>    protected :</a:t>
            </a:r>
          </a:p>
          <a:p>
            <a:r>
              <a:rPr lang="en-US" sz="1200" b="0">
                <a:latin typeface="Consolas"/>
                <a:ea typeface="Consolas"/>
                <a:cs typeface="Consolas"/>
              </a:rPr>
              <a:t>        </a:t>
            </a:r>
            <a:r>
              <a:rPr lang="en-US" sz="1200" b="0">
                <a:solidFill>
                  <a:schemeClr val="accent2"/>
                </a:solidFill>
                <a:latin typeface="Consolas"/>
                <a:ea typeface="Consolas"/>
                <a:cs typeface="Consolas"/>
              </a:rPr>
              <a:t>static int counter ;</a:t>
            </a:r>
          </a:p>
          <a:p>
            <a:r>
              <a:rPr lang="en-US" sz="1200" b="0">
                <a:latin typeface="Consolas"/>
                <a:ea typeface="Consolas"/>
                <a:cs typeface="Consolas"/>
              </a:rPr>
              <a:t>    public :</a:t>
            </a:r>
          </a:p>
          <a:p>
            <a:r>
              <a:rPr lang="en-US" sz="1200" b="0">
                <a:latin typeface="Consolas"/>
                <a:ea typeface="Consolas"/>
                <a:cs typeface="Consolas"/>
              </a:rPr>
              <a:t>        Shape(){</a:t>
            </a:r>
          </a:p>
          <a:p>
            <a:r>
              <a:rPr lang="en-US" sz="1200" b="0">
                <a:latin typeface="Consolas"/>
                <a:ea typeface="Consolas"/>
                <a:cs typeface="Consolas"/>
              </a:rPr>
              <a:t>            </a:t>
            </a:r>
            <a:r>
              <a:rPr lang="en-US" sz="1200" b="0">
                <a:solidFill>
                  <a:schemeClr val="accent2"/>
                </a:solidFill>
                <a:latin typeface="Consolas"/>
                <a:ea typeface="Consolas"/>
                <a:cs typeface="Consolas"/>
              </a:rPr>
              <a:t>counter++ ;</a:t>
            </a:r>
          </a:p>
          <a:p>
            <a:r>
              <a:rPr lang="en-US" sz="1200" b="0">
                <a:latin typeface="Consolas"/>
                <a:ea typeface="Consolas"/>
                <a:cs typeface="Consolas"/>
              </a:rPr>
              <a:t>        }</a:t>
            </a:r>
            <a:br>
              <a:rPr lang="en-US" sz="1200" b="0">
                <a:latin typeface="Consolas"/>
                <a:ea typeface="Consolas"/>
                <a:cs typeface="Consolas"/>
              </a:rPr>
            </a:br>
            <a:r>
              <a:rPr lang="en-US" sz="1200" b="0">
                <a:latin typeface="Consolas"/>
                <a:ea typeface="Consolas"/>
                <a:cs typeface="Consolas"/>
              </a:rPr>
              <a:t>       </a:t>
            </a:r>
            <a:r>
              <a:rPr lang="en-US" sz="1200" b="0">
                <a:solidFill>
                  <a:srgbClr val="7030A0"/>
                </a:solidFill>
                <a:latin typeface="Consolas"/>
                <a:ea typeface="Consolas"/>
                <a:cs typeface="Consolas"/>
              </a:rPr>
              <a:t> virtual ~Shape()</a:t>
            </a:r>
            <a:r>
              <a:rPr lang="en-US" sz="1200" b="0">
                <a:latin typeface="Consolas"/>
                <a:ea typeface="Consolas"/>
                <a:cs typeface="Consolas"/>
              </a:rPr>
              <a:t>{</a:t>
            </a:r>
          </a:p>
          <a:p>
            <a:r>
              <a:rPr lang="en-US" sz="1200" b="0">
                <a:latin typeface="Consolas"/>
                <a:ea typeface="Consolas"/>
                <a:cs typeface="Consolas"/>
              </a:rPr>
              <a:t>            </a:t>
            </a:r>
            <a:r>
              <a:rPr lang="en-US" sz="1200" b="0">
                <a:solidFill>
                  <a:schemeClr val="accent2"/>
                </a:solidFill>
                <a:latin typeface="Consolas"/>
                <a:ea typeface="Consolas"/>
                <a:cs typeface="Consolas"/>
              </a:rPr>
              <a:t>counter-- ;</a:t>
            </a:r>
          </a:p>
          <a:p>
            <a:r>
              <a:rPr lang="en-US" sz="1200" b="0">
                <a:latin typeface="Consolas"/>
                <a:ea typeface="Consolas"/>
                <a:cs typeface="Consolas"/>
              </a:rPr>
              <a:t>        }</a:t>
            </a:r>
            <a:br>
              <a:rPr lang="en-US" sz="1200" b="0">
                <a:latin typeface="Consolas"/>
                <a:ea typeface="Consolas"/>
                <a:cs typeface="Consolas"/>
              </a:rPr>
            </a:br>
            <a:r>
              <a:rPr lang="en-US" sz="1200" b="0">
                <a:latin typeface="Consolas"/>
                <a:ea typeface="Consolas"/>
                <a:cs typeface="Consolas"/>
              </a:rPr>
              <a:t>       </a:t>
            </a:r>
            <a:r>
              <a:rPr lang="en-US" sz="1200" b="0">
                <a:solidFill>
                  <a:schemeClr val="accent2"/>
                </a:solidFill>
                <a:latin typeface="Consolas"/>
                <a:ea typeface="Consolas"/>
                <a:cs typeface="Consolas"/>
              </a:rPr>
              <a:t> static int </a:t>
            </a:r>
            <a:r>
              <a:rPr lang="en-US" sz="1200" b="0" err="1">
                <a:solidFill>
                  <a:schemeClr val="accent2"/>
                </a:solidFill>
                <a:latin typeface="Consolas"/>
                <a:ea typeface="Consolas"/>
                <a:cs typeface="Consolas"/>
              </a:rPr>
              <a:t>getCounter</a:t>
            </a:r>
            <a:r>
              <a:rPr lang="en-US" sz="1200" b="0">
                <a:solidFill>
                  <a:schemeClr val="accent2"/>
                </a:solidFill>
                <a:latin typeface="Consolas"/>
                <a:ea typeface="Consolas"/>
                <a:cs typeface="Consolas"/>
              </a:rPr>
              <a:t>(){</a:t>
            </a:r>
          </a:p>
          <a:p>
            <a:r>
              <a:rPr lang="en-US" sz="1200" b="0">
                <a:solidFill>
                  <a:schemeClr val="accent2"/>
                </a:solidFill>
                <a:latin typeface="Consolas"/>
                <a:ea typeface="Consolas"/>
                <a:cs typeface="Consolas"/>
              </a:rPr>
              <a:t>            return counter ;</a:t>
            </a:r>
          </a:p>
          <a:p>
            <a:r>
              <a:rPr lang="en-US" sz="1200" b="0">
                <a:latin typeface="Consolas"/>
                <a:ea typeface="Consolas"/>
                <a:cs typeface="Consolas"/>
              </a:rPr>
              <a:t>      </a:t>
            </a:r>
            <a:r>
              <a:rPr lang="en-US" sz="1200" b="0">
                <a:solidFill>
                  <a:schemeClr val="accent2"/>
                </a:solidFill>
                <a:latin typeface="Consolas"/>
                <a:ea typeface="Consolas"/>
                <a:cs typeface="Consolas"/>
              </a:rPr>
              <a:t>  }</a:t>
            </a:r>
          </a:p>
          <a:p>
            <a:br>
              <a:rPr lang="en-US" sz="1200" b="0">
                <a:latin typeface="Consolas"/>
                <a:ea typeface="Consolas"/>
                <a:cs typeface="Consolas"/>
              </a:rPr>
            </a:br>
            <a:r>
              <a:rPr lang="en-US" sz="1200" b="0">
                <a:latin typeface="Consolas"/>
                <a:ea typeface="Consolas"/>
                <a:cs typeface="Consolas"/>
              </a:rPr>
              <a:t>       </a:t>
            </a:r>
            <a:r>
              <a:rPr lang="en-US" sz="1200" b="0">
                <a:solidFill>
                  <a:schemeClr val="accent2"/>
                </a:solidFill>
                <a:latin typeface="Consolas"/>
                <a:ea typeface="Consolas"/>
                <a:cs typeface="Consolas"/>
              </a:rPr>
              <a:t> static void </a:t>
            </a:r>
            <a:r>
              <a:rPr lang="en-US" sz="1200" b="0" err="1">
                <a:solidFill>
                  <a:schemeClr val="accent2"/>
                </a:solidFill>
                <a:latin typeface="Consolas"/>
                <a:ea typeface="Consolas"/>
                <a:cs typeface="Consolas"/>
              </a:rPr>
              <a:t>setCounter</a:t>
            </a:r>
            <a:r>
              <a:rPr lang="en-US" sz="1200" b="0">
                <a:solidFill>
                  <a:schemeClr val="accent2"/>
                </a:solidFill>
                <a:latin typeface="Consolas"/>
                <a:ea typeface="Consolas"/>
                <a:cs typeface="Consolas"/>
              </a:rPr>
              <a:t>(int c){</a:t>
            </a:r>
          </a:p>
          <a:p>
            <a:r>
              <a:rPr lang="en-US" sz="1200" b="0">
                <a:solidFill>
                  <a:schemeClr val="accent2"/>
                </a:solidFill>
                <a:latin typeface="Consolas"/>
                <a:ea typeface="Consolas"/>
                <a:cs typeface="Consolas"/>
              </a:rPr>
              <a:t>            counter = c ;</a:t>
            </a:r>
          </a:p>
          <a:p>
            <a:r>
              <a:rPr lang="en-US" sz="1200" b="0">
                <a:latin typeface="Consolas"/>
                <a:ea typeface="Consolas"/>
                <a:cs typeface="Consolas"/>
              </a:rPr>
              <a:t>        </a:t>
            </a:r>
            <a:r>
              <a:rPr lang="en-US" sz="1200" b="0">
                <a:solidFill>
                  <a:schemeClr val="accent2"/>
                </a:solidFill>
                <a:latin typeface="Consolas"/>
                <a:ea typeface="Consolas"/>
                <a:cs typeface="Consolas"/>
              </a:rPr>
              <a:t>}</a:t>
            </a:r>
          </a:p>
          <a:p>
            <a:r>
              <a:rPr lang="en-US" sz="1200" b="0">
                <a:latin typeface="Consolas"/>
                <a:ea typeface="Consolas"/>
                <a:cs typeface="Consolas"/>
              </a:rPr>
              <a:t>} ;</a:t>
            </a:r>
            <a:br>
              <a:rPr lang="en-US" sz="1200" b="0">
                <a:latin typeface="Consolas"/>
                <a:ea typeface="Consolas"/>
                <a:cs typeface="Consolas"/>
              </a:rPr>
            </a:br>
            <a:r>
              <a:rPr lang="en-US" sz="1200" b="0">
                <a:solidFill>
                  <a:schemeClr val="accent2"/>
                </a:solidFill>
                <a:latin typeface="Consolas"/>
                <a:ea typeface="Consolas"/>
                <a:cs typeface="Consolas"/>
              </a:rPr>
              <a:t>int Shape::counter = 0 ;</a:t>
            </a: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88DD8C43-45E1-D7B9-7A5B-0F7E09656BB3}"/>
              </a:ext>
            </a:extLst>
          </p:cNvPr>
          <p:cNvSpPr/>
          <p:nvPr/>
        </p:nvSpPr>
        <p:spPr>
          <a:xfrm>
            <a:off x="425101" y="1895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latin typeface="Calibri"/>
                <a:ea typeface="Calibri"/>
                <a:cs typeface="Calibri"/>
              </a:rPr>
              <a:t>ХАВСРАЛТ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27657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BF1FD4C-A806-4197-0114-AB6BCB68A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C3E95EF-DE9D-A9A2-7F20-D324B51FFF44}"/>
              </a:ext>
            </a:extLst>
          </p:cNvPr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6484731-391E-9F14-8C94-A7F70E92AE64}"/>
              </a:ext>
            </a:extLst>
          </p:cNvPr>
          <p:cNvSpPr txBox="1"/>
          <p:nvPr/>
        </p:nvSpPr>
        <p:spPr>
          <a:xfrm>
            <a:off x="2388019" y="131258"/>
            <a:ext cx="4572000" cy="553997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100">
                <a:solidFill>
                  <a:srgbClr val="FF0000"/>
                </a:solidFill>
                <a:latin typeface="Consolas"/>
              </a:rPr>
              <a:t>class Shape2D : public Shape</a:t>
            </a:r>
            <a:r>
              <a:rPr lang="en-US" sz="1100">
                <a:latin typeface="Consolas"/>
              </a:rPr>
              <a:t> {</a:t>
            </a:r>
            <a:endParaRPr lang="en-US" sz="1100">
              <a:latin typeface="Consolas"/>
              <a:ea typeface="Calibri"/>
              <a:cs typeface="Calibri"/>
            </a:endParaRPr>
          </a:p>
          <a:p>
            <a:r>
              <a:rPr lang="en-US" sz="1100">
                <a:latin typeface="Consolas"/>
              </a:rPr>
              <a:t>    protected :</a:t>
            </a:r>
            <a:endParaRPr lang="en-US" sz="1100">
              <a:latin typeface="Consolas"/>
              <a:ea typeface="Calibri"/>
              <a:cs typeface="Calibri"/>
            </a:endParaRPr>
          </a:p>
          <a:p>
            <a:r>
              <a:rPr lang="en-US" sz="1100">
                <a:latin typeface="Consolas"/>
                <a:ea typeface="Consolas"/>
                <a:cs typeface="Consolas"/>
              </a:rPr>
              <a:t>        string name</a:t>
            </a:r>
            <a:r>
              <a:rPr lang="en-US" sz="1100" b="0">
                <a:latin typeface="Consolas"/>
                <a:ea typeface="Consolas"/>
                <a:cs typeface="Consolas"/>
              </a:rPr>
              <a:t>;</a:t>
            </a:r>
            <a:endParaRPr lang="en-US" sz="1100">
              <a:latin typeface="Consolas"/>
              <a:ea typeface="Calibri"/>
              <a:cs typeface="Calibri"/>
            </a:endParaRPr>
          </a:p>
          <a:p>
            <a:r>
              <a:rPr lang="en-US" sz="1100">
                <a:latin typeface="Consolas"/>
                <a:ea typeface="Consolas"/>
                <a:cs typeface="Consolas"/>
              </a:rPr>
              <a:t>    public :</a:t>
            </a:r>
            <a:endParaRPr lang="en-US" sz="1100">
              <a:latin typeface="Consolas"/>
              <a:ea typeface="Calibri"/>
              <a:cs typeface="Calibri"/>
            </a:endParaRPr>
          </a:p>
          <a:p>
            <a:r>
              <a:rPr lang="en-US" sz="1100">
                <a:latin typeface="Consolas"/>
                <a:ea typeface="Consolas"/>
                <a:cs typeface="Consolas"/>
              </a:rPr>
              <a:t>        Shape2D(string name) : Shape() </a:t>
            </a:r>
            <a:r>
              <a:rPr lang="en-US" sz="1100" b="0">
                <a:latin typeface="Consolas"/>
                <a:ea typeface="Consolas"/>
                <a:cs typeface="Consolas"/>
              </a:rPr>
              <a:t>{</a:t>
            </a:r>
            <a:endParaRPr lang="en-US" sz="1100">
              <a:latin typeface="Consolas"/>
              <a:ea typeface="Calibri"/>
              <a:cs typeface="Calibri"/>
            </a:endParaRPr>
          </a:p>
          <a:p>
            <a:r>
              <a:rPr lang="en-US" sz="1100" b="0">
                <a:latin typeface="Consolas"/>
                <a:ea typeface="Consolas"/>
                <a:cs typeface="Consolas"/>
              </a:rPr>
              <a:t>    </a:t>
            </a:r>
            <a:r>
              <a:rPr lang="en-US" sz="1100">
                <a:latin typeface="Consolas"/>
                <a:ea typeface="Consolas"/>
                <a:cs typeface="Consolas"/>
              </a:rPr>
              <a:t>        </a:t>
            </a:r>
            <a:r>
              <a:rPr lang="en-US" sz="1100">
                <a:solidFill>
                  <a:schemeClr val="accent2"/>
                </a:solidFill>
                <a:latin typeface="Consolas"/>
                <a:ea typeface="Consolas"/>
                <a:cs typeface="Consolas"/>
              </a:rPr>
              <a:t>this</a:t>
            </a:r>
            <a:r>
              <a:rPr lang="en-US" sz="1100">
                <a:latin typeface="Consolas"/>
                <a:ea typeface="Consolas"/>
                <a:cs typeface="Consolas"/>
              </a:rPr>
              <a:t>-&gt;name = name ;</a:t>
            </a:r>
            <a:endParaRPr lang="en-US" sz="1100">
              <a:latin typeface="Consolas"/>
              <a:ea typeface="Calibri"/>
              <a:cs typeface="Calibri"/>
            </a:endParaRPr>
          </a:p>
          <a:p>
            <a:r>
              <a:rPr lang="en-US" sz="1100">
                <a:latin typeface="Consolas"/>
                <a:ea typeface="Consolas"/>
                <a:cs typeface="Consolas"/>
              </a:rPr>
              <a:t>        }</a:t>
            </a:r>
            <a:endParaRPr lang="en-US" sz="1100">
              <a:latin typeface="Consolas"/>
              <a:ea typeface="Calibri"/>
              <a:cs typeface="Calibri"/>
            </a:endParaRPr>
          </a:p>
          <a:p>
            <a:r>
              <a:rPr lang="en-US" sz="1100">
                <a:latin typeface="Consolas"/>
                <a:ea typeface="Consolas"/>
                <a:cs typeface="Consolas"/>
              </a:rPr>
              <a:t>       </a:t>
            </a:r>
            <a:r>
              <a:rPr lang="en-US" sz="110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 virtual </a:t>
            </a:r>
            <a:r>
              <a:rPr lang="en-US" sz="1100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float</a:t>
            </a:r>
            <a:r>
              <a:rPr lang="en-US" sz="110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 </a:t>
            </a:r>
            <a:r>
              <a:rPr lang="en-US" sz="1100" err="1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talbai</a:t>
            </a:r>
            <a:r>
              <a:rPr lang="en-US" sz="110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() = 0 </a:t>
            </a:r>
            <a:r>
              <a:rPr lang="en-US" sz="1100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;</a:t>
            </a:r>
            <a:endParaRPr lang="en-US" sz="1100">
              <a:solidFill>
                <a:srgbClr val="000000"/>
              </a:solidFill>
              <a:latin typeface="Consolas"/>
              <a:ea typeface="Calibri"/>
              <a:cs typeface="Calibri"/>
            </a:endParaRPr>
          </a:p>
          <a:p>
            <a:r>
              <a:rPr lang="en-US" sz="1100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    </a:t>
            </a:r>
            <a:r>
              <a:rPr lang="en-US" sz="110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    virtual </a:t>
            </a:r>
            <a:r>
              <a:rPr lang="en-US" sz="1100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float</a:t>
            </a:r>
            <a:r>
              <a:rPr lang="en-US" sz="110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 </a:t>
            </a:r>
            <a:r>
              <a:rPr lang="en-US" sz="1100" err="1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perimetr</a:t>
            </a:r>
            <a:r>
              <a:rPr lang="en-US" sz="110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() = 0 ;</a:t>
            </a:r>
            <a:endParaRPr lang="en-US" sz="1100">
              <a:solidFill>
                <a:srgbClr val="000000"/>
              </a:solidFill>
              <a:latin typeface="Consolas"/>
              <a:ea typeface="Calibri"/>
              <a:cs typeface="Calibri"/>
            </a:endParaRPr>
          </a:p>
          <a:p>
            <a:r>
              <a:rPr lang="en-US" sz="1100">
                <a:latin typeface="Consolas"/>
                <a:ea typeface="Consolas"/>
                <a:cs typeface="Consolas"/>
              </a:rPr>
              <a:t>        string </a:t>
            </a:r>
            <a:r>
              <a:rPr lang="en-US" sz="1100" err="1">
                <a:latin typeface="Consolas"/>
                <a:ea typeface="Consolas"/>
                <a:cs typeface="Consolas"/>
              </a:rPr>
              <a:t>getName</a:t>
            </a:r>
            <a:r>
              <a:rPr lang="en-US" sz="1100">
                <a:latin typeface="Consolas"/>
                <a:ea typeface="Consolas"/>
                <a:cs typeface="Consolas"/>
              </a:rPr>
              <a:t>(){</a:t>
            </a:r>
            <a:endParaRPr lang="en-US" sz="1100">
              <a:latin typeface="Consolas"/>
              <a:ea typeface="Calibri"/>
              <a:cs typeface="Calibri"/>
            </a:endParaRPr>
          </a:p>
          <a:p>
            <a:r>
              <a:rPr lang="en-US" sz="1100">
                <a:latin typeface="Consolas"/>
                <a:ea typeface="Consolas"/>
                <a:cs typeface="Consolas"/>
              </a:rPr>
              <a:t>            return </a:t>
            </a:r>
            <a:r>
              <a:rPr lang="en-US" sz="1100">
                <a:solidFill>
                  <a:schemeClr val="accent2"/>
                </a:solidFill>
                <a:latin typeface="Consolas"/>
                <a:ea typeface="Consolas"/>
                <a:cs typeface="Consolas"/>
              </a:rPr>
              <a:t>this</a:t>
            </a:r>
            <a:r>
              <a:rPr lang="en-US" sz="1100">
                <a:latin typeface="Consolas"/>
                <a:ea typeface="Consolas"/>
                <a:cs typeface="Consolas"/>
              </a:rPr>
              <a:t>-&gt;name </a:t>
            </a:r>
            <a:r>
              <a:rPr lang="en-US" sz="1100" b="0">
                <a:latin typeface="Consolas"/>
                <a:ea typeface="Consolas"/>
                <a:cs typeface="Consolas"/>
              </a:rPr>
              <a:t>;</a:t>
            </a:r>
            <a:endParaRPr lang="en-US" sz="1100">
              <a:latin typeface="Consolas"/>
              <a:ea typeface="Calibri"/>
              <a:cs typeface="Calibri"/>
            </a:endParaRPr>
          </a:p>
          <a:p>
            <a:r>
              <a:rPr lang="en-US" sz="1100">
                <a:latin typeface="Consolas"/>
              </a:rPr>
              <a:t>        }</a:t>
            </a:r>
            <a:endParaRPr lang="en-US" sz="1100">
              <a:latin typeface="Consolas"/>
              <a:ea typeface="Calibri"/>
              <a:cs typeface="Calibri"/>
            </a:endParaRPr>
          </a:p>
          <a:p>
            <a:r>
              <a:rPr lang="en-US" sz="1100">
                <a:latin typeface="Consolas"/>
              </a:rPr>
              <a:t>        </a:t>
            </a:r>
            <a:r>
              <a:rPr lang="en-US" sz="1100">
                <a:solidFill>
                  <a:srgbClr val="0070C0"/>
                </a:solidFill>
                <a:latin typeface="Consolas"/>
              </a:rPr>
              <a:t>~Shape2D() override {}</a:t>
            </a:r>
            <a:endParaRPr lang="en-US" sz="1100">
              <a:solidFill>
                <a:srgbClr val="000000"/>
              </a:solidFill>
              <a:latin typeface="Consolas"/>
              <a:ea typeface="Calibri"/>
              <a:cs typeface="Calibri"/>
            </a:endParaRPr>
          </a:p>
          <a:p>
            <a:r>
              <a:rPr lang="en-US" sz="1100" b="0">
                <a:latin typeface="Consolas"/>
                <a:ea typeface="Consolas"/>
                <a:cs typeface="Consolas"/>
              </a:rPr>
              <a:t>} ;</a:t>
            </a:r>
            <a:endParaRPr lang="en-US" sz="1100">
              <a:latin typeface="Consolas"/>
              <a:ea typeface="Calibri"/>
              <a:cs typeface="Calibri"/>
            </a:endParaRPr>
          </a:p>
          <a:p>
            <a:r>
              <a:rPr lang="en-US" sz="1100" b="0">
                <a:solidFill>
                  <a:srgbClr val="FF0000"/>
                </a:solidFill>
                <a:latin typeface="Consolas"/>
                <a:ea typeface="Consolas"/>
                <a:cs typeface="Consolas"/>
              </a:rPr>
              <a:t>class </a:t>
            </a:r>
            <a:r>
              <a:rPr lang="en-US" sz="1100">
                <a:solidFill>
                  <a:srgbClr val="FF0000"/>
                </a:solidFill>
                <a:latin typeface="Consolas"/>
                <a:ea typeface="Consolas"/>
                <a:cs typeface="Consolas"/>
              </a:rPr>
              <a:t>Circle : public Shape2D</a:t>
            </a:r>
            <a:r>
              <a:rPr lang="en-US" sz="1100">
                <a:latin typeface="Consolas"/>
                <a:ea typeface="Consolas"/>
                <a:cs typeface="Consolas"/>
              </a:rPr>
              <a:t> </a:t>
            </a:r>
            <a:r>
              <a:rPr lang="en-US" sz="1100" b="0">
                <a:latin typeface="Consolas"/>
                <a:ea typeface="Consolas"/>
                <a:cs typeface="Consolas"/>
              </a:rPr>
              <a:t>{</a:t>
            </a:r>
            <a:endParaRPr lang="en-US" sz="1100">
              <a:latin typeface="Consolas"/>
              <a:ea typeface="Calibri"/>
              <a:cs typeface="Calibri"/>
            </a:endParaRPr>
          </a:p>
          <a:p>
            <a:r>
              <a:rPr lang="en-US" sz="1100" b="0">
                <a:latin typeface="Consolas"/>
                <a:ea typeface="Consolas"/>
                <a:cs typeface="Consolas"/>
              </a:rPr>
              <a:t>    protected :</a:t>
            </a:r>
            <a:endParaRPr lang="en-US" sz="1100">
              <a:latin typeface="Consolas"/>
              <a:ea typeface="Calibri"/>
              <a:cs typeface="Calibri"/>
            </a:endParaRPr>
          </a:p>
          <a:p>
            <a:r>
              <a:rPr lang="en-US" sz="1100" b="0">
                <a:latin typeface="Consolas"/>
                <a:ea typeface="Consolas"/>
                <a:cs typeface="Consolas"/>
              </a:rPr>
              <a:t>        </a:t>
            </a:r>
            <a:r>
              <a:rPr lang="en-US" sz="1100">
                <a:latin typeface="Consolas"/>
                <a:ea typeface="Consolas"/>
                <a:cs typeface="Consolas"/>
              </a:rPr>
              <a:t>Point p1 ;</a:t>
            </a:r>
            <a:endParaRPr lang="en-US" sz="1100">
              <a:latin typeface="Consolas"/>
              <a:ea typeface="Calibri"/>
              <a:cs typeface="Calibri"/>
            </a:endParaRPr>
          </a:p>
          <a:p>
            <a:r>
              <a:rPr lang="en-US" sz="1100">
                <a:latin typeface="Consolas"/>
                <a:ea typeface="Consolas"/>
                <a:cs typeface="Consolas"/>
              </a:rPr>
              <a:t>        float radius </a:t>
            </a:r>
            <a:r>
              <a:rPr lang="en-US" sz="1100" b="0">
                <a:latin typeface="Consolas"/>
                <a:ea typeface="Consolas"/>
                <a:cs typeface="Consolas"/>
              </a:rPr>
              <a:t>;</a:t>
            </a:r>
            <a:endParaRPr lang="en-US" sz="1100">
              <a:latin typeface="Consolas"/>
              <a:ea typeface="Calibri"/>
              <a:cs typeface="Calibri"/>
            </a:endParaRPr>
          </a:p>
          <a:p>
            <a:r>
              <a:rPr lang="en-US" sz="1100" b="0">
                <a:latin typeface="Consolas"/>
                <a:ea typeface="Consolas"/>
                <a:cs typeface="Consolas"/>
              </a:rPr>
              <a:t>    public :</a:t>
            </a:r>
            <a:endParaRPr lang="en-US" sz="1100">
              <a:latin typeface="Consolas"/>
              <a:ea typeface="Calibri"/>
              <a:cs typeface="Calibri"/>
            </a:endParaRPr>
          </a:p>
          <a:p>
            <a:r>
              <a:rPr lang="en-US" sz="1100" b="0">
                <a:latin typeface="Consolas"/>
                <a:ea typeface="Consolas"/>
                <a:cs typeface="Consolas"/>
              </a:rPr>
              <a:t>        </a:t>
            </a:r>
            <a:r>
              <a:rPr lang="en-US" sz="1100">
                <a:latin typeface="Consolas"/>
                <a:ea typeface="Consolas"/>
                <a:cs typeface="Consolas"/>
              </a:rPr>
              <a:t>Circle(Point p1 , float radius , string name) :Shape2D(name) {</a:t>
            </a:r>
            <a:endParaRPr lang="en-US" sz="1100">
              <a:latin typeface="Consolas"/>
              <a:ea typeface="Calibri"/>
              <a:cs typeface="Calibri"/>
            </a:endParaRPr>
          </a:p>
          <a:p>
            <a:r>
              <a:rPr lang="en-US" sz="1100" b="0">
                <a:latin typeface="Consolas"/>
                <a:ea typeface="Consolas"/>
                <a:cs typeface="Consolas"/>
              </a:rPr>
              <a:t>           </a:t>
            </a:r>
            <a:r>
              <a:rPr lang="en-US" sz="1100">
                <a:latin typeface="Consolas"/>
                <a:ea typeface="Consolas"/>
                <a:cs typeface="Consolas"/>
              </a:rPr>
              <a:t> </a:t>
            </a:r>
            <a:r>
              <a:rPr lang="en-US" sz="1100">
                <a:solidFill>
                  <a:schemeClr val="accent2"/>
                </a:solidFill>
                <a:latin typeface="Consolas"/>
                <a:ea typeface="Consolas"/>
                <a:cs typeface="Consolas"/>
              </a:rPr>
              <a:t>this</a:t>
            </a:r>
            <a:r>
              <a:rPr lang="en-US" sz="1100">
                <a:latin typeface="Consolas"/>
                <a:ea typeface="Consolas"/>
                <a:cs typeface="Consolas"/>
              </a:rPr>
              <a:t>-&gt;p1 = p1 </a:t>
            </a:r>
            <a:r>
              <a:rPr lang="en-US" sz="1100" b="0">
                <a:latin typeface="Consolas"/>
                <a:ea typeface="Consolas"/>
                <a:cs typeface="Consolas"/>
              </a:rPr>
              <a:t>;</a:t>
            </a:r>
            <a:endParaRPr lang="en-US" sz="1100">
              <a:latin typeface="Consolas"/>
              <a:ea typeface="Calibri"/>
              <a:cs typeface="Calibri"/>
            </a:endParaRPr>
          </a:p>
          <a:p>
            <a:r>
              <a:rPr lang="en-US" sz="1100" b="0">
                <a:latin typeface="Consolas"/>
                <a:ea typeface="Consolas"/>
                <a:cs typeface="Consolas"/>
              </a:rPr>
              <a:t>        </a:t>
            </a:r>
            <a:r>
              <a:rPr lang="en-US" sz="1100">
                <a:latin typeface="Consolas"/>
                <a:ea typeface="Consolas"/>
                <a:cs typeface="Consolas"/>
              </a:rPr>
              <a:t>    </a:t>
            </a:r>
            <a:r>
              <a:rPr lang="en-US" sz="1100">
                <a:solidFill>
                  <a:schemeClr val="accent2"/>
                </a:solidFill>
                <a:latin typeface="Consolas"/>
                <a:ea typeface="Consolas"/>
                <a:cs typeface="Consolas"/>
              </a:rPr>
              <a:t>this</a:t>
            </a:r>
            <a:r>
              <a:rPr lang="en-US" sz="1100">
                <a:latin typeface="Consolas"/>
                <a:ea typeface="Consolas"/>
                <a:cs typeface="Consolas"/>
              </a:rPr>
              <a:t>-&gt;radius = radius </a:t>
            </a:r>
            <a:r>
              <a:rPr lang="en-US" sz="1100" b="0">
                <a:latin typeface="Consolas"/>
                <a:ea typeface="Consolas"/>
                <a:cs typeface="Consolas"/>
              </a:rPr>
              <a:t>;</a:t>
            </a:r>
            <a:endParaRPr lang="en-US" sz="1100">
              <a:latin typeface="Consolas"/>
              <a:ea typeface="Calibri"/>
              <a:cs typeface="Calibri"/>
            </a:endParaRPr>
          </a:p>
          <a:p>
            <a:r>
              <a:rPr lang="en-US" sz="1100" b="0">
                <a:latin typeface="Consolas"/>
                <a:ea typeface="Consolas"/>
                <a:cs typeface="Consolas"/>
              </a:rPr>
              <a:t>        }</a:t>
            </a:r>
            <a:endParaRPr lang="en-US" sz="1100">
              <a:latin typeface="Consolas"/>
              <a:ea typeface="Calibri"/>
              <a:cs typeface="Calibri"/>
            </a:endParaRPr>
          </a:p>
          <a:p>
            <a:r>
              <a:rPr lang="en-US" sz="1100" b="0">
                <a:latin typeface="Consolas"/>
                <a:ea typeface="Consolas"/>
                <a:cs typeface="Consolas"/>
              </a:rPr>
              <a:t>       </a:t>
            </a:r>
            <a:r>
              <a:rPr lang="en-US" sz="110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 float </a:t>
            </a:r>
            <a:r>
              <a:rPr lang="en-US" sz="1100" err="1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talbai</a:t>
            </a:r>
            <a:r>
              <a:rPr lang="en-US" sz="110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() override {</a:t>
            </a:r>
            <a:endParaRPr lang="en-US" sz="1100">
              <a:solidFill>
                <a:srgbClr val="000000"/>
              </a:solidFill>
              <a:latin typeface="Consolas"/>
              <a:ea typeface="Calibri"/>
              <a:cs typeface="Calibri"/>
            </a:endParaRPr>
          </a:p>
          <a:p>
            <a:r>
              <a:rPr lang="en-US" sz="110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        </a:t>
            </a:r>
            <a:r>
              <a:rPr lang="en-US" sz="1100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    return </a:t>
            </a:r>
            <a:r>
              <a:rPr lang="en-US" sz="110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3.14 * this-&gt;radius * this-&gt;radius </a:t>
            </a:r>
            <a:r>
              <a:rPr lang="en-US" sz="1100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;</a:t>
            </a:r>
            <a:endParaRPr lang="en-US" sz="1100">
              <a:solidFill>
                <a:srgbClr val="000000"/>
              </a:solidFill>
              <a:latin typeface="Consolas"/>
              <a:ea typeface="Calibri"/>
              <a:cs typeface="Calibri"/>
            </a:endParaRPr>
          </a:p>
          <a:p>
            <a:r>
              <a:rPr lang="en-US" sz="1100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        }</a:t>
            </a:r>
            <a:endParaRPr lang="en-US" sz="1100">
              <a:solidFill>
                <a:srgbClr val="000000"/>
              </a:solidFill>
              <a:latin typeface="Consolas"/>
              <a:ea typeface="Calibri"/>
              <a:cs typeface="Calibri"/>
            </a:endParaRPr>
          </a:p>
          <a:p>
            <a:r>
              <a:rPr lang="en-US" sz="1100">
                <a:solidFill>
                  <a:srgbClr val="0070C0"/>
                </a:solidFill>
                <a:latin typeface="Consolas"/>
              </a:rPr>
              <a:t>        float </a:t>
            </a:r>
            <a:r>
              <a:rPr lang="en-US" sz="1100" err="1">
                <a:solidFill>
                  <a:srgbClr val="0070C0"/>
                </a:solidFill>
                <a:latin typeface="Consolas"/>
              </a:rPr>
              <a:t>perimetr</a:t>
            </a:r>
            <a:r>
              <a:rPr lang="en-US" sz="1100">
                <a:solidFill>
                  <a:srgbClr val="0070C0"/>
                </a:solidFill>
                <a:latin typeface="Consolas"/>
              </a:rPr>
              <a:t>() override {</a:t>
            </a:r>
            <a:endParaRPr lang="en-US" sz="1100">
              <a:solidFill>
                <a:srgbClr val="000000"/>
              </a:solidFill>
              <a:latin typeface="Consolas"/>
              <a:ea typeface="Calibri"/>
              <a:cs typeface="Calibri"/>
            </a:endParaRPr>
          </a:p>
          <a:p>
            <a:r>
              <a:rPr lang="en-US" sz="1100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            </a:t>
            </a:r>
            <a:r>
              <a:rPr lang="en-US" sz="110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return 2 * 3.14 * this-&gt;radius </a:t>
            </a:r>
            <a:r>
              <a:rPr lang="en-US" sz="1100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;</a:t>
            </a:r>
            <a:endParaRPr lang="en-US" sz="1100">
              <a:solidFill>
                <a:srgbClr val="000000"/>
              </a:solidFill>
              <a:latin typeface="Consolas"/>
              <a:ea typeface="Consolas"/>
              <a:cs typeface="Consolas"/>
            </a:endParaRPr>
          </a:p>
          <a:p>
            <a:endParaRPr lang="en-US" sz="1200">
              <a:solidFill>
                <a:srgbClr val="000000"/>
              </a:solidFill>
              <a:latin typeface="Consolas"/>
              <a:ea typeface="Consolas"/>
              <a:cs typeface="Consolas"/>
            </a:endParaRPr>
          </a:p>
          <a:p>
            <a:endParaRPr lang="en-US" sz="1100">
              <a:solidFill>
                <a:srgbClr val="000000"/>
              </a:solidFill>
              <a:latin typeface="Consolas"/>
              <a:ea typeface="Calibri"/>
              <a:cs typeface="Calibri"/>
            </a:endParaRPr>
          </a:p>
          <a:p>
            <a:endParaRPr lang="en-US" sz="1200" b="0">
              <a:solidFill>
                <a:srgbClr val="A5D6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169CEF01-1341-D019-59BF-8A9F6E654010}"/>
              </a:ext>
            </a:extLst>
          </p:cNvPr>
          <p:cNvSpPr/>
          <p:nvPr/>
        </p:nvSpPr>
        <p:spPr>
          <a:xfrm>
            <a:off x="416309" y="136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latin typeface="Calibri"/>
                <a:ea typeface="Calibri"/>
                <a:cs typeface="Calibri"/>
              </a:rPr>
              <a:t>ХАВСРАЛТ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38461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FD3DED-9282-312D-9CEA-5B3B0F75E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B542E58-542F-4C5B-2041-42A42E12E6C7}"/>
              </a:ext>
            </a:extLst>
          </p:cNvPr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CF2D9629-3848-321D-5CE2-F74AB5426EA4}"/>
              </a:ext>
            </a:extLst>
          </p:cNvPr>
          <p:cNvSpPr/>
          <p:nvPr/>
        </p:nvSpPr>
        <p:spPr>
          <a:xfrm>
            <a:off x="337178" y="136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latin typeface="Calibri"/>
                <a:ea typeface="Calibri"/>
                <a:cs typeface="Calibri"/>
              </a:rPr>
              <a:t>ХАВСРАЛТ</a:t>
            </a:r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1CB27F-5731-7107-557F-A480FEF3D0C5}"/>
              </a:ext>
            </a:extLst>
          </p:cNvPr>
          <p:cNvSpPr txBox="1"/>
          <p:nvPr/>
        </p:nvSpPr>
        <p:spPr>
          <a:xfrm>
            <a:off x="2282790" y="-2860"/>
            <a:ext cx="4572000" cy="533992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100">
                <a:latin typeface="Consolas"/>
              </a:rPr>
              <a:t>  }</a:t>
            </a:r>
            <a:endParaRPr lang="en-US">
              <a:ea typeface="Calibri"/>
              <a:cs typeface="Calibri"/>
            </a:endParaRPr>
          </a:p>
          <a:p>
            <a:r>
              <a:rPr lang="en-US" sz="1100">
                <a:latin typeface="Consolas"/>
              </a:rPr>
              <a:t>        </a:t>
            </a:r>
            <a:r>
              <a:rPr lang="en-US" sz="1100">
                <a:solidFill>
                  <a:srgbClr val="0070C0"/>
                </a:solidFill>
                <a:latin typeface="Consolas"/>
              </a:rPr>
              <a:t>~Circle() override {}</a:t>
            </a:r>
            <a:endParaRPr lang="en-US">
              <a:solidFill>
                <a:srgbClr val="0070C0"/>
              </a:solidFill>
              <a:ea typeface="Calibri"/>
              <a:cs typeface="Calibri"/>
            </a:endParaRPr>
          </a:p>
          <a:p>
            <a:r>
              <a:rPr lang="en-US" sz="1100" b="0">
                <a:latin typeface="Consolas"/>
                <a:ea typeface="Consolas"/>
                <a:cs typeface="Consolas"/>
              </a:rPr>
              <a:t>} ;</a:t>
            </a:r>
            <a:endParaRPr lang="en-US">
              <a:ea typeface="Calibri"/>
              <a:cs typeface="Calibri"/>
            </a:endParaRPr>
          </a:p>
          <a:p>
            <a:r>
              <a:rPr lang="en-US" sz="1100" b="0">
                <a:solidFill>
                  <a:srgbClr val="FF0000"/>
                </a:solidFill>
                <a:latin typeface="Consolas"/>
                <a:ea typeface="Consolas"/>
                <a:cs typeface="Consolas"/>
              </a:rPr>
              <a:t>class </a:t>
            </a:r>
            <a:r>
              <a:rPr lang="en-US" sz="1100">
                <a:solidFill>
                  <a:srgbClr val="FF0000"/>
                </a:solidFill>
                <a:latin typeface="Consolas"/>
                <a:ea typeface="Consolas"/>
                <a:cs typeface="Consolas"/>
              </a:rPr>
              <a:t>Square : public Shape2D</a:t>
            </a:r>
            <a:r>
              <a:rPr lang="en-US" sz="1100">
                <a:latin typeface="Consolas"/>
                <a:ea typeface="Consolas"/>
                <a:cs typeface="Consolas"/>
              </a:rPr>
              <a:t> </a:t>
            </a:r>
            <a:r>
              <a:rPr lang="en-US" sz="1100" b="0">
                <a:latin typeface="Consolas"/>
                <a:ea typeface="Consolas"/>
                <a:cs typeface="Consolas"/>
              </a:rPr>
              <a:t>{</a:t>
            </a:r>
            <a:endParaRPr lang="en-US">
              <a:ea typeface="Calibri"/>
              <a:cs typeface="Calibri"/>
            </a:endParaRPr>
          </a:p>
          <a:p>
            <a:r>
              <a:rPr lang="en-US" sz="1100" b="0">
                <a:latin typeface="Consolas"/>
                <a:ea typeface="Consolas"/>
                <a:cs typeface="Consolas"/>
              </a:rPr>
              <a:t>    protected :</a:t>
            </a:r>
            <a:endParaRPr lang="en-US">
              <a:ea typeface="Calibri"/>
              <a:cs typeface="Calibri"/>
            </a:endParaRPr>
          </a:p>
          <a:p>
            <a:r>
              <a:rPr lang="en-US" sz="1100" b="0">
                <a:latin typeface="Consolas"/>
                <a:ea typeface="Consolas"/>
                <a:cs typeface="Consolas"/>
              </a:rPr>
              <a:t>        </a:t>
            </a:r>
            <a:r>
              <a:rPr lang="en-US" sz="1100">
                <a:latin typeface="Consolas"/>
                <a:ea typeface="Consolas"/>
                <a:cs typeface="Consolas"/>
              </a:rPr>
              <a:t>Point p1 , p2 , p3 , p4 ;</a:t>
            </a:r>
            <a:endParaRPr lang="en-US">
              <a:ea typeface="Calibri"/>
              <a:cs typeface="Calibri"/>
            </a:endParaRPr>
          </a:p>
          <a:p>
            <a:r>
              <a:rPr lang="en-US" sz="1100">
                <a:latin typeface="Consolas"/>
                <a:ea typeface="Consolas"/>
                <a:cs typeface="Consolas"/>
              </a:rPr>
              <a:t>        float </a:t>
            </a:r>
            <a:r>
              <a:rPr lang="en-US" sz="1100" err="1">
                <a:latin typeface="Consolas"/>
                <a:ea typeface="Consolas"/>
                <a:cs typeface="Consolas"/>
              </a:rPr>
              <a:t>tal</a:t>
            </a:r>
            <a:r>
              <a:rPr lang="en-US" sz="1100">
                <a:latin typeface="Consolas"/>
                <a:ea typeface="Consolas"/>
                <a:cs typeface="Consolas"/>
              </a:rPr>
              <a:t> </a:t>
            </a:r>
            <a:r>
              <a:rPr lang="en-US" sz="1100" b="0">
                <a:latin typeface="Consolas"/>
                <a:ea typeface="Consolas"/>
                <a:cs typeface="Consolas"/>
              </a:rPr>
              <a:t>;</a:t>
            </a:r>
            <a:endParaRPr lang="en-US">
              <a:ea typeface="Calibri"/>
              <a:cs typeface="Calibri"/>
            </a:endParaRPr>
          </a:p>
          <a:p>
            <a:r>
              <a:rPr lang="en-US" sz="1100" b="0">
                <a:latin typeface="Consolas"/>
                <a:ea typeface="Consolas"/>
                <a:cs typeface="Consolas"/>
              </a:rPr>
              <a:t>    public :</a:t>
            </a:r>
            <a:endParaRPr lang="en-US">
              <a:ea typeface="Calibri"/>
              <a:cs typeface="Calibri"/>
            </a:endParaRPr>
          </a:p>
          <a:p>
            <a:r>
              <a:rPr lang="en-US" sz="1100" b="0">
                <a:latin typeface="Consolas"/>
                <a:ea typeface="Consolas"/>
                <a:cs typeface="Consolas"/>
              </a:rPr>
              <a:t>        </a:t>
            </a:r>
            <a:r>
              <a:rPr lang="en-US" sz="1100">
                <a:latin typeface="Consolas"/>
                <a:ea typeface="Consolas"/>
                <a:cs typeface="Consolas"/>
              </a:rPr>
              <a:t>Square(Point </a:t>
            </a:r>
            <a:r>
              <a:rPr lang="en-US" sz="1100" err="1">
                <a:latin typeface="Consolas"/>
                <a:ea typeface="Consolas"/>
                <a:cs typeface="Consolas"/>
              </a:rPr>
              <a:t>topLeft</a:t>
            </a:r>
            <a:r>
              <a:rPr lang="en-US" sz="1100">
                <a:latin typeface="Consolas"/>
                <a:ea typeface="Consolas"/>
                <a:cs typeface="Consolas"/>
              </a:rPr>
              <a:t>, float length, string name) : Shape2D(name) {</a:t>
            </a:r>
            <a:endParaRPr lang="en-US">
              <a:ea typeface="Calibri"/>
              <a:cs typeface="Calibri"/>
            </a:endParaRPr>
          </a:p>
          <a:p>
            <a:r>
              <a:rPr lang="en-US" sz="1100" b="0">
                <a:latin typeface="Consolas"/>
                <a:ea typeface="Consolas"/>
                <a:cs typeface="Consolas"/>
              </a:rPr>
              <a:t>            </a:t>
            </a:r>
            <a:r>
              <a:rPr lang="en-US" sz="1100">
                <a:solidFill>
                  <a:schemeClr val="accent2"/>
                </a:solidFill>
                <a:latin typeface="Consolas"/>
                <a:ea typeface="Consolas"/>
                <a:cs typeface="Consolas"/>
              </a:rPr>
              <a:t>this</a:t>
            </a:r>
            <a:r>
              <a:rPr lang="en-US" sz="1100">
                <a:latin typeface="Consolas"/>
                <a:ea typeface="Consolas"/>
                <a:cs typeface="Consolas"/>
              </a:rPr>
              <a:t>-&gt;p1 = </a:t>
            </a:r>
            <a:r>
              <a:rPr lang="en-US" sz="1100" err="1">
                <a:latin typeface="Consolas"/>
                <a:ea typeface="Consolas"/>
                <a:cs typeface="Consolas"/>
              </a:rPr>
              <a:t>topLeft</a:t>
            </a:r>
            <a:r>
              <a:rPr lang="en-US" sz="1100" b="0">
                <a:latin typeface="Consolas"/>
                <a:ea typeface="Consolas"/>
                <a:cs typeface="Consolas"/>
              </a:rPr>
              <a:t>;</a:t>
            </a:r>
            <a:endParaRPr lang="en-US">
              <a:ea typeface="Calibri"/>
              <a:cs typeface="Calibri"/>
            </a:endParaRPr>
          </a:p>
          <a:p>
            <a:r>
              <a:rPr lang="en-US" sz="1100" b="0">
                <a:latin typeface="Consolas"/>
                <a:ea typeface="Consolas"/>
                <a:cs typeface="Consolas"/>
              </a:rPr>
              <a:t>        </a:t>
            </a:r>
            <a:r>
              <a:rPr lang="en-US" sz="1100">
                <a:latin typeface="Consolas"/>
                <a:ea typeface="Consolas"/>
                <a:cs typeface="Consolas"/>
              </a:rPr>
              <a:t>    </a:t>
            </a:r>
            <a:r>
              <a:rPr lang="en-US" sz="1100">
                <a:solidFill>
                  <a:schemeClr val="accent2"/>
                </a:solidFill>
                <a:latin typeface="Consolas"/>
                <a:ea typeface="Consolas"/>
                <a:cs typeface="Consolas"/>
              </a:rPr>
              <a:t>this</a:t>
            </a:r>
            <a:r>
              <a:rPr lang="en-US" sz="1100">
                <a:latin typeface="Consolas"/>
                <a:ea typeface="Consolas"/>
                <a:cs typeface="Consolas"/>
              </a:rPr>
              <a:t>-&gt;p2 = {</a:t>
            </a:r>
            <a:r>
              <a:rPr lang="en-US" sz="1100" err="1">
                <a:latin typeface="Consolas"/>
                <a:ea typeface="Consolas"/>
                <a:cs typeface="Consolas"/>
              </a:rPr>
              <a:t>topLeft.x</a:t>
            </a:r>
            <a:r>
              <a:rPr lang="en-US" sz="1100">
                <a:latin typeface="Consolas"/>
                <a:ea typeface="Consolas"/>
                <a:cs typeface="Consolas"/>
              </a:rPr>
              <a:t> + length, </a:t>
            </a:r>
            <a:r>
              <a:rPr lang="en-US" sz="1100" err="1">
                <a:latin typeface="Consolas"/>
                <a:ea typeface="Consolas"/>
                <a:cs typeface="Consolas"/>
              </a:rPr>
              <a:t>topLeft.y</a:t>
            </a:r>
            <a:r>
              <a:rPr lang="en-US" sz="1100">
                <a:latin typeface="Consolas"/>
                <a:ea typeface="Consolas"/>
                <a:cs typeface="Consolas"/>
              </a:rPr>
              <a:t>};</a:t>
            </a:r>
            <a:endParaRPr lang="en-US">
              <a:ea typeface="Calibri"/>
              <a:cs typeface="Calibri"/>
            </a:endParaRPr>
          </a:p>
          <a:p>
            <a:r>
              <a:rPr lang="en-US" sz="1100">
                <a:latin typeface="Consolas"/>
                <a:ea typeface="Consolas"/>
                <a:cs typeface="Consolas"/>
              </a:rPr>
              <a:t>            </a:t>
            </a:r>
            <a:r>
              <a:rPr lang="en-US" sz="1100">
                <a:solidFill>
                  <a:schemeClr val="accent2"/>
                </a:solidFill>
                <a:latin typeface="Consolas"/>
                <a:ea typeface="Consolas"/>
                <a:cs typeface="Consolas"/>
              </a:rPr>
              <a:t>this</a:t>
            </a:r>
            <a:r>
              <a:rPr lang="en-US" sz="1100">
                <a:latin typeface="Consolas"/>
                <a:ea typeface="Consolas"/>
                <a:cs typeface="Consolas"/>
              </a:rPr>
              <a:t>-&gt;p3 = {</a:t>
            </a:r>
            <a:r>
              <a:rPr lang="en-US" sz="1100" err="1">
                <a:latin typeface="Consolas"/>
                <a:ea typeface="Consolas"/>
                <a:cs typeface="Consolas"/>
              </a:rPr>
              <a:t>topLeft.x</a:t>
            </a:r>
            <a:r>
              <a:rPr lang="en-US" sz="1100">
                <a:latin typeface="Consolas"/>
                <a:ea typeface="Consolas"/>
                <a:cs typeface="Consolas"/>
              </a:rPr>
              <a:t> + length, </a:t>
            </a:r>
            <a:r>
              <a:rPr lang="en-US" sz="1100" err="1">
                <a:latin typeface="Consolas"/>
                <a:ea typeface="Consolas"/>
                <a:cs typeface="Consolas"/>
              </a:rPr>
              <a:t>topLeft.y</a:t>
            </a:r>
            <a:r>
              <a:rPr lang="en-US" sz="1100">
                <a:latin typeface="Consolas"/>
                <a:ea typeface="Consolas"/>
                <a:cs typeface="Consolas"/>
              </a:rPr>
              <a:t> - length};</a:t>
            </a:r>
            <a:endParaRPr lang="en-US">
              <a:ea typeface="Calibri"/>
              <a:cs typeface="Calibri"/>
            </a:endParaRPr>
          </a:p>
          <a:p>
            <a:r>
              <a:rPr lang="en-US" sz="1100">
                <a:latin typeface="Consolas"/>
                <a:ea typeface="Consolas"/>
                <a:cs typeface="Consolas"/>
              </a:rPr>
              <a:t>            </a:t>
            </a:r>
            <a:r>
              <a:rPr lang="en-US" sz="1100">
                <a:solidFill>
                  <a:schemeClr val="accent2"/>
                </a:solidFill>
                <a:latin typeface="Consolas"/>
                <a:ea typeface="Consolas"/>
                <a:cs typeface="Consolas"/>
              </a:rPr>
              <a:t>this</a:t>
            </a:r>
            <a:r>
              <a:rPr lang="en-US" sz="1100">
                <a:latin typeface="Consolas"/>
                <a:ea typeface="Consolas"/>
                <a:cs typeface="Consolas"/>
              </a:rPr>
              <a:t>-&gt;p4 = {</a:t>
            </a:r>
            <a:r>
              <a:rPr lang="en-US" sz="1100" err="1">
                <a:latin typeface="Consolas"/>
                <a:ea typeface="Consolas"/>
                <a:cs typeface="Consolas"/>
              </a:rPr>
              <a:t>topLeft.x</a:t>
            </a:r>
            <a:r>
              <a:rPr lang="en-US" sz="1100">
                <a:latin typeface="Consolas"/>
                <a:ea typeface="Consolas"/>
                <a:cs typeface="Consolas"/>
              </a:rPr>
              <a:t>, </a:t>
            </a:r>
            <a:r>
              <a:rPr lang="en-US" sz="1100" err="1">
                <a:latin typeface="Consolas"/>
                <a:ea typeface="Consolas"/>
                <a:cs typeface="Consolas"/>
              </a:rPr>
              <a:t>topLeft.y</a:t>
            </a:r>
            <a:r>
              <a:rPr lang="en-US" sz="1100">
                <a:latin typeface="Consolas"/>
                <a:ea typeface="Consolas"/>
                <a:cs typeface="Consolas"/>
              </a:rPr>
              <a:t> - length};</a:t>
            </a:r>
            <a:endParaRPr lang="en-US">
              <a:ea typeface="Calibri"/>
              <a:cs typeface="Calibri"/>
            </a:endParaRPr>
          </a:p>
          <a:p>
            <a:r>
              <a:rPr lang="en-US" sz="1100">
                <a:latin typeface="Consolas"/>
                <a:ea typeface="Consolas"/>
                <a:cs typeface="Consolas"/>
              </a:rPr>
              <a:t>            </a:t>
            </a:r>
            <a:r>
              <a:rPr lang="en-US" sz="1100">
                <a:solidFill>
                  <a:schemeClr val="accent2"/>
                </a:solidFill>
                <a:latin typeface="Consolas"/>
                <a:ea typeface="Consolas"/>
                <a:cs typeface="Consolas"/>
              </a:rPr>
              <a:t>this</a:t>
            </a:r>
            <a:r>
              <a:rPr lang="en-US" sz="1100">
                <a:latin typeface="Consolas"/>
                <a:ea typeface="Consolas"/>
                <a:cs typeface="Consolas"/>
              </a:rPr>
              <a:t>-&gt;</a:t>
            </a:r>
            <a:r>
              <a:rPr lang="en-US" sz="1100" err="1">
                <a:latin typeface="Consolas"/>
                <a:ea typeface="Consolas"/>
                <a:cs typeface="Consolas"/>
              </a:rPr>
              <a:t>tal</a:t>
            </a:r>
            <a:r>
              <a:rPr lang="en-US" sz="1100">
                <a:latin typeface="Consolas"/>
                <a:ea typeface="Consolas"/>
                <a:cs typeface="Consolas"/>
              </a:rPr>
              <a:t> = length</a:t>
            </a:r>
            <a:r>
              <a:rPr lang="en-US" sz="1100" b="0">
                <a:latin typeface="Consolas"/>
                <a:ea typeface="Consolas"/>
                <a:cs typeface="Consolas"/>
              </a:rPr>
              <a:t>;</a:t>
            </a:r>
            <a:endParaRPr lang="en-US">
              <a:ea typeface="Calibri"/>
              <a:cs typeface="Calibri"/>
            </a:endParaRPr>
          </a:p>
          <a:p>
            <a:r>
              <a:rPr lang="en-US" sz="1100" b="0">
                <a:latin typeface="Consolas"/>
                <a:ea typeface="Consolas"/>
                <a:cs typeface="Consolas"/>
              </a:rPr>
              <a:t>        }</a:t>
            </a:r>
            <a:endParaRPr lang="en-US">
              <a:ea typeface="Calibri"/>
              <a:cs typeface="Calibri"/>
            </a:endParaRPr>
          </a:p>
          <a:p>
            <a:r>
              <a:rPr lang="en-US" sz="1100" b="0">
                <a:latin typeface="Consolas"/>
                <a:ea typeface="Consolas"/>
                <a:cs typeface="Consolas"/>
              </a:rPr>
              <a:t>      </a:t>
            </a:r>
            <a:r>
              <a:rPr lang="en-US" sz="1100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  </a:t>
            </a:r>
            <a:r>
              <a:rPr lang="en-US" sz="110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float </a:t>
            </a:r>
            <a:r>
              <a:rPr lang="en-US" sz="1100" err="1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talbai</a:t>
            </a:r>
            <a:r>
              <a:rPr lang="en-US" sz="110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() override {</a:t>
            </a:r>
            <a:endParaRPr lang="en-US">
              <a:solidFill>
                <a:srgbClr val="0070C0"/>
              </a:solidFill>
              <a:ea typeface="Calibri"/>
              <a:cs typeface="Calibri"/>
            </a:endParaRPr>
          </a:p>
          <a:p>
            <a:r>
              <a:rPr lang="en-US" sz="110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        </a:t>
            </a:r>
            <a:r>
              <a:rPr lang="en-US" sz="1100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    return </a:t>
            </a:r>
            <a:r>
              <a:rPr lang="en-US" sz="110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this-&gt;</a:t>
            </a:r>
            <a:r>
              <a:rPr lang="en-US" sz="1100" err="1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tal</a:t>
            </a:r>
            <a:r>
              <a:rPr lang="en-US" sz="110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 * this-&gt;</a:t>
            </a:r>
            <a:r>
              <a:rPr lang="en-US" sz="1100" err="1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tal</a:t>
            </a:r>
            <a:r>
              <a:rPr lang="en-US" sz="110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en-US" sz="1100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;</a:t>
            </a:r>
            <a:endParaRPr lang="en-US">
              <a:solidFill>
                <a:srgbClr val="0070C0"/>
              </a:solidFill>
              <a:ea typeface="Calibri"/>
              <a:cs typeface="Calibri"/>
            </a:endParaRPr>
          </a:p>
          <a:p>
            <a:r>
              <a:rPr lang="en-US" sz="1100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        }</a:t>
            </a:r>
            <a:endParaRPr lang="en-US">
              <a:solidFill>
                <a:srgbClr val="0070C0"/>
              </a:solidFill>
              <a:ea typeface="Calibri"/>
              <a:cs typeface="Calibri"/>
            </a:endParaRPr>
          </a:p>
          <a:p>
            <a:r>
              <a:rPr lang="en-US" sz="1100">
                <a:solidFill>
                  <a:srgbClr val="0070C0"/>
                </a:solidFill>
                <a:latin typeface="Consolas"/>
              </a:rPr>
              <a:t>        float </a:t>
            </a:r>
            <a:r>
              <a:rPr lang="en-US" sz="1100" err="1">
                <a:solidFill>
                  <a:srgbClr val="0070C0"/>
                </a:solidFill>
                <a:latin typeface="Consolas"/>
              </a:rPr>
              <a:t>perimetr</a:t>
            </a:r>
            <a:r>
              <a:rPr lang="en-US" sz="1100">
                <a:solidFill>
                  <a:srgbClr val="0070C0"/>
                </a:solidFill>
                <a:latin typeface="Consolas"/>
              </a:rPr>
              <a:t>() override {</a:t>
            </a:r>
            <a:endParaRPr lang="en-US">
              <a:solidFill>
                <a:srgbClr val="0070C0"/>
              </a:solidFill>
              <a:ea typeface="Calibri"/>
              <a:cs typeface="Calibri"/>
            </a:endParaRPr>
          </a:p>
          <a:p>
            <a:r>
              <a:rPr lang="en-US" sz="1100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            </a:t>
            </a:r>
            <a:r>
              <a:rPr lang="en-US" sz="110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return 4 * this-&gt;</a:t>
            </a:r>
            <a:r>
              <a:rPr lang="en-US" sz="1100" err="1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tal</a:t>
            </a:r>
            <a:r>
              <a:rPr lang="en-US" sz="110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 ;</a:t>
            </a:r>
            <a:endParaRPr lang="en-US">
              <a:solidFill>
                <a:srgbClr val="0070C0"/>
              </a:solidFill>
              <a:ea typeface="Calibri"/>
              <a:cs typeface="Calibri"/>
            </a:endParaRPr>
          </a:p>
          <a:p>
            <a:r>
              <a:rPr lang="en-US" sz="110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        }</a:t>
            </a:r>
            <a:endParaRPr lang="en-US">
              <a:solidFill>
                <a:srgbClr val="0070C0"/>
              </a:solidFill>
              <a:ea typeface="Calibri"/>
              <a:cs typeface="Calibri"/>
            </a:endParaRPr>
          </a:p>
          <a:p>
            <a:r>
              <a:rPr lang="en-US" sz="1100">
                <a:latin typeface="Consolas"/>
                <a:ea typeface="Consolas"/>
                <a:cs typeface="Consolas"/>
              </a:rPr>
              <a:t>     </a:t>
            </a:r>
            <a:r>
              <a:rPr lang="en-US" sz="110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   ~Square() override {}</a:t>
            </a:r>
            <a:endParaRPr lang="en-US">
              <a:solidFill>
                <a:srgbClr val="0070C0"/>
              </a:solidFill>
              <a:ea typeface="Calibri"/>
              <a:cs typeface="Calibri"/>
            </a:endParaRPr>
          </a:p>
          <a:p>
            <a:r>
              <a:rPr lang="en-US" sz="1100">
                <a:latin typeface="Consolas"/>
                <a:ea typeface="Consolas"/>
                <a:cs typeface="Consolas"/>
              </a:rPr>
              <a:t>};</a:t>
            </a:r>
            <a:endParaRPr lang="en-US">
              <a:ea typeface="Calibri"/>
              <a:cs typeface="Calibri"/>
            </a:endParaRPr>
          </a:p>
          <a:p>
            <a:r>
              <a:rPr lang="en-US" sz="1100">
                <a:solidFill>
                  <a:srgbClr val="FF0000"/>
                </a:solidFill>
                <a:latin typeface="Consolas"/>
                <a:ea typeface="Consolas"/>
                <a:cs typeface="Consolas"/>
              </a:rPr>
              <a:t>class Triangle : public Shape2D</a:t>
            </a:r>
            <a:r>
              <a:rPr lang="en-US" sz="1100">
                <a:latin typeface="Consolas"/>
                <a:ea typeface="Consolas"/>
                <a:cs typeface="Consolas"/>
              </a:rPr>
              <a:t> {</a:t>
            </a:r>
            <a:endParaRPr lang="en-US">
              <a:ea typeface="Calibri"/>
              <a:cs typeface="Calibri"/>
            </a:endParaRPr>
          </a:p>
          <a:p>
            <a:r>
              <a:rPr lang="en-US" sz="1100">
                <a:latin typeface="Consolas"/>
                <a:ea typeface="Consolas"/>
                <a:cs typeface="Consolas"/>
              </a:rPr>
              <a:t>protected:</a:t>
            </a:r>
            <a:endParaRPr lang="en-US">
              <a:ea typeface="Calibri"/>
              <a:cs typeface="Calibri"/>
            </a:endParaRPr>
          </a:p>
          <a:p>
            <a:r>
              <a:rPr lang="en-US" sz="1100">
                <a:latin typeface="Consolas"/>
                <a:ea typeface="Consolas"/>
                <a:cs typeface="Consolas"/>
              </a:rPr>
              <a:t>    Point p1, p2, p3;</a:t>
            </a:r>
            <a:endParaRPr lang="en-US">
              <a:ea typeface="Calibri"/>
              <a:cs typeface="Calibri"/>
            </a:endParaRPr>
          </a:p>
          <a:p>
            <a:r>
              <a:rPr lang="en-US" sz="1100">
                <a:latin typeface="Consolas"/>
                <a:ea typeface="Consolas"/>
                <a:cs typeface="Consolas"/>
              </a:rPr>
              <a:t>    float tal1, tal2, tal3</a:t>
            </a:r>
            <a:r>
              <a:rPr lang="en-US" sz="1100" b="0">
                <a:latin typeface="Consolas"/>
                <a:ea typeface="Consolas"/>
                <a:cs typeface="Consolas"/>
              </a:rPr>
              <a:t>;</a:t>
            </a:r>
            <a:endParaRPr lang="en-US">
              <a:ea typeface="Calibri"/>
              <a:cs typeface="Calibri"/>
            </a:endParaRPr>
          </a:p>
          <a:p>
            <a:r>
              <a:rPr lang="en-US" sz="1100">
                <a:latin typeface="Consolas"/>
                <a:ea typeface="Consolas"/>
                <a:cs typeface="Consolas"/>
              </a:rPr>
              <a:t>public:</a:t>
            </a:r>
            <a:endParaRPr lang="en-US">
              <a:ea typeface="Calibri"/>
              <a:cs typeface="Calibri"/>
            </a:endParaRPr>
          </a:p>
          <a:p>
            <a:endParaRPr lang="en-US" sz="1100" b="0">
              <a:solidFill>
                <a:srgbClr val="C9D1D9"/>
              </a:solidFill>
              <a:latin typeface="Consolas"/>
              <a:ea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5394300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1F904D-E1C1-0819-2E02-6A26FC476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98FC17F-43A5-5555-46EC-B06F02220640}"/>
              </a:ext>
            </a:extLst>
          </p:cNvPr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A2CAA7-6288-1E82-FDFD-5FEDEE2DC55A}"/>
              </a:ext>
            </a:extLst>
          </p:cNvPr>
          <p:cNvSpPr txBox="1"/>
          <p:nvPr/>
        </p:nvSpPr>
        <p:spPr>
          <a:xfrm>
            <a:off x="2282790" y="225740"/>
            <a:ext cx="4572000" cy="533992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100">
                <a:solidFill>
                  <a:srgbClr val="C9D1D9"/>
                </a:solidFill>
                <a:latin typeface="Consolas"/>
              </a:rPr>
              <a:t> </a:t>
            </a:r>
            <a:r>
              <a:rPr lang="en-US" sz="1100">
                <a:latin typeface="Consolas"/>
              </a:rPr>
              <a:t>Triangle</a:t>
            </a:r>
            <a:r>
              <a:rPr lang="en-US" sz="1100">
                <a:latin typeface="Consolas"/>
                <a:ea typeface="Consolas"/>
                <a:cs typeface="Consolas"/>
              </a:rPr>
              <a:t>(Point top, float a, string name) :Shape2D(name){ </a:t>
            </a:r>
            <a:endParaRPr lang="en-US" sz="1100">
              <a:latin typeface="Consolas"/>
              <a:ea typeface="Calibri"/>
              <a:cs typeface="Calibri"/>
            </a:endParaRPr>
          </a:p>
          <a:p>
            <a:r>
              <a:rPr lang="en-US" sz="1100" b="0">
                <a:latin typeface="Consolas"/>
                <a:ea typeface="Consolas"/>
                <a:cs typeface="Consolas"/>
              </a:rPr>
              <a:t>       </a:t>
            </a:r>
            <a:r>
              <a:rPr lang="en-US" sz="1100">
                <a:latin typeface="Consolas"/>
                <a:ea typeface="Consolas"/>
                <a:cs typeface="Consolas"/>
              </a:rPr>
              <a:t> </a:t>
            </a:r>
            <a:r>
              <a:rPr lang="en-US" sz="1100">
                <a:solidFill>
                  <a:schemeClr val="accent2"/>
                </a:solidFill>
                <a:latin typeface="Consolas"/>
                <a:ea typeface="Consolas"/>
                <a:cs typeface="Consolas"/>
              </a:rPr>
              <a:t>this</a:t>
            </a:r>
            <a:r>
              <a:rPr lang="en-US" sz="1100">
                <a:latin typeface="Consolas"/>
                <a:ea typeface="Consolas"/>
                <a:cs typeface="Consolas"/>
              </a:rPr>
              <a:t>-&gt;p1 = top ; </a:t>
            </a:r>
            <a:endParaRPr lang="en-US" sz="1100">
              <a:latin typeface="Consolas"/>
              <a:ea typeface="Calibri"/>
              <a:cs typeface="Calibri"/>
            </a:endParaRPr>
          </a:p>
          <a:p>
            <a:r>
              <a:rPr lang="en-US" sz="1100">
                <a:latin typeface="Consolas"/>
                <a:ea typeface="Consolas"/>
                <a:cs typeface="Consolas"/>
              </a:rPr>
              <a:t>        float height = sqrt(3)/2 * a </a:t>
            </a:r>
            <a:r>
              <a:rPr lang="en-US" sz="1100" b="0">
                <a:latin typeface="Consolas"/>
                <a:ea typeface="Consolas"/>
                <a:cs typeface="Consolas"/>
              </a:rPr>
              <a:t>;</a:t>
            </a:r>
            <a:r>
              <a:rPr lang="en-US" sz="1100">
                <a:latin typeface="Consolas"/>
                <a:ea typeface="Consolas"/>
                <a:cs typeface="Consolas"/>
              </a:rPr>
              <a:t> </a:t>
            </a:r>
            <a:endParaRPr lang="en-US" sz="1100">
              <a:latin typeface="Consolas"/>
              <a:ea typeface="Calibri"/>
              <a:cs typeface="Calibri"/>
            </a:endParaRPr>
          </a:p>
          <a:p>
            <a:r>
              <a:rPr lang="en-US" sz="1100" b="0">
                <a:latin typeface="Consolas"/>
                <a:ea typeface="Consolas"/>
                <a:cs typeface="Consolas"/>
              </a:rPr>
              <a:t>       </a:t>
            </a:r>
            <a:r>
              <a:rPr lang="en-US" sz="1100">
                <a:solidFill>
                  <a:schemeClr val="accent2"/>
                </a:solidFill>
                <a:latin typeface="Consolas"/>
                <a:ea typeface="Consolas"/>
                <a:cs typeface="Consolas"/>
              </a:rPr>
              <a:t> this</a:t>
            </a:r>
            <a:r>
              <a:rPr lang="en-US" sz="1100">
                <a:latin typeface="Consolas"/>
                <a:ea typeface="Consolas"/>
                <a:cs typeface="Consolas"/>
              </a:rPr>
              <a:t>-&gt;p2 = {</a:t>
            </a:r>
            <a:r>
              <a:rPr lang="en-US" sz="1100" err="1">
                <a:latin typeface="Consolas"/>
                <a:ea typeface="Consolas"/>
                <a:cs typeface="Consolas"/>
              </a:rPr>
              <a:t>top.x</a:t>
            </a:r>
            <a:r>
              <a:rPr lang="en-US" sz="1100">
                <a:latin typeface="Consolas"/>
                <a:ea typeface="Consolas"/>
                <a:cs typeface="Consolas"/>
              </a:rPr>
              <a:t> - a/2, </a:t>
            </a:r>
            <a:r>
              <a:rPr lang="en-US" sz="1100" err="1">
                <a:latin typeface="Consolas"/>
                <a:ea typeface="Consolas"/>
                <a:cs typeface="Consolas"/>
              </a:rPr>
              <a:t>top.y</a:t>
            </a:r>
            <a:r>
              <a:rPr lang="en-US" sz="1100">
                <a:latin typeface="Consolas"/>
                <a:ea typeface="Consolas"/>
                <a:cs typeface="Consolas"/>
              </a:rPr>
              <a:t> - height} ; </a:t>
            </a:r>
            <a:endParaRPr lang="en-US" sz="1100">
              <a:latin typeface="Consolas"/>
              <a:ea typeface="Calibri"/>
              <a:cs typeface="Calibri"/>
            </a:endParaRPr>
          </a:p>
          <a:p>
            <a:r>
              <a:rPr lang="en-US" sz="1100">
                <a:latin typeface="Consolas"/>
                <a:ea typeface="Consolas"/>
                <a:cs typeface="Consolas"/>
              </a:rPr>
              <a:t>        </a:t>
            </a:r>
            <a:r>
              <a:rPr lang="en-US" sz="1100">
                <a:solidFill>
                  <a:schemeClr val="accent2"/>
                </a:solidFill>
                <a:latin typeface="Consolas"/>
                <a:ea typeface="Consolas"/>
                <a:cs typeface="Consolas"/>
              </a:rPr>
              <a:t>this</a:t>
            </a:r>
            <a:r>
              <a:rPr lang="en-US" sz="1100">
                <a:latin typeface="Consolas"/>
                <a:ea typeface="Consolas"/>
                <a:cs typeface="Consolas"/>
              </a:rPr>
              <a:t>-&gt;p3 = {</a:t>
            </a:r>
            <a:r>
              <a:rPr lang="en-US" sz="1100" err="1">
                <a:latin typeface="Consolas"/>
                <a:ea typeface="Consolas"/>
                <a:cs typeface="Consolas"/>
              </a:rPr>
              <a:t>top.x</a:t>
            </a:r>
            <a:r>
              <a:rPr lang="en-US" sz="1100">
                <a:latin typeface="Consolas"/>
                <a:ea typeface="Consolas"/>
                <a:cs typeface="Consolas"/>
              </a:rPr>
              <a:t> + a/2, </a:t>
            </a:r>
            <a:r>
              <a:rPr lang="en-US" sz="1100" err="1">
                <a:latin typeface="Consolas"/>
                <a:ea typeface="Consolas"/>
                <a:cs typeface="Consolas"/>
              </a:rPr>
              <a:t>top.y</a:t>
            </a:r>
            <a:r>
              <a:rPr lang="en-US" sz="1100">
                <a:latin typeface="Consolas"/>
                <a:ea typeface="Consolas"/>
                <a:cs typeface="Consolas"/>
              </a:rPr>
              <a:t> - height} ; </a:t>
            </a:r>
            <a:endParaRPr lang="en-US" sz="1100">
              <a:latin typeface="Consolas"/>
              <a:ea typeface="Calibri"/>
              <a:cs typeface="Calibri"/>
            </a:endParaRPr>
          </a:p>
          <a:p>
            <a:r>
              <a:rPr lang="en-US" sz="1100">
                <a:latin typeface="Consolas"/>
                <a:ea typeface="Consolas"/>
                <a:cs typeface="Consolas"/>
              </a:rPr>
              <a:t>       </a:t>
            </a:r>
            <a:r>
              <a:rPr lang="en-US" sz="1100">
                <a:solidFill>
                  <a:schemeClr val="accent2"/>
                </a:solidFill>
                <a:latin typeface="Consolas"/>
                <a:ea typeface="Consolas"/>
                <a:cs typeface="Consolas"/>
              </a:rPr>
              <a:t> this</a:t>
            </a:r>
            <a:r>
              <a:rPr lang="en-US" sz="1100">
                <a:latin typeface="Consolas"/>
                <a:ea typeface="Consolas"/>
                <a:cs typeface="Consolas"/>
              </a:rPr>
              <a:t>-&gt;tal1 = </a:t>
            </a:r>
            <a:r>
              <a:rPr lang="en-US" sz="1100">
                <a:solidFill>
                  <a:schemeClr val="accent2"/>
                </a:solidFill>
                <a:latin typeface="Consolas"/>
                <a:ea typeface="Consolas"/>
                <a:cs typeface="Consolas"/>
              </a:rPr>
              <a:t>this</a:t>
            </a:r>
            <a:r>
              <a:rPr lang="en-US" sz="1100">
                <a:latin typeface="Consolas"/>
                <a:ea typeface="Consolas"/>
                <a:cs typeface="Consolas"/>
              </a:rPr>
              <a:t>-&gt;tal2 = </a:t>
            </a:r>
            <a:r>
              <a:rPr lang="en-US" sz="1100">
                <a:solidFill>
                  <a:schemeClr val="accent2"/>
                </a:solidFill>
                <a:latin typeface="Consolas"/>
                <a:ea typeface="Consolas"/>
                <a:cs typeface="Consolas"/>
              </a:rPr>
              <a:t>this</a:t>
            </a:r>
            <a:r>
              <a:rPr lang="en-US" sz="1100">
                <a:latin typeface="Consolas"/>
                <a:ea typeface="Consolas"/>
                <a:cs typeface="Consolas"/>
              </a:rPr>
              <a:t>-&gt;tal3 = a </a:t>
            </a:r>
            <a:r>
              <a:rPr lang="en-US" sz="1100" b="0">
                <a:latin typeface="Consolas"/>
                <a:ea typeface="Consolas"/>
                <a:cs typeface="Consolas"/>
              </a:rPr>
              <a:t>;</a:t>
            </a:r>
            <a:r>
              <a:rPr lang="en-US" sz="1100">
                <a:latin typeface="Consolas"/>
                <a:ea typeface="Consolas"/>
                <a:cs typeface="Consolas"/>
              </a:rPr>
              <a:t> </a:t>
            </a:r>
            <a:endParaRPr lang="en-US" sz="1100">
              <a:latin typeface="Consolas"/>
              <a:ea typeface="Calibri"/>
              <a:cs typeface="Calibri"/>
            </a:endParaRPr>
          </a:p>
          <a:p>
            <a:r>
              <a:rPr lang="en-US" sz="1100" b="0">
                <a:latin typeface="Consolas"/>
                <a:ea typeface="Consolas"/>
                <a:cs typeface="Consolas"/>
              </a:rPr>
              <a:t>    }</a:t>
            </a:r>
            <a:r>
              <a:rPr lang="en-US" sz="1100">
                <a:latin typeface="Consolas"/>
                <a:ea typeface="Consolas"/>
                <a:cs typeface="Consolas"/>
              </a:rPr>
              <a:t> </a:t>
            </a:r>
            <a:endParaRPr lang="en-US" sz="1100">
              <a:latin typeface="Consolas"/>
              <a:ea typeface="Calibri"/>
              <a:cs typeface="Calibri"/>
            </a:endParaRPr>
          </a:p>
          <a:p>
            <a:r>
              <a:rPr lang="en-US" sz="1100" b="0">
                <a:latin typeface="Consolas"/>
                <a:ea typeface="Consolas"/>
                <a:cs typeface="Consolas"/>
              </a:rPr>
              <a:t>   </a:t>
            </a:r>
            <a:r>
              <a:rPr lang="en-US" sz="1100">
                <a:latin typeface="Consolas"/>
                <a:ea typeface="Consolas"/>
                <a:cs typeface="Consolas"/>
              </a:rPr>
              <a:t> </a:t>
            </a:r>
            <a:r>
              <a:rPr lang="en-US" sz="1100">
                <a:solidFill>
                  <a:schemeClr val="accent1"/>
                </a:solidFill>
                <a:latin typeface="Consolas"/>
                <a:ea typeface="Consolas"/>
                <a:cs typeface="Consolas"/>
              </a:rPr>
              <a:t>float </a:t>
            </a:r>
            <a:r>
              <a:rPr lang="en-US" sz="1100" err="1">
                <a:solidFill>
                  <a:schemeClr val="accent1"/>
                </a:solidFill>
                <a:latin typeface="Consolas"/>
                <a:ea typeface="Consolas"/>
                <a:cs typeface="Consolas"/>
              </a:rPr>
              <a:t>talbai</a:t>
            </a:r>
            <a:r>
              <a:rPr lang="en-US" sz="1100">
                <a:solidFill>
                  <a:schemeClr val="accent1"/>
                </a:solidFill>
                <a:latin typeface="Consolas"/>
                <a:ea typeface="Consolas"/>
                <a:cs typeface="Consolas"/>
              </a:rPr>
              <a:t>() override</a:t>
            </a:r>
            <a:r>
              <a:rPr lang="en-US" sz="1100">
                <a:latin typeface="Consolas"/>
                <a:ea typeface="Consolas"/>
                <a:cs typeface="Consolas"/>
              </a:rPr>
              <a:t> { </a:t>
            </a:r>
            <a:endParaRPr lang="en-US" sz="1100">
              <a:latin typeface="Consolas"/>
              <a:ea typeface="Calibri"/>
              <a:cs typeface="Calibri"/>
            </a:endParaRPr>
          </a:p>
          <a:p>
            <a:r>
              <a:rPr lang="en-US" sz="1100">
                <a:latin typeface="Consolas"/>
                <a:ea typeface="Consolas"/>
                <a:cs typeface="Consolas"/>
              </a:rPr>
              <a:t>        </a:t>
            </a:r>
            <a:r>
              <a:rPr lang="en-US" sz="1100" b="0">
                <a:latin typeface="Consolas"/>
                <a:ea typeface="Consolas"/>
                <a:cs typeface="Consolas"/>
              </a:rPr>
              <a:t>return </a:t>
            </a:r>
            <a:r>
              <a:rPr lang="en-US" sz="1100">
                <a:latin typeface="Consolas"/>
                <a:ea typeface="Consolas"/>
                <a:cs typeface="Consolas"/>
              </a:rPr>
              <a:t>(sqrt(</a:t>
            </a:r>
            <a:r>
              <a:rPr lang="en-US" sz="1100">
                <a:latin typeface="Consolas"/>
              </a:rPr>
              <a:t>3.0</a:t>
            </a:r>
            <a:r>
              <a:rPr lang="en-US" sz="1100">
                <a:latin typeface="Consolas"/>
                <a:ea typeface="Consolas"/>
                <a:cs typeface="Consolas"/>
              </a:rPr>
              <a:t>)/4) *</a:t>
            </a:r>
            <a:r>
              <a:rPr lang="en-US" sz="1100">
                <a:latin typeface="Consolas"/>
              </a:rPr>
              <a:t> </a:t>
            </a:r>
            <a:r>
              <a:rPr lang="en-US" sz="1100">
                <a:solidFill>
                  <a:schemeClr val="accent2"/>
                </a:solidFill>
                <a:latin typeface="Consolas"/>
                <a:ea typeface="Consolas"/>
                <a:cs typeface="Consolas"/>
              </a:rPr>
              <a:t>this</a:t>
            </a:r>
            <a:r>
              <a:rPr lang="en-US" sz="1100">
                <a:latin typeface="Consolas"/>
                <a:ea typeface="Consolas"/>
                <a:cs typeface="Consolas"/>
              </a:rPr>
              <a:t>-&gt;tal1 * </a:t>
            </a:r>
            <a:r>
              <a:rPr lang="en-US" sz="1100">
                <a:solidFill>
                  <a:schemeClr val="accent2"/>
                </a:solidFill>
                <a:latin typeface="Consolas"/>
                <a:ea typeface="Consolas"/>
                <a:cs typeface="Consolas"/>
              </a:rPr>
              <a:t>this</a:t>
            </a:r>
            <a:r>
              <a:rPr lang="en-US" sz="1100">
                <a:latin typeface="Consolas"/>
                <a:ea typeface="Consolas"/>
                <a:cs typeface="Consolas"/>
              </a:rPr>
              <a:t>-&gt;tal1</a:t>
            </a:r>
            <a:r>
              <a:rPr lang="en-US" sz="1100" b="0">
                <a:latin typeface="Consolas"/>
                <a:ea typeface="Consolas"/>
                <a:cs typeface="Consolas"/>
              </a:rPr>
              <a:t>;</a:t>
            </a:r>
            <a:r>
              <a:rPr lang="en-US" sz="1100">
                <a:latin typeface="Consolas"/>
                <a:ea typeface="Consolas"/>
                <a:cs typeface="Consolas"/>
              </a:rPr>
              <a:t> </a:t>
            </a:r>
            <a:endParaRPr lang="en-US" sz="1100">
              <a:latin typeface="Consolas"/>
              <a:ea typeface="Calibri"/>
              <a:cs typeface="Calibri"/>
            </a:endParaRPr>
          </a:p>
          <a:p>
            <a:r>
              <a:rPr lang="en-US" sz="1100" b="0">
                <a:latin typeface="Consolas"/>
                <a:ea typeface="Consolas"/>
                <a:cs typeface="Consolas"/>
              </a:rPr>
              <a:t>    }</a:t>
            </a:r>
            <a:r>
              <a:rPr lang="en-US" sz="1100">
                <a:latin typeface="Consolas"/>
                <a:ea typeface="Consolas"/>
                <a:cs typeface="Consolas"/>
              </a:rPr>
              <a:t> </a:t>
            </a:r>
            <a:endParaRPr lang="en-US" sz="1100">
              <a:latin typeface="Consolas"/>
              <a:ea typeface="Calibri"/>
              <a:cs typeface="Calibri"/>
            </a:endParaRPr>
          </a:p>
          <a:p>
            <a:r>
              <a:rPr lang="en-US" sz="1100">
                <a:latin typeface="Consolas"/>
              </a:rPr>
              <a:t>    </a:t>
            </a:r>
            <a:r>
              <a:rPr lang="en-US" sz="1100">
                <a:solidFill>
                  <a:schemeClr val="accent1"/>
                </a:solidFill>
                <a:latin typeface="Consolas"/>
              </a:rPr>
              <a:t>float </a:t>
            </a:r>
            <a:r>
              <a:rPr lang="en-US" sz="1100" err="1">
                <a:solidFill>
                  <a:schemeClr val="accent1"/>
                </a:solidFill>
                <a:latin typeface="Consolas"/>
              </a:rPr>
              <a:t>perimetr</a:t>
            </a:r>
            <a:r>
              <a:rPr lang="en-US" sz="1100">
                <a:solidFill>
                  <a:schemeClr val="accent1"/>
                </a:solidFill>
                <a:latin typeface="Consolas"/>
              </a:rPr>
              <a:t>() override</a:t>
            </a:r>
            <a:r>
              <a:rPr lang="en-US" sz="1100">
                <a:latin typeface="Consolas"/>
              </a:rPr>
              <a:t> { </a:t>
            </a:r>
            <a:endParaRPr lang="en-US" sz="1100">
              <a:latin typeface="Consolas"/>
              <a:ea typeface="Calibri"/>
              <a:cs typeface="Calibri"/>
            </a:endParaRPr>
          </a:p>
          <a:p>
            <a:r>
              <a:rPr lang="en-US" sz="1100" b="0">
                <a:latin typeface="Consolas"/>
                <a:ea typeface="Consolas"/>
                <a:cs typeface="Consolas"/>
              </a:rPr>
              <a:t>        </a:t>
            </a:r>
            <a:r>
              <a:rPr lang="en-US" sz="1100">
                <a:latin typeface="Consolas"/>
                <a:ea typeface="Consolas"/>
                <a:cs typeface="Consolas"/>
              </a:rPr>
              <a:t>return </a:t>
            </a:r>
            <a:r>
              <a:rPr lang="en-US" sz="1100">
                <a:solidFill>
                  <a:schemeClr val="accent2"/>
                </a:solidFill>
                <a:latin typeface="Consolas"/>
                <a:ea typeface="Consolas"/>
                <a:cs typeface="Consolas"/>
              </a:rPr>
              <a:t>this</a:t>
            </a:r>
            <a:r>
              <a:rPr lang="en-US" sz="1100">
                <a:latin typeface="Consolas"/>
                <a:ea typeface="Consolas"/>
                <a:cs typeface="Consolas"/>
              </a:rPr>
              <a:t>-&gt;tal1 + </a:t>
            </a:r>
            <a:r>
              <a:rPr lang="en-US" sz="1100">
                <a:solidFill>
                  <a:schemeClr val="accent2"/>
                </a:solidFill>
                <a:latin typeface="Consolas"/>
                <a:ea typeface="Consolas"/>
                <a:cs typeface="Consolas"/>
              </a:rPr>
              <a:t>this</a:t>
            </a:r>
            <a:r>
              <a:rPr lang="en-US" sz="1100">
                <a:latin typeface="Consolas"/>
                <a:ea typeface="Consolas"/>
                <a:cs typeface="Consolas"/>
              </a:rPr>
              <a:t>-&gt;tal2 + </a:t>
            </a:r>
            <a:r>
              <a:rPr lang="en-US" sz="1100">
                <a:solidFill>
                  <a:schemeClr val="accent2"/>
                </a:solidFill>
                <a:latin typeface="Consolas"/>
                <a:ea typeface="Consolas"/>
                <a:cs typeface="Consolas"/>
              </a:rPr>
              <a:t>this</a:t>
            </a:r>
            <a:r>
              <a:rPr lang="en-US" sz="1100">
                <a:latin typeface="Consolas"/>
                <a:ea typeface="Consolas"/>
                <a:cs typeface="Consolas"/>
              </a:rPr>
              <a:t>-&gt;tal3; </a:t>
            </a:r>
            <a:endParaRPr lang="en-US" sz="1100">
              <a:latin typeface="Consolas"/>
              <a:ea typeface="Calibri"/>
              <a:cs typeface="Calibri"/>
            </a:endParaRPr>
          </a:p>
          <a:p>
            <a:r>
              <a:rPr lang="en-US" sz="1100">
                <a:latin typeface="Consolas"/>
                <a:ea typeface="Consolas"/>
                <a:cs typeface="Consolas"/>
              </a:rPr>
              <a:t>    } </a:t>
            </a:r>
            <a:endParaRPr lang="en-US" sz="1100">
              <a:latin typeface="Consolas"/>
              <a:ea typeface="Calibri"/>
              <a:cs typeface="Calibri"/>
            </a:endParaRPr>
          </a:p>
          <a:p>
            <a:r>
              <a:rPr lang="en-US" sz="1100">
                <a:latin typeface="Consolas"/>
                <a:ea typeface="Consolas"/>
                <a:cs typeface="Consolas"/>
              </a:rPr>
              <a:t>    </a:t>
            </a:r>
            <a:r>
              <a:rPr lang="en-US" sz="1100">
                <a:solidFill>
                  <a:schemeClr val="accent1"/>
                </a:solidFill>
                <a:latin typeface="Consolas"/>
                <a:ea typeface="Consolas"/>
                <a:cs typeface="Consolas"/>
              </a:rPr>
              <a:t>~Triangle() override {} </a:t>
            </a:r>
            <a:endParaRPr lang="en-US" sz="1100">
              <a:solidFill>
                <a:schemeClr val="accent1"/>
              </a:solidFill>
              <a:latin typeface="Consolas"/>
              <a:ea typeface="Calibri"/>
              <a:cs typeface="Calibri"/>
            </a:endParaRPr>
          </a:p>
          <a:p>
            <a:r>
              <a:rPr lang="en-US" sz="1100">
                <a:latin typeface="Consolas"/>
                <a:ea typeface="Consolas"/>
                <a:cs typeface="Consolas"/>
              </a:rPr>
              <a:t>}; </a:t>
            </a:r>
            <a:endParaRPr lang="en-US" sz="1100">
              <a:latin typeface="Consolas"/>
              <a:ea typeface="Calibri"/>
              <a:cs typeface="Calibri"/>
            </a:endParaRPr>
          </a:p>
          <a:p>
            <a:r>
              <a:rPr lang="en-US" sz="1100">
                <a:latin typeface="Consolas"/>
                <a:ea typeface="Consolas"/>
                <a:cs typeface="Consolas"/>
              </a:rPr>
              <a:t>void </a:t>
            </a:r>
            <a:r>
              <a:rPr lang="en-US" sz="1100" err="1">
                <a:solidFill>
                  <a:srgbClr val="7030A0"/>
                </a:solidFill>
                <a:latin typeface="Consolas"/>
                <a:ea typeface="Consolas"/>
                <a:cs typeface="Consolas"/>
              </a:rPr>
              <a:t>sortByTalbai</a:t>
            </a:r>
            <a:r>
              <a:rPr lang="en-US" sz="1100">
                <a:latin typeface="Consolas"/>
                <a:ea typeface="Consolas"/>
                <a:cs typeface="Consolas"/>
              </a:rPr>
              <a:t>(Shape2D* shapes[], int n){ </a:t>
            </a:r>
            <a:endParaRPr lang="en-US" sz="1100">
              <a:latin typeface="Consolas"/>
              <a:ea typeface="Calibri"/>
              <a:cs typeface="Calibri"/>
            </a:endParaRPr>
          </a:p>
          <a:p>
            <a:r>
              <a:rPr lang="en-US" sz="1100">
                <a:latin typeface="Consolas"/>
                <a:ea typeface="Consolas"/>
                <a:cs typeface="Consolas"/>
              </a:rPr>
              <a:t>    for(int </a:t>
            </a:r>
            <a:r>
              <a:rPr lang="en-US" sz="1100" err="1">
                <a:latin typeface="Consolas"/>
                <a:ea typeface="Consolas"/>
                <a:cs typeface="Consolas"/>
              </a:rPr>
              <a:t>i</a:t>
            </a:r>
            <a:r>
              <a:rPr lang="en-US" sz="1100">
                <a:latin typeface="Consolas"/>
                <a:ea typeface="Consolas"/>
                <a:cs typeface="Consolas"/>
              </a:rPr>
              <a:t> = 0; </a:t>
            </a:r>
            <a:r>
              <a:rPr lang="en-US" sz="1100" err="1">
                <a:latin typeface="Consolas"/>
                <a:ea typeface="Consolas"/>
                <a:cs typeface="Consolas"/>
              </a:rPr>
              <a:t>i</a:t>
            </a:r>
            <a:r>
              <a:rPr lang="en-US" sz="1100">
                <a:latin typeface="Consolas"/>
                <a:ea typeface="Consolas"/>
                <a:cs typeface="Consolas"/>
              </a:rPr>
              <a:t> &lt; n-1; </a:t>
            </a:r>
            <a:r>
              <a:rPr lang="en-US" sz="1100" err="1">
                <a:latin typeface="Consolas"/>
                <a:ea typeface="Consolas"/>
                <a:cs typeface="Consolas"/>
              </a:rPr>
              <a:t>i</a:t>
            </a:r>
            <a:r>
              <a:rPr lang="en-US" sz="1100">
                <a:latin typeface="Consolas"/>
                <a:ea typeface="Consolas"/>
                <a:cs typeface="Consolas"/>
              </a:rPr>
              <a:t>++) { </a:t>
            </a:r>
            <a:endParaRPr lang="en-US" sz="1100">
              <a:latin typeface="Consolas"/>
              <a:ea typeface="Calibri"/>
              <a:cs typeface="Calibri"/>
            </a:endParaRPr>
          </a:p>
          <a:p>
            <a:r>
              <a:rPr lang="en-US" sz="1100">
                <a:latin typeface="Consolas"/>
                <a:ea typeface="Consolas"/>
                <a:cs typeface="Consolas"/>
              </a:rPr>
              <a:t>        for(int j = 0; j &lt; n-i-1; </a:t>
            </a:r>
            <a:r>
              <a:rPr lang="en-US" sz="1100" err="1">
                <a:latin typeface="Consolas"/>
                <a:ea typeface="Consolas"/>
                <a:cs typeface="Consolas"/>
              </a:rPr>
              <a:t>j++</a:t>
            </a:r>
            <a:r>
              <a:rPr lang="en-US" sz="1100">
                <a:latin typeface="Consolas"/>
                <a:ea typeface="Consolas"/>
                <a:cs typeface="Consolas"/>
              </a:rPr>
              <a:t>) { </a:t>
            </a:r>
            <a:endParaRPr lang="en-US" sz="1100">
              <a:latin typeface="Consolas"/>
              <a:ea typeface="Calibri"/>
              <a:cs typeface="Calibri"/>
            </a:endParaRPr>
          </a:p>
          <a:p>
            <a:r>
              <a:rPr lang="en-US" sz="1100">
                <a:latin typeface="Consolas"/>
                <a:ea typeface="Consolas"/>
                <a:cs typeface="Consolas"/>
              </a:rPr>
              <a:t>            if(shapes[j]-&gt;</a:t>
            </a:r>
            <a:r>
              <a:rPr lang="en-US" sz="1100" err="1">
                <a:solidFill>
                  <a:schemeClr val="accent1"/>
                </a:solidFill>
                <a:latin typeface="Consolas"/>
                <a:ea typeface="Consolas"/>
                <a:cs typeface="Consolas"/>
              </a:rPr>
              <a:t>talbai</a:t>
            </a:r>
            <a:r>
              <a:rPr lang="en-US" sz="1100">
                <a:solidFill>
                  <a:schemeClr val="accent1"/>
                </a:solidFill>
                <a:latin typeface="Consolas"/>
                <a:ea typeface="Consolas"/>
                <a:cs typeface="Consolas"/>
              </a:rPr>
              <a:t>()</a:t>
            </a:r>
            <a:r>
              <a:rPr lang="en-US" sz="1100">
                <a:latin typeface="Consolas"/>
                <a:ea typeface="Consolas"/>
                <a:cs typeface="Consolas"/>
              </a:rPr>
              <a:t> &gt; shapes[j+1]-&gt;</a:t>
            </a:r>
            <a:r>
              <a:rPr lang="en-US" sz="1100" err="1">
                <a:solidFill>
                  <a:schemeClr val="accent1"/>
                </a:solidFill>
                <a:latin typeface="Consolas"/>
                <a:ea typeface="Consolas"/>
                <a:cs typeface="Consolas"/>
              </a:rPr>
              <a:t>talbai</a:t>
            </a:r>
            <a:r>
              <a:rPr lang="en-US" sz="1100">
                <a:solidFill>
                  <a:schemeClr val="accent1"/>
                </a:solidFill>
                <a:latin typeface="Consolas"/>
                <a:ea typeface="Consolas"/>
                <a:cs typeface="Consolas"/>
              </a:rPr>
              <a:t>()</a:t>
            </a:r>
            <a:r>
              <a:rPr lang="en-US" sz="1100">
                <a:latin typeface="Consolas"/>
                <a:ea typeface="Consolas"/>
                <a:cs typeface="Consolas"/>
              </a:rPr>
              <a:t>) { </a:t>
            </a:r>
            <a:endParaRPr lang="en-US" sz="1100">
              <a:latin typeface="Consolas"/>
              <a:ea typeface="Calibri"/>
              <a:cs typeface="Calibri"/>
            </a:endParaRPr>
          </a:p>
          <a:p>
            <a:r>
              <a:rPr lang="en-US" sz="1100">
                <a:latin typeface="Consolas"/>
                <a:ea typeface="Consolas"/>
                <a:cs typeface="Consolas"/>
              </a:rPr>
              <a:t>                Shape2D* temp = shapes[j] ; </a:t>
            </a:r>
            <a:endParaRPr lang="en-US" sz="1100">
              <a:latin typeface="Consolas"/>
              <a:ea typeface="Calibri"/>
              <a:cs typeface="Calibri"/>
            </a:endParaRPr>
          </a:p>
          <a:p>
            <a:r>
              <a:rPr lang="en-US" sz="1100">
                <a:latin typeface="Consolas"/>
                <a:ea typeface="Consolas"/>
                <a:cs typeface="Consolas"/>
              </a:rPr>
              <a:t>                shapes[j] = shapes[j+1</a:t>
            </a:r>
            <a:r>
              <a:rPr lang="en-US" sz="1100">
                <a:latin typeface="Consolas"/>
              </a:rPr>
              <a:t>] ; </a:t>
            </a:r>
            <a:endParaRPr lang="en-US" sz="1100">
              <a:latin typeface="Consolas"/>
              <a:ea typeface="Calibri"/>
              <a:cs typeface="Calibri"/>
            </a:endParaRPr>
          </a:p>
          <a:p>
            <a:r>
              <a:rPr lang="en-US" sz="1100">
                <a:latin typeface="Consolas"/>
                <a:ea typeface="Consolas"/>
                <a:cs typeface="Consolas"/>
              </a:rPr>
              <a:t>                shapes[j+1] = temp </a:t>
            </a:r>
            <a:r>
              <a:rPr lang="en-US" sz="1100" b="0">
                <a:latin typeface="Consolas"/>
                <a:ea typeface="Consolas"/>
                <a:cs typeface="Consolas"/>
              </a:rPr>
              <a:t>;</a:t>
            </a:r>
            <a:r>
              <a:rPr lang="en-US" sz="1100">
                <a:latin typeface="Consolas"/>
              </a:rPr>
              <a:t> </a:t>
            </a:r>
            <a:endParaRPr lang="en-US" sz="1100">
              <a:latin typeface="Consolas"/>
              <a:ea typeface="Calibri"/>
              <a:cs typeface="Calibri"/>
            </a:endParaRPr>
          </a:p>
          <a:p>
            <a:r>
              <a:rPr lang="en-US" sz="1100">
                <a:latin typeface="Consolas"/>
              </a:rPr>
              <a:t>            } </a:t>
            </a:r>
            <a:endParaRPr lang="en-US" sz="1100">
              <a:latin typeface="Consolas"/>
              <a:ea typeface="Calibri"/>
              <a:cs typeface="Calibri"/>
            </a:endParaRPr>
          </a:p>
          <a:p>
            <a:r>
              <a:rPr lang="en-US" sz="1100">
                <a:latin typeface="Consolas"/>
              </a:rPr>
              <a:t>        } </a:t>
            </a:r>
            <a:endParaRPr lang="en-US" sz="1100">
              <a:latin typeface="Consolas"/>
              <a:ea typeface="Calibri"/>
              <a:cs typeface="Calibri"/>
            </a:endParaRPr>
          </a:p>
          <a:p>
            <a:r>
              <a:rPr lang="en-US" sz="1100">
                <a:latin typeface="Consolas"/>
              </a:rPr>
              <a:t>    } </a:t>
            </a:r>
            <a:endParaRPr lang="en-US" sz="1100">
              <a:latin typeface="Consolas"/>
              <a:ea typeface="Calibri"/>
              <a:cs typeface="Calibri"/>
            </a:endParaRPr>
          </a:p>
          <a:p>
            <a:r>
              <a:rPr lang="en-US" sz="1100">
                <a:latin typeface="Consolas"/>
              </a:rPr>
              <a:t>}</a:t>
            </a:r>
            <a:endParaRPr lang="en-US" sz="1100">
              <a:latin typeface="Consolas"/>
              <a:ea typeface="Calibri"/>
              <a:cs typeface="Calibri"/>
            </a:endParaRPr>
          </a:p>
          <a:p>
            <a:endParaRPr lang="en-US" sz="1100">
              <a:solidFill>
                <a:srgbClr val="C9D1D9"/>
              </a:solidFill>
              <a:latin typeface="Consolas"/>
              <a:ea typeface="Calibri"/>
              <a:cs typeface="Calibri"/>
            </a:endParaRPr>
          </a:p>
          <a:p>
            <a:endParaRPr lang="en-US" sz="1100" b="0">
              <a:solidFill>
                <a:srgbClr val="C9D1D9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7132D520-AD85-C58A-B3EC-E8B442CCECAC}"/>
              </a:ext>
            </a:extLst>
          </p:cNvPr>
          <p:cNvSpPr/>
          <p:nvPr/>
        </p:nvSpPr>
        <p:spPr>
          <a:xfrm>
            <a:off x="337178" y="136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latin typeface="Calibri"/>
                <a:ea typeface="Calibri"/>
                <a:cs typeface="Calibri"/>
              </a:rPr>
              <a:t>ХАВСРАЛТ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87222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427C87-CE54-7012-BF0A-93A9DF10E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4CF2684-B8BC-95B1-2539-16BAF6A26BAB}"/>
              </a:ext>
            </a:extLst>
          </p:cNvPr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5006AC-C1F6-8974-5E3C-FF438B2064E5}"/>
              </a:ext>
            </a:extLst>
          </p:cNvPr>
          <p:cNvSpPr txBox="1"/>
          <p:nvPr/>
        </p:nvSpPr>
        <p:spPr>
          <a:xfrm>
            <a:off x="2284464" y="324410"/>
            <a:ext cx="4572000" cy="449353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100">
                <a:latin typeface="Consolas"/>
              </a:rPr>
              <a:t> </a:t>
            </a:r>
            <a:r>
              <a:rPr lang="en-US" sz="1100">
                <a:latin typeface="Consolas"/>
                <a:ea typeface="Consolas"/>
                <a:cs typeface="Consolas"/>
              </a:rPr>
              <a:t> void </a:t>
            </a:r>
            <a:r>
              <a:rPr lang="en-US" sz="1100" err="1">
                <a:solidFill>
                  <a:srgbClr val="7030A0"/>
                </a:solidFill>
                <a:latin typeface="Consolas"/>
                <a:ea typeface="Consolas"/>
                <a:cs typeface="Consolas"/>
              </a:rPr>
              <a:t>sortByPerimetr</a:t>
            </a:r>
            <a:r>
              <a:rPr lang="en-US" sz="1100">
                <a:latin typeface="Consolas"/>
                <a:ea typeface="Consolas"/>
                <a:cs typeface="Consolas"/>
              </a:rPr>
              <a:t>(Shape2D* shapes[], int n){</a:t>
            </a:r>
          </a:p>
          <a:p>
            <a:r>
              <a:rPr lang="en-US" sz="1100">
                <a:latin typeface="Consolas"/>
                <a:ea typeface="Consolas"/>
                <a:cs typeface="Consolas"/>
              </a:rPr>
              <a:t>    for(int </a:t>
            </a:r>
            <a:r>
              <a:rPr lang="en-US" sz="1100" err="1">
                <a:latin typeface="Consolas"/>
                <a:ea typeface="Consolas"/>
                <a:cs typeface="Consolas"/>
              </a:rPr>
              <a:t>i</a:t>
            </a:r>
            <a:r>
              <a:rPr lang="en-US" sz="1100">
                <a:latin typeface="Consolas"/>
                <a:ea typeface="Consolas"/>
                <a:cs typeface="Consolas"/>
              </a:rPr>
              <a:t> = 0; </a:t>
            </a:r>
            <a:r>
              <a:rPr lang="en-US" sz="1100" err="1">
                <a:latin typeface="Consolas"/>
                <a:ea typeface="Consolas"/>
                <a:cs typeface="Consolas"/>
              </a:rPr>
              <a:t>i</a:t>
            </a:r>
            <a:r>
              <a:rPr lang="en-US" sz="1100">
                <a:latin typeface="Consolas"/>
                <a:ea typeface="Consolas"/>
                <a:cs typeface="Consolas"/>
              </a:rPr>
              <a:t> &lt; n-1; </a:t>
            </a:r>
            <a:r>
              <a:rPr lang="en-US" sz="1100" err="1">
                <a:latin typeface="Consolas"/>
                <a:ea typeface="Consolas"/>
                <a:cs typeface="Consolas"/>
              </a:rPr>
              <a:t>i</a:t>
            </a:r>
            <a:r>
              <a:rPr lang="en-US" sz="1100">
                <a:latin typeface="Consolas"/>
                <a:ea typeface="Consolas"/>
                <a:cs typeface="Consolas"/>
              </a:rPr>
              <a:t>++) {</a:t>
            </a:r>
          </a:p>
          <a:p>
            <a:r>
              <a:rPr lang="en-US" sz="1100">
                <a:latin typeface="Consolas"/>
                <a:ea typeface="Consolas"/>
                <a:cs typeface="Consolas"/>
              </a:rPr>
              <a:t> for(int j = 0; j &lt; n-i-1;</a:t>
            </a:r>
            <a:r>
              <a:rPr lang="en-US" sz="1100">
                <a:latin typeface="Consolas"/>
              </a:rPr>
              <a:t> </a:t>
            </a:r>
            <a:r>
              <a:rPr lang="en-US" sz="1100" err="1">
                <a:latin typeface="Consolas"/>
                <a:ea typeface="Consolas"/>
                <a:cs typeface="Consolas"/>
              </a:rPr>
              <a:t>j++</a:t>
            </a:r>
            <a:r>
              <a:rPr lang="en-US" sz="1100">
                <a:latin typeface="Consolas"/>
                <a:ea typeface="Consolas"/>
                <a:cs typeface="Consolas"/>
              </a:rPr>
              <a:t>) {</a:t>
            </a:r>
            <a:endParaRPr lang="en-US" sz="1100">
              <a:latin typeface="Consolas"/>
              <a:ea typeface="Calibri"/>
              <a:cs typeface="Calibri"/>
            </a:endParaRPr>
          </a:p>
          <a:p>
            <a:r>
              <a:rPr lang="en-US" sz="1100">
                <a:latin typeface="Consolas"/>
                <a:ea typeface="Consolas"/>
                <a:cs typeface="Consolas"/>
              </a:rPr>
              <a:t>            if(shapes[j]-&gt;</a:t>
            </a:r>
            <a:r>
              <a:rPr lang="en-US" sz="1100" err="1">
                <a:solidFill>
                  <a:srgbClr val="7030A0"/>
                </a:solidFill>
                <a:latin typeface="Consolas"/>
                <a:ea typeface="Consolas"/>
                <a:cs typeface="Consolas"/>
              </a:rPr>
              <a:t>perimetr</a:t>
            </a:r>
            <a:r>
              <a:rPr lang="en-US" sz="1100">
                <a:solidFill>
                  <a:srgbClr val="7030A0"/>
                </a:solidFill>
                <a:latin typeface="Consolas"/>
                <a:ea typeface="Consolas"/>
                <a:cs typeface="Consolas"/>
              </a:rPr>
              <a:t>()</a:t>
            </a:r>
            <a:r>
              <a:rPr lang="en-US" sz="1100">
                <a:latin typeface="Consolas"/>
              </a:rPr>
              <a:t> </a:t>
            </a:r>
            <a:r>
              <a:rPr lang="en-US" sz="1100">
                <a:latin typeface="Consolas"/>
                <a:ea typeface="Consolas"/>
                <a:cs typeface="Consolas"/>
              </a:rPr>
              <a:t>&gt; shapes[j+1]-&gt;</a:t>
            </a:r>
            <a:r>
              <a:rPr lang="en-US" sz="1100" err="1">
                <a:solidFill>
                  <a:srgbClr val="7030A0"/>
                </a:solidFill>
                <a:latin typeface="Consolas"/>
                <a:ea typeface="Consolas"/>
                <a:cs typeface="Consolas"/>
              </a:rPr>
              <a:t>perimetr</a:t>
            </a:r>
            <a:r>
              <a:rPr lang="en-US" sz="1100">
                <a:solidFill>
                  <a:srgbClr val="7030A0"/>
                </a:solidFill>
                <a:latin typeface="Consolas"/>
                <a:ea typeface="Consolas"/>
                <a:cs typeface="Consolas"/>
              </a:rPr>
              <a:t>()</a:t>
            </a:r>
            <a:r>
              <a:rPr lang="en-US" sz="1100">
                <a:latin typeface="Consolas"/>
                <a:ea typeface="Consolas"/>
                <a:cs typeface="Consolas"/>
              </a:rPr>
              <a:t>) {</a:t>
            </a:r>
            <a:endParaRPr lang="en-US" sz="1100">
              <a:latin typeface="Consolas"/>
              <a:ea typeface="Calibri"/>
              <a:cs typeface="Calibri"/>
            </a:endParaRPr>
          </a:p>
          <a:p>
            <a:r>
              <a:rPr lang="en-US" sz="1100">
                <a:latin typeface="Consolas"/>
                <a:ea typeface="Consolas"/>
                <a:cs typeface="Consolas"/>
              </a:rPr>
              <a:t>                Shape2D* temp = shapes[j];</a:t>
            </a:r>
            <a:endParaRPr lang="en-US" sz="1100">
              <a:latin typeface="Consolas"/>
              <a:ea typeface="Calibri"/>
              <a:cs typeface="Calibri"/>
            </a:endParaRPr>
          </a:p>
          <a:p>
            <a:r>
              <a:rPr lang="en-US" sz="1100">
                <a:latin typeface="Consolas"/>
                <a:ea typeface="Consolas"/>
                <a:cs typeface="Consolas"/>
              </a:rPr>
              <a:t>                shapes[j] = shapes[j+1];</a:t>
            </a:r>
            <a:endParaRPr lang="en-US" sz="1100">
              <a:latin typeface="Consolas"/>
              <a:ea typeface="Calibri"/>
              <a:cs typeface="Calibri"/>
            </a:endParaRPr>
          </a:p>
          <a:p>
            <a:r>
              <a:rPr lang="en-US" sz="1100">
                <a:latin typeface="Consolas"/>
                <a:ea typeface="Consolas"/>
                <a:cs typeface="Consolas"/>
              </a:rPr>
              <a:t>                shapes[j+1] = temp </a:t>
            </a:r>
            <a:r>
              <a:rPr lang="en-US" sz="1100" b="0">
                <a:latin typeface="Consolas"/>
                <a:ea typeface="Consolas"/>
                <a:cs typeface="Consolas"/>
              </a:rPr>
              <a:t>;</a:t>
            </a:r>
            <a:endParaRPr lang="en-US" sz="1100">
              <a:latin typeface="Consolas"/>
              <a:ea typeface="Calibri"/>
              <a:cs typeface="Calibri"/>
            </a:endParaRPr>
          </a:p>
          <a:p>
            <a:r>
              <a:rPr lang="en-US" sz="1100">
                <a:latin typeface="Consolas"/>
              </a:rPr>
              <a:t>            }</a:t>
            </a:r>
            <a:endParaRPr lang="en-US" sz="1100">
              <a:latin typeface="Consolas"/>
              <a:ea typeface="Calibri"/>
              <a:cs typeface="Calibri"/>
            </a:endParaRPr>
          </a:p>
          <a:p>
            <a:r>
              <a:rPr lang="en-US" sz="1100">
                <a:latin typeface="Consolas"/>
              </a:rPr>
              <a:t>        }</a:t>
            </a:r>
            <a:endParaRPr lang="en-US" sz="1100">
              <a:latin typeface="Consolas"/>
              <a:ea typeface="Calibri"/>
              <a:cs typeface="Calibri"/>
            </a:endParaRPr>
          </a:p>
          <a:p>
            <a:r>
              <a:rPr lang="en-US" sz="1100">
                <a:latin typeface="Consolas"/>
              </a:rPr>
              <a:t>    }</a:t>
            </a:r>
            <a:endParaRPr lang="en-US" sz="1100">
              <a:latin typeface="Consolas"/>
              <a:ea typeface="Calibri"/>
              <a:cs typeface="Calibri"/>
            </a:endParaRPr>
          </a:p>
          <a:p>
            <a:r>
              <a:rPr lang="en-US" sz="1100">
                <a:latin typeface="Consolas"/>
              </a:rPr>
              <a:t>}</a:t>
            </a:r>
            <a:endParaRPr lang="en-US" sz="1100">
              <a:latin typeface="Consolas"/>
              <a:ea typeface="Calibri"/>
              <a:cs typeface="Calibri"/>
            </a:endParaRPr>
          </a:p>
          <a:p>
            <a:r>
              <a:rPr lang="en-US" sz="1100">
                <a:latin typeface="Consolas"/>
              </a:rPr>
              <a:t>void </a:t>
            </a:r>
            <a:r>
              <a:rPr lang="en-US" sz="1100" err="1">
                <a:solidFill>
                  <a:srgbClr val="21B5B0"/>
                </a:solidFill>
                <a:latin typeface="Consolas"/>
              </a:rPr>
              <a:t>printShapes</a:t>
            </a:r>
            <a:r>
              <a:rPr lang="en-US" sz="1100">
                <a:latin typeface="Consolas"/>
              </a:rPr>
              <a:t>(Shape2D* shapes[], int n){</a:t>
            </a:r>
            <a:endParaRPr lang="en-US" sz="1100">
              <a:latin typeface="Consolas"/>
              <a:ea typeface="Calibri"/>
              <a:cs typeface="Calibri"/>
            </a:endParaRPr>
          </a:p>
          <a:p>
            <a:r>
              <a:rPr lang="en-US" sz="1100">
                <a:latin typeface="Consolas"/>
              </a:rPr>
              <a:t>    for(int </a:t>
            </a:r>
            <a:r>
              <a:rPr lang="en-US" sz="1100" err="1">
                <a:latin typeface="Consolas"/>
              </a:rPr>
              <a:t>i</a:t>
            </a:r>
            <a:r>
              <a:rPr lang="en-US" sz="1100">
                <a:latin typeface="Consolas"/>
              </a:rPr>
              <a:t> = 0; </a:t>
            </a:r>
            <a:r>
              <a:rPr lang="en-US" sz="1100" err="1">
                <a:latin typeface="Consolas"/>
              </a:rPr>
              <a:t>i</a:t>
            </a:r>
            <a:r>
              <a:rPr lang="en-US" sz="1100">
                <a:latin typeface="Consolas"/>
              </a:rPr>
              <a:t> &lt; n; </a:t>
            </a:r>
            <a:r>
              <a:rPr lang="en-US" sz="1100" err="1">
                <a:latin typeface="Consolas"/>
              </a:rPr>
              <a:t>i</a:t>
            </a:r>
            <a:r>
              <a:rPr lang="en-US" sz="1100">
                <a:latin typeface="Consolas"/>
              </a:rPr>
              <a:t>++){</a:t>
            </a:r>
            <a:endParaRPr lang="en-US" sz="1100">
              <a:latin typeface="Consolas"/>
              <a:ea typeface="Calibri"/>
              <a:cs typeface="Calibri"/>
            </a:endParaRPr>
          </a:p>
          <a:p>
            <a:r>
              <a:rPr lang="en-US" sz="1100">
                <a:latin typeface="Consolas"/>
              </a:rPr>
              <a:t>        </a:t>
            </a:r>
            <a:r>
              <a:rPr lang="en-US" sz="1100" err="1">
                <a:latin typeface="Consolas"/>
              </a:rPr>
              <a:t>cout</a:t>
            </a:r>
            <a:r>
              <a:rPr lang="en-US" sz="1100">
                <a:latin typeface="Consolas"/>
              </a:rPr>
              <a:t> &lt;&lt; i+1 &lt;&lt; ". " &lt;&lt; shapes[</a:t>
            </a:r>
            <a:r>
              <a:rPr lang="en-US" sz="1100" err="1">
                <a:latin typeface="Consolas"/>
              </a:rPr>
              <a:t>i</a:t>
            </a:r>
            <a:r>
              <a:rPr lang="en-US" sz="1100">
                <a:latin typeface="Consolas"/>
              </a:rPr>
              <a:t>]-&gt;</a:t>
            </a:r>
            <a:r>
              <a:rPr lang="en-US" sz="1100" err="1">
                <a:latin typeface="Consolas"/>
              </a:rPr>
              <a:t>getName</a:t>
            </a:r>
            <a:r>
              <a:rPr lang="en-US" sz="1100">
                <a:latin typeface="Consolas"/>
              </a:rPr>
              <a:t>()&lt;&lt;</a:t>
            </a:r>
            <a:r>
              <a:rPr lang="en-US" sz="1100" err="1">
                <a:latin typeface="Consolas"/>
              </a:rPr>
              <a:t>endl</a:t>
            </a:r>
            <a:r>
              <a:rPr lang="en-US" sz="1100">
                <a:latin typeface="Consolas"/>
              </a:rPr>
              <a:t>;</a:t>
            </a:r>
            <a:endParaRPr lang="en-US" sz="1100">
              <a:latin typeface="Consolas"/>
              <a:ea typeface="Calibri"/>
              <a:cs typeface="Calibri"/>
            </a:endParaRPr>
          </a:p>
          <a:p>
            <a:r>
              <a:rPr lang="en-US" sz="1100">
                <a:latin typeface="Consolas"/>
              </a:rPr>
              <a:t>        </a:t>
            </a:r>
            <a:r>
              <a:rPr lang="en-US" sz="1100" err="1">
                <a:latin typeface="Consolas"/>
              </a:rPr>
              <a:t>cout</a:t>
            </a:r>
            <a:r>
              <a:rPr lang="en-US" sz="1100">
                <a:latin typeface="Consolas"/>
              </a:rPr>
              <a:t> &lt;&lt; "   </a:t>
            </a:r>
            <a:r>
              <a:rPr lang="en-US" sz="1100" err="1">
                <a:latin typeface="Consolas"/>
              </a:rPr>
              <a:t>Talbai</a:t>
            </a:r>
            <a:r>
              <a:rPr lang="en-US" sz="1100">
                <a:latin typeface="Consolas"/>
              </a:rPr>
              <a:t>   : " &lt;&lt; fixed&lt;&lt;</a:t>
            </a:r>
            <a:r>
              <a:rPr lang="en-US" sz="1100" err="1">
                <a:latin typeface="Consolas"/>
              </a:rPr>
              <a:t>setprecision</a:t>
            </a:r>
            <a:r>
              <a:rPr lang="en-US" sz="1100">
                <a:latin typeface="Consolas"/>
              </a:rPr>
              <a:t>(2) &lt;&lt; shapes[</a:t>
            </a:r>
            <a:r>
              <a:rPr lang="en-US" sz="1100" err="1">
                <a:latin typeface="Consolas"/>
              </a:rPr>
              <a:t>i</a:t>
            </a:r>
            <a:r>
              <a:rPr lang="en-US" sz="1100">
                <a:latin typeface="Consolas"/>
              </a:rPr>
              <a:t>]-&gt;</a:t>
            </a:r>
            <a:r>
              <a:rPr lang="en-US" sz="1100" err="1">
                <a:solidFill>
                  <a:srgbClr val="7030A0"/>
                </a:solidFill>
                <a:latin typeface="Consolas"/>
              </a:rPr>
              <a:t>talbai</a:t>
            </a:r>
            <a:r>
              <a:rPr lang="en-US" sz="1100">
                <a:solidFill>
                  <a:srgbClr val="7030A0"/>
                </a:solidFill>
                <a:latin typeface="Consolas"/>
              </a:rPr>
              <a:t>()</a:t>
            </a:r>
            <a:r>
              <a:rPr lang="en-US" sz="1100">
                <a:latin typeface="Consolas"/>
              </a:rPr>
              <a:t> &lt;&lt; </a:t>
            </a:r>
            <a:r>
              <a:rPr lang="en-US" sz="1100" err="1">
                <a:latin typeface="Consolas"/>
              </a:rPr>
              <a:t>endl</a:t>
            </a:r>
            <a:r>
              <a:rPr lang="en-US" sz="1100">
                <a:latin typeface="Consolas"/>
              </a:rPr>
              <a:t>;</a:t>
            </a:r>
            <a:endParaRPr lang="en-US" sz="1100">
              <a:latin typeface="Consolas"/>
              <a:ea typeface="Calibri"/>
              <a:cs typeface="Calibri"/>
            </a:endParaRPr>
          </a:p>
          <a:p>
            <a:r>
              <a:rPr lang="en-US" sz="1100">
                <a:latin typeface="Consolas"/>
              </a:rPr>
              <a:t>        </a:t>
            </a:r>
            <a:r>
              <a:rPr lang="en-US" sz="1100" err="1">
                <a:latin typeface="Consolas"/>
              </a:rPr>
              <a:t>cout</a:t>
            </a:r>
            <a:r>
              <a:rPr lang="en-US" sz="1100">
                <a:latin typeface="Consolas"/>
              </a:rPr>
              <a:t> &lt;&lt; "   </a:t>
            </a:r>
            <a:r>
              <a:rPr lang="en-US" sz="1100" err="1">
                <a:latin typeface="Consolas"/>
              </a:rPr>
              <a:t>Perimetr</a:t>
            </a:r>
            <a:r>
              <a:rPr lang="en-US" sz="1100">
                <a:latin typeface="Consolas"/>
              </a:rPr>
              <a:t> : " &lt;&lt; fixed&lt;&lt;</a:t>
            </a:r>
            <a:r>
              <a:rPr lang="en-US" sz="1100" err="1">
                <a:latin typeface="Consolas"/>
              </a:rPr>
              <a:t>setprecision</a:t>
            </a:r>
            <a:r>
              <a:rPr lang="en-US" sz="1100">
                <a:latin typeface="Consolas"/>
              </a:rPr>
              <a:t>(2) &lt;&lt; shapes[</a:t>
            </a:r>
            <a:r>
              <a:rPr lang="en-US" sz="1100" err="1">
                <a:latin typeface="Consolas"/>
              </a:rPr>
              <a:t>i</a:t>
            </a:r>
            <a:r>
              <a:rPr lang="en-US" sz="1100">
                <a:latin typeface="Consolas"/>
              </a:rPr>
              <a:t>]-&gt;</a:t>
            </a:r>
            <a:r>
              <a:rPr lang="en-US" sz="1100" err="1">
                <a:solidFill>
                  <a:srgbClr val="7030A0"/>
                </a:solidFill>
                <a:latin typeface="Consolas"/>
              </a:rPr>
              <a:t>perimetr</a:t>
            </a:r>
            <a:r>
              <a:rPr lang="en-US" sz="1100">
                <a:solidFill>
                  <a:srgbClr val="7030A0"/>
                </a:solidFill>
                <a:latin typeface="Consolas"/>
              </a:rPr>
              <a:t>()</a:t>
            </a:r>
            <a:r>
              <a:rPr lang="en-US" sz="1100">
                <a:latin typeface="Consolas"/>
              </a:rPr>
              <a:t> &lt;&lt; </a:t>
            </a:r>
            <a:r>
              <a:rPr lang="en-US" sz="1100" err="1">
                <a:latin typeface="Consolas"/>
              </a:rPr>
              <a:t>endl</a:t>
            </a:r>
            <a:r>
              <a:rPr lang="en-US" sz="1100">
                <a:latin typeface="Consolas"/>
              </a:rPr>
              <a:t>;</a:t>
            </a:r>
            <a:endParaRPr lang="en-US" sz="1100">
              <a:latin typeface="Consolas"/>
              <a:ea typeface="Calibri"/>
              <a:cs typeface="Calibri"/>
            </a:endParaRPr>
          </a:p>
          <a:p>
            <a:r>
              <a:rPr lang="en-US" sz="1100">
                <a:latin typeface="Consolas"/>
              </a:rPr>
              <a:t>        </a:t>
            </a:r>
            <a:r>
              <a:rPr lang="en-US" sz="1100" err="1">
                <a:latin typeface="Consolas"/>
              </a:rPr>
              <a:t>cout</a:t>
            </a:r>
            <a:r>
              <a:rPr lang="en-US" sz="1100">
                <a:latin typeface="Consolas"/>
              </a:rPr>
              <a:t> &lt;&lt; "------------------" &lt;&lt; </a:t>
            </a:r>
            <a:r>
              <a:rPr lang="en-US" sz="1100" err="1">
                <a:latin typeface="Consolas"/>
              </a:rPr>
              <a:t>endl</a:t>
            </a:r>
            <a:r>
              <a:rPr lang="en-US" sz="1100">
                <a:latin typeface="Consolas"/>
              </a:rPr>
              <a:t>;</a:t>
            </a:r>
            <a:endParaRPr lang="en-US" sz="1100">
              <a:latin typeface="Consolas"/>
              <a:ea typeface="Calibri"/>
              <a:cs typeface="Calibri"/>
            </a:endParaRPr>
          </a:p>
          <a:p>
            <a:r>
              <a:rPr lang="en-US" sz="1100">
                <a:latin typeface="Consolas"/>
              </a:rPr>
              <a:t>    }</a:t>
            </a:r>
            <a:endParaRPr lang="en-US" sz="1100">
              <a:latin typeface="Consolas"/>
              <a:ea typeface="Calibri"/>
              <a:cs typeface="Calibri"/>
            </a:endParaRPr>
          </a:p>
          <a:p>
            <a:r>
              <a:rPr lang="en-US" sz="1100">
                <a:latin typeface="Consolas"/>
              </a:rPr>
              <a:t>}</a:t>
            </a:r>
            <a:endParaRPr lang="en-US" sz="1100">
              <a:latin typeface="Consolas"/>
              <a:ea typeface="Calibri"/>
              <a:cs typeface="Calibri"/>
            </a:endParaRPr>
          </a:p>
          <a:p>
            <a:endParaRPr lang="en-US" sz="1100">
              <a:latin typeface="Consolas"/>
              <a:ea typeface="Calibri"/>
              <a:cs typeface="Calibri"/>
            </a:endParaRPr>
          </a:p>
          <a:p>
            <a:endParaRPr lang="en-US" sz="1100">
              <a:solidFill>
                <a:srgbClr val="BBBEBF"/>
              </a:solidFill>
              <a:latin typeface="Consolas"/>
            </a:endParaRPr>
          </a:p>
          <a:p>
            <a:endParaRPr lang="en-US" sz="1100" b="0">
              <a:solidFill>
                <a:srgbClr val="C9D1D9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0C37BBFF-DC17-DD04-570C-A929DA85E38D}"/>
              </a:ext>
            </a:extLst>
          </p:cNvPr>
          <p:cNvSpPr/>
          <p:nvPr/>
        </p:nvSpPr>
        <p:spPr>
          <a:xfrm>
            <a:off x="337178" y="136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latin typeface="Calibri"/>
                <a:ea typeface="Calibri"/>
                <a:cs typeface="Calibri"/>
              </a:rPr>
              <a:t>ХАВСРАЛТ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998967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948967-DD49-EB24-27EA-F5D9CA1B0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FC0FA12-F48C-8B09-7243-1F9BB7A47373}"/>
              </a:ext>
            </a:extLst>
          </p:cNvPr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6EF1F3-26CC-D92A-D574-487E5E57F446}"/>
              </a:ext>
            </a:extLst>
          </p:cNvPr>
          <p:cNvSpPr txBox="1"/>
          <p:nvPr/>
        </p:nvSpPr>
        <p:spPr>
          <a:xfrm>
            <a:off x="2284743" y="663680"/>
            <a:ext cx="4572000" cy="38164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100">
                <a:latin typeface="Consolas"/>
                <a:ea typeface="Consolas"/>
                <a:cs typeface="Consolas"/>
              </a:rPr>
              <a:t>int main</a:t>
            </a:r>
            <a:r>
              <a:rPr lang="en-US" sz="1100">
                <a:latin typeface="Consolas"/>
              </a:rPr>
              <a:t>() {</a:t>
            </a:r>
          </a:p>
          <a:p>
            <a:r>
              <a:rPr lang="en-US" sz="1100">
                <a:latin typeface="Consolas"/>
              </a:rPr>
              <a:t>    </a:t>
            </a:r>
            <a:r>
              <a:rPr lang="en-US" sz="1100" err="1">
                <a:latin typeface="Consolas"/>
              </a:rPr>
              <a:t>cout</a:t>
            </a:r>
            <a:r>
              <a:rPr lang="en-US" sz="1100">
                <a:latin typeface="Consolas"/>
              </a:rPr>
              <a:t> &lt;&lt; "======================================"&lt;&lt;</a:t>
            </a:r>
            <a:r>
              <a:rPr lang="en-US" sz="1100" err="1">
                <a:latin typeface="Consolas"/>
              </a:rPr>
              <a:t>endl</a:t>
            </a:r>
            <a:r>
              <a:rPr lang="en-US" sz="1100">
                <a:latin typeface="Consolas"/>
                <a:ea typeface="Consolas"/>
                <a:cs typeface="Consolas"/>
              </a:rPr>
              <a:t>;</a:t>
            </a:r>
            <a:endParaRPr lang="en-US" sz="1100">
              <a:latin typeface="Consolas"/>
              <a:ea typeface="Calibri"/>
              <a:cs typeface="Calibri"/>
            </a:endParaRPr>
          </a:p>
          <a:p>
            <a:r>
              <a:rPr lang="en-US" sz="1100">
                <a:latin typeface="Consolas"/>
                <a:ea typeface="Consolas"/>
                <a:cs typeface="Consolas"/>
              </a:rPr>
              <a:t>   </a:t>
            </a:r>
            <a:r>
              <a:rPr lang="en-US" sz="1100">
                <a:latin typeface="Consolas"/>
              </a:rPr>
              <a:t> </a:t>
            </a:r>
            <a:r>
              <a:rPr lang="en-US" sz="1100" err="1">
                <a:latin typeface="Consolas"/>
              </a:rPr>
              <a:t>cout</a:t>
            </a:r>
            <a:r>
              <a:rPr lang="en-US" sz="1100">
                <a:latin typeface="Consolas"/>
              </a:rPr>
              <a:t> &lt;&lt; "Object </a:t>
            </a:r>
            <a:r>
              <a:rPr lang="en-US" sz="1100" err="1">
                <a:latin typeface="Consolas"/>
              </a:rPr>
              <a:t>uuseegui</a:t>
            </a:r>
            <a:r>
              <a:rPr lang="en-US" sz="1100">
                <a:latin typeface="Consolas"/>
              </a:rPr>
              <a:t> </a:t>
            </a:r>
            <a:r>
              <a:rPr lang="en-US" sz="1100" err="1">
                <a:latin typeface="Consolas"/>
              </a:rPr>
              <a:t>uyd</a:t>
            </a:r>
            <a:r>
              <a:rPr lang="en-US" sz="1100">
                <a:latin typeface="Consolas"/>
              </a:rPr>
              <a:t> : "&lt;&lt;</a:t>
            </a:r>
            <a:r>
              <a:rPr lang="en-US" sz="1100">
                <a:solidFill>
                  <a:srgbClr val="5ED1E3"/>
                </a:solidFill>
                <a:latin typeface="Consolas"/>
              </a:rPr>
              <a:t>Shape::</a:t>
            </a:r>
            <a:r>
              <a:rPr lang="en-US" sz="1100" err="1">
                <a:solidFill>
                  <a:srgbClr val="5ED1E3"/>
                </a:solidFill>
                <a:latin typeface="Consolas"/>
              </a:rPr>
              <a:t>getCounter</a:t>
            </a:r>
            <a:r>
              <a:rPr lang="en-US" sz="1100">
                <a:solidFill>
                  <a:srgbClr val="5ED1E3"/>
                </a:solidFill>
                <a:latin typeface="Consolas"/>
              </a:rPr>
              <a:t>()</a:t>
            </a:r>
            <a:r>
              <a:rPr lang="en-US" sz="1100">
                <a:latin typeface="Consolas"/>
              </a:rPr>
              <a:t> &lt;&lt; </a:t>
            </a:r>
            <a:r>
              <a:rPr lang="en-US" sz="1100" err="1">
                <a:latin typeface="Consolas"/>
              </a:rPr>
              <a:t>endl</a:t>
            </a:r>
            <a:r>
              <a:rPr lang="en-US" sz="1100">
                <a:latin typeface="Consolas"/>
              </a:rPr>
              <a:t>;</a:t>
            </a:r>
            <a:endParaRPr lang="en-US" sz="1100">
              <a:latin typeface="Consolas"/>
              <a:ea typeface="Calibri"/>
              <a:cs typeface="Calibri"/>
            </a:endParaRPr>
          </a:p>
          <a:p>
            <a:r>
              <a:rPr lang="en-US" sz="1100">
                <a:latin typeface="Consolas"/>
              </a:rPr>
              <a:t>    </a:t>
            </a:r>
            <a:r>
              <a:rPr lang="en-US" sz="1100" err="1">
                <a:latin typeface="Consolas"/>
              </a:rPr>
              <a:t>cout</a:t>
            </a:r>
            <a:r>
              <a:rPr lang="en-US" sz="1100">
                <a:latin typeface="Consolas"/>
              </a:rPr>
              <a:t> &lt;&lt; "======================================\n"&lt;&lt;</a:t>
            </a:r>
            <a:r>
              <a:rPr lang="en-US" sz="1100" err="1">
                <a:latin typeface="Consolas"/>
              </a:rPr>
              <a:t>endl</a:t>
            </a:r>
            <a:r>
              <a:rPr lang="en-US" sz="1100">
                <a:latin typeface="Consolas"/>
              </a:rPr>
              <a:t>;</a:t>
            </a:r>
          </a:p>
          <a:p>
            <a:endParaRPr lang="en-US" sz="1100">
              <a:latin typeface="Consolas"/>
            </a:endParaRPr>
          </a:p>
          <a:p>
            <a:r>
              <a:rPr lang="en-US" sz="1100">
                <a:latin typeface="Consolas"/>
              </a:rPr>
              <a:t>int n = 6 ;</a:t>
            </a:r>
          </a:p>
          <a:p>
            <a:r>
              <a:rPr lang="en-US" sz="1100">
                <a:latin typeface="Consolas"/>
              </a:rPr>
              <a:t>    Shape2D** shapes = new Shape2D*[n];</a:t>
            </a:r>
          </a:p>
          <a:p>
            <a:r>
              <a:rPr lang="en-US" sz="1100">
                <a:latin typeface="Consolas"/>
              </a:rPr>
              <a:t>    shapes[0] = new Circle({0,0}, 5, "Circle1");</a:t>
            </a:r>
          </a:p>
          <a:p>
            <a:r>
              <a:rPr lang="en-US" sz="1100">
                <a:latin typeface="Consolas"/>
              </a:rPr>
              <a:t>    shapes[1] = new Square({0,10}, 4, "Square1");</a:t>
            </a:r>
          </a:p>
          <a:p>
            <a:r>
              <a:rPr lang="en-US" sz="1100">
                <a:latin typeface="Consolas"/>
              </a:rPr>
              <a:t>    shapes[2] = new Triangle({0,10}, 6, "Triangle1");</a:t>
            </a:r>
          </a:p>
          <a:p>
            <a:r>
              <a:rPr lang="en-US" sz="1100">
                <a:latin typeface="Consolas"/>
              </a:rPr>
              <a:t>    shapes[3] = new Circle({1,1}, 3, "Circle2");</a:t>
            </a:r>
          </a:p>
          <a:p>
            <a:r>
              <a:rPr lang="en-US" sz="1100">
                <a:latin typeface="Consolas"/>
              </a:rPr>
              <a:t>    shapes[4] = new Square({2,8}, 2, "Square2");</a:t>
            </a:r>
          </a:p>
          <a:p>
            <a:r>
              <a:rPr lang="en-US" sz="1100">
                <a:latin typeface="Consolas"/>
              </a:rPr>
              <a:t>    shapes[5] = new Triangle({2,5}, 4, "Triangle2");</a:t>
            </a:r>
          </a:p>
          <a:p>
            <a:endParaRPr lang="en-US" sz="1100">
              <a:latin typeface="Consolas"/>
            </a:endParaRPr>
          </a:p>
          <a:p>
            <a:r>
              <a:rPr lang="en-US" sz="1100">
                <a:latin typeface="Consolas"/>
              </a:rPr>
              <a:t> </a:t>
            </a:r>
            <a:r>
              <a:rPr lang="en-US" sz="1100" err="1">
                <a:latin typeface="Consolas"/>
              </a:rPr>
              <a:t>cout</a:t>
            </a:r>
            <a:r>
              <a:rPr lang="en-US" sz="1100">
                <a:latin typeface="Consolas"/>
              </a:rPr>
              <a:t> &lt;&lt; "</a:t>
            </a:r>
            <a:r>
              <a:rPr lang="en-US" sz="1100" err="1">
                <a:latin typeface="Consolas"/>
              </a:rPr>
              <a:t>Uussen</a:t>
            </a:r>
            <a:r>
              <a:rPr lang="en-US" sz="1100">
                <a:latin typeface="Consolas"/>
              </a:rPr>
              <a:t> </a:t>
            </a:r>
            <a:r>
              <a:rPr lang="en-US" sz="1100" err="1">
                <a:latin typeface="Consolas"/>
              </a:rPr>
              <a:t>niit</a:t>
            </a:r>
            <a:r>
              <a:rPr lang="en-US" sz="1100">
                <a:latin typeface="Consolas"/>
              </a:rPr>
              <a:t> </a:t>
            </a:r>
            <a:r>
              <a:rPr lang="en-US" sz="1100" err="1">
                <a:latin typeface="Consolas"/>
              </a:rPr>
              <a:t>objectiin</a:t>
            </a:r>
            <a:r>
              <a:rPr lang="en-US" sz="1100">
                <a:latin typeface="Consolas"/>
              </a:rPr>
              <a:t> too (static counter):" &lt;&lt;</a:t>
            </a:r>
            <a:r>
              <a:rPr lang="en-US" sz="1100">
                <a:solidFill>
                  <a:srgbClr val="5ED1E3"/>
                </a:solidFill>
                <a:latin typeface="Consolas"/>
              </a:rPr>
              <a:t>Shape::</a:t>
            </a:r>
            <a:r>
              <a:rPr lang="en-US" sz="1100" err="1">
                <a:solidFill>
                  <a:srgbClr val="5ED1E3"/>
                </a:solidFill>
                <a:latin typeface="Consolas"/>
              </a:rPr>
              <a:t>getCounter</a:t>
            </a:r>
            <a:r>
              <a:rPr lang="en-US" sz="1100">
                <a:solidFill>
                  <a:srgbClr val="5ED1E3"/>
                </a:solidFill>
                <a:latin typeface="Consolas"/>
              </a:rPr>
              <a:t>()</a:t>
            </a:r>
            <a:r>
              <a:rPr lang="en-US" sz="1100">
                <a:latin typeface="Consolas"/>
              </a:rPr>
              <a:t> &lt;&lt; "\n" &lt;&lt; </a:t>
            </a:r>
            <a:r>
              <a:rPr lang="en-US" sz="1100" err="1">
                <a:latin typeface="Consolas"/>
              </a:rPr>
              <a:t>endl</a:t>
            </a:r>
            <a:r>
              <a:rPr lang="en-US" sz="1100">
                <a:latin typeface="Consolas"/>
              </a:rPr>
              <a:t>;</a:t>
            </a:r>
          </a:p>
          <a:p>
            <a:endParaRPr lang="en-US" sz="1100">
              <a:latin typeface="Consolas"/>
            </a:endParaRPr>
          </a:p>
          <a:p>
            <a:endParaRPr lang="en-US" sz="1100">
              <a:latin typeface="Consolas"/>
            </a:endParaRPr>
          </a:p>
          <a:p>
            <a:r>
              <a:rPr lang="en-US" sz="1100">
                <a:solidFill>
                  <a:srgbClr val="BBBEBF"/>
                </a:solidFill>
                <a:latin typeface="Consolas"/>
              </a:rPr>
              <a:t>    </a:t>
            </a:r>
            <a:endParaRPr lang="en-US" sz="1100" b="0">
              <a:solidFill>
                <a:srgbClr val="BBBEB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50D4272A-8897-E3C7-4E00-7E1A47247DB0}"/>
              </a:ext>
            </a:extLst>
          </p:cNvPr>
          <p:cNvSpPr/>
          <p:nvPr/>
        </p:nvSpPr>
        <p:spPr>
          <a:xfrm>
            <a:off x="337178" y="136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latin typeface="Calibri"/>
                <a:ea typeface="Calibri"/>
                <a:cs typeface="Calibri"/>
              </a:rPr>
              <a:t>ХАВСРАЛТ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131947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66551D7-4500-70B2-35B6-041CD2DB6A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7270563-676F-AD0E-EFB1-82CC6F030689}"/>
              </a:ext>
            </a:extLst>
          </p:cNvPr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ACB9BA-1C61-F1CD-56CA-10A31218DE56}"/>
              </a:ext>
            </a:extLst>
          </p:cNvPr>
          <p:cNvSpPr txBox="1"/>
          <p:nvPr/>
        </p:nvSpPr>
        <p:spPr>
          <a:xfrm>
            <a:off x="2285859" y="154843"/>
            <a:ext cx="4572000" cy="483209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100">
                <a:latin typeface="Consolas"/>
              </a:rPr>
              <a:t>// ===== </a:t>
            </a:r>
            <a:r>
              <a:rPr lang="en-US" sz="1100" err="1">
                <a:latin typeface="Consolas"/>
              </a:rPr>
              <a:t>Талбайгаар</a:t>
            </a:r>
            <a:r>
              <a:rPr lang="en-US" sz="1100">
                <a:latin typeface="Consolas"/>
              </a:rPr>
              <a:t> </a:t>
            </a:r>
            <a:r>
              <a:rPr lang="en-US" sz="1100" err="1">
                <a:latin typeface="Consolas"/>
              </a:rPr>
              <a:t>эрэмбэлж</a:t>
            </a:r>
            <a:r>
              <a:rPr lang="en-US" sz="1100">
                <a:latin typeface="Consolas"/>
              </a:rPr>
              <a:t> </a:t>
            </a:r>
            <a:r>
              <a:rPr lang="en-US" sz="1100" err="1">
                <a:latin typeface="Consolas"/>
              </a:rPr>
              <a:t>хэвлэх</a:t>
            </a:r>
            <a:r>
              <a:rPr lang="en-US" sz="1100">
                <a:latin typeface="Consolas"/>
              </a:rPr>
              <a:t> =====</a:t>
            </a:r>
          </a:p>
          <a:p>
            <a:r>
              <a:rPr lang="en-US" sz="1100">
                <a:latin typeface="Consolas"/>
              </a:rPr>
              <a:t>    </a:t>
            </a:r>
            <a:r>
              <a:rPr lang="en-US" sz="1100" err="1">
                <a:solidFill>
                  <a:srgbClr val="7030A0"/>
                </a:solidFill>
                <a:latin typeface="Consolas"/>
              </a:rPr>
              <a:t>sortByTalbai</a:t>
            </a:r>
            <a:r>
              <a:rPr lang="en-US" sz="1100">
                <a:solidFill>
                  <a:srgbClr val="7030A0"/>
                </a:solidFill>
                <a:latin typeface="Consolas"/>
              </a:rPr>
              <a:t>(shapes, n)</a:t>
            </a:r>
            <a:r>
              <a:rPr lang="en-US" sz="1100">
                <a:latin typeface="Consolas"/>
              </a:rPr>
              <a:t> </a:t>
            </a:r>
            <a:r>
              <a:rPr lang="en-US" sz="1100">
                <a:solidFill>
                  <a:srgbClr val="7030A0"/>
                </a:solidFill>
                <a:latin typeface="Consolas"/>
              </a:rPr>
              <a:t>;</a:t>
            </a:r>
            <a:endParaRPr lang="en-US" sz="1100">
              <a:latin typeface="Consolas"/>
            </a:endParaRPr>
          </a:p>
          <a:p>
            <a:r>
              <a:rPr lang="en-US" sz="1100">
                <a:latin typeface="Consolas"/>
              </a:rPr>
              <a:t>    </a:t>
            </a:r>
            <a:r>
              <a:rPr lang="en-US" sz="1100" err="1">
                <a:latin typeface="Consolas"/>
              </a:rPr>
              <a:t>cout</a:t>
            </a:r>
            <a:r>
              <a:rPr lang="en-US" sz="1100">
                <a:latin typeface="Consolas"/>
              </a:rPr>
              <a:t> &lt;&lt; "======================================"&lt;&lt;</a:t>
            </a:r>
            <a:r>
              <a:rPr lang="en-US" sz="1100" err="1">
                <a:latin typeface="Consolas"/>
              </a:rPr>
              <a:t>endl</a:t>
            </a:r>
            <a:r>
              <a:rPr lang="en-US" sz="1100">
                <a:latin typeface="Consolas"/>
              </a:rPr>
              <a:t>;</a:t>
            </a:r>
          </a:p>
          <a:p>
            <a:r>
              <a:rPr lang="en-US" sz="1100">
                <a:latin typeface="Consolas"/>
              </a:rPr>
              <a:t>    </a:t>
            </a:r>
            <a:r>
              <a:rPr lang="en-US" sz="1100" err="1">
                <a:latin typeface="Consolas"/>
              </a:rPr>
              <a:t>cout</a:t>
            </a:r>
            <a:r>
              <a:rPr lang="en-US" sz="1100">
                <a:latin typeface="Consolas"/>
              </a:rPr>
              <a:t> &lt;&lt; "=== </a:t>
            </a:r>
            <a:r>
              <a:rPr lang="en-US" sz="1100" err="1">
                <a:latin typeface="Consolas"/>
              </a:rPr>
              <a:t>Talbaigaar</a:t>
            </a:r>
            <a:r>
              <a:rPr lang="en-US" sz="1100">
                <a:latin typeface="Consolas"/>
              </a:rPr>
              <a:t> </a:t>
            </a:r>
            <a:r>
              <a:rPr lang="en-US" sz="1100" err="1">
                <a:latin typeface="Consolas"/>
              </a:rPr>
              <a:t>erembelsen</a:t>
            </a:r>
            <a:r>
              <a:rPr lang="en-US" sz="1100">
                <a:latin typeface="Consolas"/>
              </a:rPr>
              <a:t> ===" &lt;&lt; </a:t>
            </a:r>
            <a:r>
              <a:rPr lang="en-US" sz="1100" err="1">
                <a:latin typeface="Consolas"/>
              </a:rPr>
              <a:t>endl</a:t>
            </a:r>
            <a:r>
              <a:rPr lang="en-US" sz="1100">
                <a:latin typeface="Consolas"/>
              </a:rPr>
              <a:t>;</a:t>
            </a:r>
          </a:p>
          <a:p>
            <a:r>
              <a:rPr lang="en-US" sz="1100">
                <a:latin typeface="Consolas"/>
              </a:rPr>
              <a:t>    </a:t>
            </a:r>
            <a:r>
              <a:rPr lang="en-US" sz="1100" err="1">
                <a:latin typeface="Consolas"/>
              </a:rPr>
              <a:t>cout</a:t>
            </a:r>
            <a:r>
              <a:rPr lang="en-US" sz="1100">
                <a:latin typeface="Consolas"/>
              </a:rPr>
              <a:t> &lt;&lt; "======================================"&lt;&lt;</a:t>
            </a:r>
            <a:r>
              <a:rPr lang="en-US" sz="1100" err="1">
                <a:latin typeface="Consolas"/>
              </a:rPr>
              <a:t>endl</a:t>
            </a:r>
            <a:r>
              <a:rPr lang="en-US" sz="1100">
                <a:latin typeface="Consolas"/>
              </a:rPr>
              <a:t>;</a:t>
            </a:r>
          </a:p>
          <a:p>
            <a:r>
              <a:rPr lang="en-US" sz="1100">
                <a:latin typeface="Consolas"/>
              </a:rPr>
              <a:t>    </a:t>
            </a:r>
            <a:r>
              <a:rPr lang="en-US" sz="1100" err="1">
                <a:solidFill>
                  <a:srgbClr val="7030A0"/>
                </a:solidFill>
                <a:latin typeface="Consolas"/>
              </a:rPr>
              <a:t>printShapes</a:t>
            </a:r>
            <a:r>
              <a:rPr lang="en-US" sz="1100">
                <a:solidFill>
                  <a:srgbClr val="7030A0"/>
                </a:solidFill>
                <a:latin typeface="Consolas"/>
              </a:rPr>
              <a:t>(shapes, n) ;</a:t>
            </a:r>
            <a:endParaRPr lang="en-US" sz="1100">
              <a:latin typeface="Consolas"/>
            </a:endParaRPr>
          </a:p>
          <a:p>
            <a:r>
              <a:rPr lang="en-US" sz="1100">
                <a:latin typeface="Consolas"/>
              </a:rPr>
              <a:t>    // ===== </a:t>
            </a:r>
            <a:r>
              <a:rPr lang="en-US" sz="1100" err="1">
                <a:latin typeface="Consolas"/>
              </a:rPr>
              <a:t>Периметрээр</a:t>
            </a:r>
            <a:r>
              <a:rPr lang="en-US" sz="1100">
                <a:latin typeface="Consolas"/>
              </a:rPr>
              <a:t> </a:t>
            </a:r>
            <a:r>
              <a:rPr lang="en-US" sz="1100" err="1">
                <a:latin typeface="Consolas"/>
              </a:rPr>
              <a:t>эрэмбэлж</a:t>
            </a:r>
            <a:r>
              <a:rPr lang="en-US" sz="1100">
                <a:latin typeface="Consolas"/>
              </a:rPr>
              <a:t> </a:t>
            </a:r>
            <a:r>
              <a:rPr lang="en-US" sz="1100" err="1">
                <a:latin typeface="Consolas"/>
              </a:rPr>
              <a:t>хэвлэх</a:t>
            </a:r>
            <a:r>
              <a:rPr lang="en-US" sz="1100">
                <a:latin typeface="Consolas"/>
              </a:rPr>
              <a:t> =====</a:t>
            </a:r>
          </a:p>
          <a:p>
            <a:r>
              <a:rPr lang="en-US" sz="1100">
                <a:latin typeface="Consolas"/>
              </a:rPr>
              <a:t>    </a:t>
            </a:r>
            <a:r>
              <a:rPr lang="en-US" sz="1100" err="1">
                <a:solidFill>
                  <a:srgbClr val="7030A0"/>
                </a:solidFill>
                <a:latin typeface="Consolas"/>
              </a:rPr>
              <a:t>sortByPerimetr</a:t>
            </a:r>
            <a:r>
              <a:rPr lang="en-US" sz="1100">
                <a:solidFill>
                  <a:srgbClr val="7030A0"/>
                </a:solidFill>
                <a:latin typeface="Consolas"/>
              </a:rPr>
              <a:t>(shapes, n) ;</a:t>
            </a:r>
            <a:endParaRPr lang="en-US" sz="1100">
              <a:latin typeface="Consolas"/>
            </a:endParaRPr>
          </a:p>
          <a:p>
            <a:r>
              <a:rPr lang="en-US" sz="1100">
                <a:latin typeface="Consolas"/>
              </a:rPr>
              <a:t>    </a:t>
            </a:r>
            <a:r>
              <a:rPr lang="en-US" sz="1100" err="1">
                <a:latin typeface="Consolas"/>
              </a:rPr>
              <a:t>cout</a:t>
            </a:r>
            <a:r>
              <a:rPr lang="en-US" sz="1100">
                <a:latin typeface="Consolas"/>
              </a:rPr>
              <a:t> &lt;&lt; "\n======================================"&lt;&lt;</a:t>
            </a:r>
            <a:r>
              <a:rPr lang="en-US" sz="1100" err="1">
                <a:latin typeface="Consolas"/>
              </a:rPr>
              <a:t>endl</a:t>
            </a:r>
            <a:r>
              <a:rPr lang="en-US" sz="1100">
                <a:latin typeface="Consolas"/>
              </a:rPr>
              <a:t>;</a:t>
            </a:r>
          </a:p>
          <a:p>
            <a:r>
              <a:rPr lang="en-US" sz="1100">
                <a:latin typeface="Consolas"/>
              </a:rPr>
              <a:t>    </a:t>
            </a:r>
            <a:r>
              <a:rPr lang="en-US" sz="1100" err="1">
                <a:latin typeface="Consolas"/>
              </a:rPr>
              <a:t>cout</a:t>
            </a:r>
            <a:r>
              <a:rPr lang="en-US" sz="1100">
                <a:latin typeface="Consolas"/>
              </a:rPr>
              <a:t> &lt;&lt; "=== </a:t>
            </a:r>
            <a:r>
              <a:rPr lang="en-US" sz="1100" err="1">
                <a:latin typeface="Consolas"/>
              </a:rPr>
              <a:t>Perimetreer</a:t>
            </a:r>
            <a:r>
              <a:rPr lang="en-US" sz="1100">
                <a:latin typeface="Consolas"/>
              </a:rPr>
              <a:t> </a:t>
            </a:r>
            <a:r>
              <a:rPr lang="en-US" sz="1100" err="1">
                <a:latin typeface="Consolas"/>
              </a:rPr>
              <a:t>erembelsen</a:t>
            </a:r>
            <a:r>
              <a:rPr lang="en-US" sz="1100">
                <a:latin typeface="Consolas"/>
              </a:rPr>
              <a:t> ===" &lt;&lt; </a:t>
            </a:r>
            <a:r>
              <a:rPr lang="en-US" sz="1100" err="1">
                <a:latin typeface="Consolas"/>
              </a:rPr>
              <a:t>endl</a:t>
            </a:r>
            <a:r>
              <a:rPr lang="en-US" sz="1100">
                <a:latin typeface="Consolas"/>
              </a:rPr>
              <a:t>;</a:t>
            </a:r>
          </a:p>
          <a:p>
            <a:r>
              <a:rPr lang="en-US" sz="1100">
                <a:latin typeface="Consolas"/>
              </a:rPr>
              <a:t>    </a:t>
            </a:r>
            <a:r>
              <a:rPr lang="en-US" sz="1100" err="1">
                <a:latin typeface="Consolas"/>
              </a:rPr>
              <a:t>cout</a:t>
            </a:r>
            <a:r>
              <a:rPr lang="en-US" sz="1100">
                <a:latin typeface="Consolas"/>
              </a:rPr>
              <a:t> &lt;&lt; "======================================"&lt;&lt;</a:t>
            </a:r>
            <a:r>
              <a:rPr lang="en-US" sz="1100" err="1">
                <a:latin typeface="Consolas"/>
              </a:rPr>
              <a:t>endl</a:t>
            </a:r>
            <a:r>
              <a:rPr lang="en-US" sz="1100">
                <a:latin typeface="Consolas"/>
              </a:rPr>
              <a:t>;</a:t>
            </a:r>
          </a:p>
          <a:p>
            <a:r>
              <a:rPr lang="en-US" sz="1100">
                <a:latin typeface="Consolas"/>
              </a:rPr>
              <a:t>    </a:t>
            </a:r>
            <a:r>
              <a:rPr lang="en-US" sz="1100" err="1">
                <a:solidFill>
                  <a:srgbClr val="7030A0"/>
                </a:solidFill>
                <a:latin typeface="Consolas"/>
              </a:rPr>
              <a:t>printShapes</a:t>
            </a:r>
            <a:r>
              <a:rPr lang="en-US" sz="1100">
                <a:solidFill>
                  <a:srgbClr val="7030A0"/>
                </a:solidFill>
                <a:latin typeface="Consolas"/>
              </a:rPr>
              <a:t>(shapes, n);</a:t>
            </a:r>
            <a:endParaRPr lang="en-US" sz="1100">
              <a:latin typeface="Consolas"/>
            </a:endParaRPr>
          </a:p>
          <a:p>
            <a:r>
              <a:rPr lang="en-US" sz="1100">
                <a:latin typeface="Consolas"/>
              </a:rPr>
              <a:t>    // ===== Memory </a:t>
            </a:r>
            <a:r>
              <a:rPr lang="en-US" sz="1100" err="1">
                <a:latin typeface="Consolas"/>
              </a:rPr>
              <a:t>цэвэрлэх</a:t>
            </a:r>
            <a:r>
              <a:rPr lang="en-US" sz="1100">
                <a:latin typeface="Consolas"/>
              </a:rPr>
              <a:t> =====</a:t>
            </a:r>
          </a:p>
          <a:p>
            <a:r>
              <a:rPr lang="en-US" sz="1100">
                <a:latin typeface="Consolas"/>
              </a:rPr>
              <a:t>    for(int </a:t>
            </a:r>
            <a:r>
              <a:rPr lang="en-US" sz="1100" err="1">
                <a:latin typeface="Consolas"/>
              </a:rPr>
              <a:t>i</a:t>
            </a:r>
            <a:r>
              <a:rPr lang="en-US" sz="1100">
                <a:latin typeface="Consolas"/>
              </a:rPr>
              <a:t> = 0; </a:t>
            </a:r>
            <a:r>
              <a:rPr lang="en-US" sz="1100" err="1">
                <a:latin typeface="Consolas"/>
              </a:rPr>
              <a:t>i</a:t>
            </a:r>
            <a:r>
              <a:rPr lang="en-US" sz="1100">
                <a:latin typeface="Consolas"/>
              </a:rPr>
              <a:t> &lt; n; </a:t>
            </a:r>
            <a:r>
              <a:rPr lang="en-US" sz="1100" err="1">
                <a:latin typeface="Consolas"/>
              </a:rPr>
              <a:t>i</a:t>
            </a:r>
            <a:r>
              <a:rPr lang="en-US" sz="1100">
                <a:latin typeface="Consolas"/>
              </a:rPr>
              <a:t>++){</a:t>
            </a:r>
          </a:p>
          <a:p>
            <a:r>
              <a:rPr lang="en-US" sz="1100">
                <a:latin typeface="Consolas"/>
              </a:rPr>
              <a:t>        delete shapes[</a:t>
            </a:r>
            <a:r>
              <a:rPr lang="en-US" sz="1100" err="1">
                <a:latin typeface="Consolas"/>
              </a:rPr>
              <a:t>i</a:t>
            </a:r>
            <a:r>
              <a:rPr lang="en-US" sz="1100">
                <a:latin typeface="Consolas"/>
              </a:rPr>
              <a:t>];</a:t>
            </a:r>
          </a:p>
          <a:p>
            <a:r>
              <a:rPr lang="en-US" sz="1100">
                <a:latin typeface="Consolas"/>
              </a:rPr>
              <a:t>    }</a:t>
            </a:r>
          </a:p>
          <a:p>
            <a:endParaRPr lang="en-US" sz="1100">
              <a:latin typeface="Consolas"/>
            </a:endParaRPr>
          </a:p>
          <a:p>
            <a:r>
              <a:rPr lang="en-US" sz="1100">
                <a:latin typeface="Consolas"/>
              </a:rPr>
              <a:t>delete[] shapes</a:t>
            </a:r>
            <a:r>
              <a:rPr lang="en-US" sz="1100">
                <a:latin typeface="Consolas"/>
                <a:ea typeface="Consolas"/>
                <a:cs typeface="Consolas"/>
              </a:rPr>
              <a:t>;</a:t>
            </a:r>
          </a:p>
          <a:p>
            <a:endParaRPr lang="en-US" sz="1100">
              <a:latin typeface="Consolas"/>
              <a:ea typeface="Calibri"/>
              <a:cs typeface="Calibri"/>
            </a:endParaRPr>
          </a:p>
          <a:p>
            <a:r>
              <a:rPr lang="en-US" sz="1100">
                <a:latin typeface="Consolas"/>
                <a:ea typeface="Consolas"/>
                <a:cs typeface="Consolas"/>
              </a:rPr>
              <a:t>   </a:t>
            </a:r>
            <a:r>
              <a:rPr lang="en-US" sz="1100">
                <a:latin typeface="Consolas"/>
              </a:rPr>
              <a:t> </a:t>
            </a:r>
            <a:r>
              <a:rPr lang="en-US" sz="1100" err="1">
                <a:latin typeface="Consolas"/>
              </a:rPr>
              <a:t>cout</a:t>
            </a:r>
            <a:r>
              <a:rPr lang="en-US" sz="1100">
                <a:latin typeface="Consolas"/>
              </a:rPr>
              <a:t> &lt;&lt; "\n Object </a:t>
            </a:r>
            <a:r>
              <a:rPr lang="en-US" sz="1100" err="1">
                <a:latin typeface="Consolas"/>
              </a:rPr>
              <a:t>ustgasnii</a:t>
            </a:r>
            <a:r>
              <a:rPr lang="en-US" sz="1100">
                <a:latin typeface="Consolas"/>
              </a:rPr>
              <a:t> </a:t>
            </a:r>
            <a:r>
              <a:rPr lang="en-US" sz="1100" err="1">
                <a:latin typeface="Consolas"/>
              </a:rPr>
              <a:t>daraah</a:t>
            </a:r>
            <a:r>
              <a:rPr lang="en-US" sz="1100">
                <a:latin typeface="Consolas"/>
              </a:rPr>
              <a:t> static </a:t>
            </a:r>
            <a:r>
              <a:rPr lang="en-US" sz="1100" err="1">
                <a:latin typeface="Consolas"/>
              </a:rPr>
              <a:t>huvisagch</a:t>
            </a:r>
            <a:r>
              <a:rPr lang="en-US" sz="1100">
                <a:latin typeface="Consolas"/>
              </a:rPr>
              <a:t>(static counter): " &lt;&lt; </a:t>
            </a:r>
            <a:r>
              <a:rPr lang="en-US" sz="1100">
                <a:solidFill>
                  <a:srgbClr val="5ED1E3"/>
                </a:solidFill>
                <a:latin typeface="Consolas"/>
              </a:rPr>
              <a:t>Shape::</a:t>
            </a:r>
            <a:r>
              <a:rPr lang="en-US" sz="1100" err="1">
                <a:solidFill>
                  <a:srgbClr val="5ED1E3"/>
                </a:solidFill>
                <a:latin typeface="Consolas"/>
              </a:rPr>
              <a:t>getCounter</a:t>
            </a:r>
            <a:r>
              <a:rPr lang="en-US" sz="1100">
                <a:solidFill>
                  <a:srgbClr val="5ED1E3"/>
                </a:solidFill>
                <a:latin typeface="Consolas"/>
              </a:rPr>
              <a:t>() </a:t>
            </a:r>
            <a:r>
              <a:rPr lang="en-US" sz="1100">
                <a:latin typeface="Consolas"/>
              </a:rPr>
              <a:t>&lt;&lt; </a:t>
            </a:r>
            <a:r>
              <a:rPr lang="en-US" sz="1100" err="1">
                <a:latin typeface="Consolas"/>
              </a:rPr>
              <a:t>endl</a:t>
            </a:r>
            <a:r>
              <a:rPr lang="en-US" sz="1100">
                <a:latin typeface="Consolas"/>
              </a:rPr>
              <a:t>;</a:t>
            </a:r>
            <a:endParaRPr lang="en-US" sz="1100">
              <a:latin typeface="Consolas"/>
              <a:ea typeface="Calibri"/>
              <a:cs typeface="Calibri"/>
            </a:endParaRPr>
          </a:p>
          <a:p>
            <a:r>
              <a:rPr lang="en-US" sz="1100">
                <a:latin typeface="Consolas"/>
              </a:rPr>
              <a:t>    return 0;</a:t>
            </a:r>
            <a:endParaRPr lang="en-US" sz="1100">
              <a:latin typeface="Consolas"/>
              <a:ea typeface="Calibri"/>
              <a:cs typeface="Calibri"/>
            </a:endParaRPr>
          </a:p>
          <a:p>
            <a:r>
              <a:rPr lang="en-US" sz="1100">
                <a:latin typeface="Consolas"/>
              </a:rPr>
              <a:t>}</a:t>
            </a:r>
            <a:endParaRPr lang="en-US"/>
          </a:p>
          <a:p>
            <a:endParaRPr lang="en-US" sz="1100" b="0">
              <a:solidFill>
                <a:srgbClr val="BBBEB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BD1988C3-0F2F-8290-D178-6A7AF14D76D3}"/>
              </a:ext>
            </a:extLst>
          </p:cNvPr>
          <p:cNvSpPr/>
          <p:nvPr/>
        </p:nvSpPr>
        <p:spPr>
          <a:xfrm>
            <a:off x="337178" y="136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latin typeface="Calibri"/>
                <a:ea typeface="Calibri"/>
                <a:cs typeface="Calibri"/>
              </a:rPr>
              <a:t>ХАВСРАЛТ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8965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4040</Words>
  <Application>Microsoft Office PowerPoint</Application>
  <PresentationFormat>On-screen Show (16:9)</PresentationFormat>
  <Paragraphs>604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2" baseType="lpstr">
      <vt:lpstr>Arial</vt:lpstr>
      <vt:lpstr>Calibri</vt:lpstr>
      <vt:lpstr>Consolas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C++ OOP Lab 8 - IRIS Team</dc:title>
  <dc:subject>PptxGenJS Presentation</dc:subject>
  <dc:creator>PptxGenJS</dc:creator>
  <cp:lastModifiedBy>ERDENEBULGAN Otgonbayar</cp:lastModifiedBy>
  <cp:revision>88</cp:revision>
  <dcterms:created xsi:type="dcterms:W3CDTF">2026-04-28T06:19:54Z</dcterms:created>
  <dcterms:modified xsi:type="dcterms:W3CDTF">2026-05-03T13:33:50Z</dcterms:modified>
</cp:coreProperties>
</file>